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F1 / Macro-F1</c:v>
                </c:pt>
              </c:strCache>
            </c:strRef>
          </c:tx>
          <c:spPr>
            <a:solidFill>
              <a:srgbClr val="2563EB"/>
            </a:solidFill>
          </c:spPr>
          <c:dLbls>
            <c:numFmt formatCode="0.000" sourceLinked="0"/>
            <c:txPr>
              <a:bodyPr/>
              <a:lstStyle/>
              <a:p>
                <a:pPr>
                  <a:defRPr sz="1100" b="1"/>
                </a:pPr>
              </a:p>
            </c:txPr>
            <c:dLblPos val="outEnd"/>
            <c:showLegendKey val="0"/>
            <c:showVal val="0"/>
            <c:showCatName val="0"/>
            <c:showSerName val="0"/>
            <c:showPercent val="0"/>
            <c:showBubbleSize val="0"/>
            <c:showLeaderLines val="1"/>
          </c:dLbls>
          <c:cat>
            <c:strRef>
              <c:f>Sheet1!$A$2:$A$5</c:f>
              <c:strCache>
                <c:ptCount val="4"/>
                <c:pt idx="0">
                  <c:v>Echte RQ-
Aussagen</c:v>
                </c:pt>
                <c:pt idx="1">
                  <c:v>Lexikalische
Prüfung</c:v>
                </c:pt>
                <c:pt idx="2">
                  <c:v>SciFact LoRA
labelgleich</c:v>
                </c:pt>
                <c:pt idx="3">
                  <c:v>Fast-DetectGPT</c:v>
                </c:pt>
              </c:strCache>
            </c:strRef>
          </c:cat>
          <c:val>
            <c:numRef>
              <c:f>Sheet1!$B$2:$B$5</c:f>
              <c:numCache>
                <c:formatCode>General</c:formatCode>
                <c:ptCount val="4"/>
                <c:pt idx="0">
                  <c:v>0.437</c:v>
                </c:pt>
                <c:pt idx="1">
                  <c:v>0.9</c:v>
                </c:pt>
                <c:pt idx="2">
                  <c:v>0.367</c:v>
                </c:pt>
                <c:pt idx="3">
                  <c:v>0.696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0"/>
          <c:min val="0.0"/>
        </c:scaling>
        <c:delete val="0"/>
        <c:axPos val="l"/>
        <c:majorGridlines/>
        <c:majorTickMark val="out"/>
        <c:minorTickMark val="none"/>
        <c:tickLblPos val="nextTo"/>
        <c:txPr>
          <a:bodyPr/>
          <a:lstStyle/>
          <a:p>
            <a:pPr>
              <a:defRPr sz="1000"/>
            </a:pPr>
          </a:p>
        </c:txPr>
        <c:crossAx val="-2068027336"/>
        <c:crosses val="autoZero"/>
        <c:majorUnit val="0.2"/>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20 Sekunden</a:t>
            </a:r>
          </a:p>
          <a:p>
            <a:r>
              <a:t>Mit einem Satz eröffnen: ClaimGuard entscheidet nicht über Täuschung, sondern ordnet Evidenz für eine menschliche Prüfung. Beide Vortragenden sowie die drei Fragen Aussage, Referenz und Stützung vorstellen.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Sekunden</a:t>
            </a:r>
          </a:p>
          <a:p>
            <a:r>
              <a:t>Den Kontrast links nutzen. Plagiat, erfundene Referenzen und nicht gestützte Zitate sind unterschiedliche Probleme. ClaimGuard konzentriert sich auf Zitierintegrität und Evidenz. Das System unterstützt Entscheidungen; es erhebt keinen Vorwurf.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45 Sekunden</a:t>
            </a:r>
          </a:p>
          <a:p>
            <a:r>
              <a:t>Von links nach rechts erklären. Die drei Fragen entsprechen den drei Kernmodulen. Jede Entscheidung bleibt im JSON nachvollziehbar; Markdown ist die Ansicht für Prüfende.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Sekunden</a:t>
            </a:r>
          </a:p>
          <a:p>
            <a:r>
              <a:t>Den fünf nummerierten Schritten folgen. Referenzen begrenzen die Evidenzsuche; der Verifikator erhält begrenzte Evidenz statt des gesamten Internets. Die Audit-Spur macht Ausgaben nachvollziehbar und vergleichbar. Danach die Entscheidungen zur Modulabdeckung erklären.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Sekunden</a:t>
            </a:r>
          </a:p>
          <a:p>
            <a:r>
              <a:t>Die drei verpflichtenden Kernmodule sind vollständig umgesetzt und evaluiert. Als optionale Vertiefung ist Modul 5 abgeschlossen: Der LoRA-Adapter wurde trainiert, gespeichert und auf labelgleichen sowie Transfer-Benchmarks verglichen. Modul 4 ist über Fast-DetectGPT erfüllt. Binoculars wurde geprüft, aber das kalibrierte Falcon-Paar umfasst etwa 14 Milliarden Parameter und passt nicht in die verfügbare 8-GB-GPU; ein kleineres Paar würde den publizierten Schwellenwert ungültig machen. Für Modul 6 existiert das Vergleichs- und Importgerüst, aber ohne gemeinsame scite- oder SemanticCite-Vorhersagen wird kein fertiger externer Benchmark behauptet. Diese Grenze trennt implementierten Code bewusst von tatsächlich gemessener Evidenz.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60 Sekunden</a:t>
            </a:r>
          </a:p>
          <a:p>
            <a:r>
              <a:t>Es gibt kein einzelnes bestes Backend. Die APIs prüfen bibliografische Daten, nicht die inhaltliche Stützung. Die Evidenzsuche nutzt Embeddings und fällt bei Bedarf auf lexikalische Suche zurück. OpenAI nutzt store=false; lokale Modelle halten Texte auf dem Gerät.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75 Sekunden</a:t>
            </a:r>
          </a:p>
          <a:p>
            <a:r>
              <a:t>Beim Live-Durchlauf den echten RQ5-Bericht und danach den Modellvergleich zeigen. Heuristik und Ollama erhalten dieselben Claims und dieselbe Evidenz. Abweichungen sind kein automatischer Fehlernachweis, sondern gezielte Stellen für die menschliche Prüfung. Falls die Demo nicht läuft, die statische Folie oder ClaimGuard_UI_Demo.mp4 verwenden.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75 Sekunden</a:t>
            </a:r>
          </a:p>
          <a:p>
            <a:r>
              <a:t>Mit 0,900 Macro-F1 der lexikalischen Prüfung beginnen und mit 0,437 bei echten Aussagen kontrastieren. LoRA erreicht auf dem labelgleichen SciFact-Subset 0,367. Fast-DetectGPT erreicht 0,924 AUROC, aber nur 0,533 Recall und übersieht 7 von 15 generierten Passagen. Jeder Wert braucht Datensatz und Fehlergrenze.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75 Sekunden</a:t>
            </a:r>
          </a:p>
          <a:p>
            <a:r>
              <a:t>Alle vier Backends sahen dieselbe Evidenz. Die Heuristik gewinnt diesen kleinen synthetischen Benchmark, weil direkte lexikalische Muster belohnt werden. LoRA ist am schnellsten, kann aber zwei der fünf Labels nicht ausgeben. Ollama schlägt OpenAI hier; OpenAI ist schneller. Das ist kein universelles Modellranking.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Sekunden</a:t>
            </a:r>
          </a:p>
          <a:p>
            <a:r>
              <a:t>Je zwei konkrete Stärken und Schwächen nennen. Fast-DetectGPT erzeugte in diesem kleinen Set keinen menschlichen Fehlalarm, übersah aber 7 von 15 generierten Texten. Der offizielle Datensatz enthält keine Zitiermarker; eine Korrelation wird daher nicht behauptet. Private Berichte wurden nicht an den externen Detektor gesendet.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20 Sekunden; Nils — 15 Sekunden</a:t>
            </a:r>
          </a:p>
          <a:p>
            <a:r>
              <a:t>Nick fasst Pipeline und Evidenz zusammen. Nils schließt mit der ethischen Grenze und lädt zu Fragen ein.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Beide — 5 Minuten</a:t>
            </a:r>
          </a:p>
          <a:p>
            <a:r>
              <a:t>Vorgeschlagene Aufteilung: Nils beantwortet Fragen zu Architektur und Evaluation; Nick übernimmt Modelle, APIs und Demo. Bei Fragen zum niedrigen Echtdatenwert zuerst auf Domain Shift und die Einzelannotation eingehen.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749808" y="731520"/>
            <a:ext cx="694944" cy="694944"/>
          </a:xfrm>
          <a:prstGeom prst="hexagon">
            <a:avLst/>
          </a:prstGeom>
          <a:solidFill>
            <a:srgbClr val="2563E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914400"/>
            <a:ext cx="694944" cy="274320"/>
          </a:xfrm>
          <a:prstGeom prst="rect">
            <a:avLst/>
          </a:prstGeom>
          <a:noFill/>
        </p:spPr>
        <p:txBody>
          <a:bodyPr wrap="square" lIns="45720" rIns="45720" anchor="t">
            <a:spAutoFit/>
          </a:bodyPr>
          <a:lstStyle/>
          <a:p>
            <a:pPr algn="ctr">
              <a:defRPr sz="1700" b="1">
                <a:solidFill>
                  <a:srgbClr val="FFFFFF"/>
                </a:solidFill>
                <a:latin typeface="Aptos"/>
              </a:defRPr>
            </a:pPr>
            <a:r>
              <a:t>CG</a:t>
            </a:r>
          </a:p>
        </p:txBody>
      </p:sp>
      <p:sp>
        <p:nvSpPr>
          <p:cNvPr id="5" name="Rounded Rectangle 4"/>
          <p:cNvSpPr/>
          <p:nvPr/>
        </p:nvSpPr>
        <p:spPr>
          <a:xfrm>
            <a:off x="9098280" y="658368"/>
            <a:ext cx="22402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667512"/>
            <a:ext cx="2240280" cy="274320"/>
          </a:xfrm>
          <a:prstGeom prst="rect">
            <a:avLst/>
          </a:prstGeom>
          <a:noFill/>
        </p:spPr>
        <p:txBody>
          <a:bodyPr wrap="square" lIns="45720" rIns="45720" anchor="t">
            <a:spAutoFit/>
          </a:bodyPr>
          <a:lstStyle/>
          <a:p>
            <a:pPr algn="ctr">
              <a:defRPr sz="1000" b="1">
                <a:solidFill>
                  <a:srgbClr val="FFFFFF"/>
                </a:solidFill>
                <a:latin typeface="Aptos"/>
              </a:defRPr>
            </a:pPr>
            <a:r>
              <a:t>15 MIN • TEAMPRÄSENTATION</a:t>
            </a:r>
          </a:p>
        </p:txBody>
      </p:sp>
      <p:sp>
        <p:nvSpPr>
          <p:cNvPr id="7" name="TextBox 6"/>
          <p:cNvSpPr txBox="1"/>
          <p:nvPr/>
        </p:nvSpPr>
        <p:spPr>
          <a:xfrm>
            <a:off x="749808" y="1874519"/>
            <a:ext cx="10241280" cy="731520"/>
          </a:xfrm>
          <a:prstGeom prst="rect">
            <a:avLst/>
          </a:prstGeom>
          <a:noFill/>
        </p:spPr>
        <p:txBody>
          <a:bodyPr wrap="square" lIns="45720" rIns="45720" anchor="t">
            <a:spAutoFit/>
          </a:bodyPr>
          <a:lstStyle/>
          <a:p>
            <a:pPr algn="l">
              <a:defRPr sz="4400" b="1">
                <a:solidFill>
                  <a:srgbClr val="FFFFFF"/>
                </a:solidFill>
                <a:latin typeface="Aptos"/>
              </a:defRPr>
            </a:pPr>
            <a:r>
              <a:t>ClaimGuard</a:t>
            </a:r>
          </a:p>
        </p:txBody>
      </p:sp>
      <p:sp>
        <p:nvSpPr>
          <p:cNvPr id="8" name="TextBox 7"/>
          <p:cNvSpPr txBox="1"/>
          <p:nvPr/>
        </p:nvSpPr>
        <p:spPr>
          <a:xfrm>
            <a:off x="749808" y="2633472"/>
            <a:ext cx="9966960" cy="731520"/>
          </a:xfrm>
          <a:prstGeom prst="rect">
            <a:avLst/>
          </a:prstGeom>
          <a:noFill/>
        </p:spPr>
        <p:txBody>
          <a:bodyPr wrap="square" lIns="45720" rIns="45720" anchor="t">
            <a:spAutoFit/>
          </a:bodyPr>
          <a:lstStyle/>
          <a:p>
            <a:pPr algn="l">
              <a:defRPr sz="2500" b="1">
                <a:solidFill>
                  <a:srgbClr val="38BDF8"/>
                </a:solidFill>
                <a:latin typeface="Aptos"/>
              </a:defRPr>
            </a:pPr>
            <a:r>
              <a:t>Evidenzbasierte Prüfung akademischer Integrität</a:t>
            </a:r>
          </a:p>
        </p:txBody>
      </p:sp>
      <p:sp>
        <p:nvSpPr>
          <p:cNvPr id="9" name="TextBox 8"/>
          <p:cNvSpPr txBox="1"/>
          <p:nvPr/>
        </p:nvSpPr>
        <p:spPr>
          <a:xfrm>
            <a:off x="768096" y="3547872"/>
            <a:ext cx="8961120" cy="658368"/>
          </a:xfrm>
          <a:prstGeom prst="rect">
            <a:avLst/>
          </a:prstGeom>
          <a:noFill/>
        </p:spPr>
        <p:txBody>
          <a:bodyPr wrap="square" lIns="45720" rIns="45720" anchor="t">
            <a:spAutoFit/>
          </a:bodyPr>
          <a:lstStyle/>
          <a:p>
            <a:pPr algn="l">
              <a:defRPr sz="1800" b="0">
                <a:solidFill>
                  <a:srgbClr val="CBD5E1"/>
                </a:solidFill>
                <a:latin typeface="Aptos"/>
              </a:defRPr>
            </a:pPr>
            <a:r>
              <a:t>Von Aussagen im PDF zur Referenzprüfung und Quellenbewertung</a:t>
            </a:r>
          </a:p>
        </p:txBody>
      </p:sp>
      <p:sp>
        <p:nvSpPr>
          <p:cNvPr id="10" name="TextBox 9"/>
          <p:cNvSpPr txBox="1"/>
          <p:nvPr/>
        </p:nvSpPr>
        <p:spPr>
          <a:xfrm>
            <a:off x="768096" y="5047488"/>
            <a:ext cx="4572000" cy="274320"/>
          </a:xfrm>
          <a:prstGeom prst="rect">
            <a:avLst/>
          </a:prstGeom>
          <a:noFill/>
        </p:spPr>
        <p:txBody>
          <a:bodyPr wrap="square" lIns="45720" rIns="45720" anchor="t">
            <a:spAutoFit/>
          </a:bodyPr>
          <a:lstStyle/>
          <a:p>
            <a:pPr algn="l">
              <a:defRPr sz="1500" b="1">
                <a:solidFill>
                  <a:srgbClr val="FFFFFF"/>
                </a:solidFill>
                <a:latin typeface="Aptos"/>
              </a:defRPr>
            </a:pPr>
            <a:r>
              <a:t>Nils Wagner  •  Nick Wenzel</a:t>
            </a:r>
          </a:p>
        </p:txBody>
      </p:sp>
      <p:sp>
        <p:nvSpPr>
          <p:cNvPr id="11" name="TextBox 10"/>
          <p:cNvSpPr txBox="1"/>
          <p:nvPr/>
        </p:nvSpPr>
        <p:spPr>
          <a:xfrm>
            <a:off x="768096" y="5422392"/>
            <a:ext cx="6217920" cy="274320"/>
          </a:xfrm>
          <a:prstGeom prst="rect">
            <a:avLst/>
          </a:prstGeom>
          <a:noFill/>
        </p:spPr>
        <p:txBody>
          <a:bodyPr wrap="square" lIns="45720" rIns="45720" anchor="t">
            <a:spAutoFit/>
          </a:bodyPr>
          <a:lstStyle/>
          <a:p>
            <a:pPr algn="l">
              <a:defRPr sz="1200" b="0">
                <a:solidFill>
                  <a:srgbClr val="94A3B8"/>
                </a:solidFill>
                <a:latin typeface="Aptos"/>
              </a:defRPr>
            </a:pPr>
            <a:r>
              <a:t>MWI Deep Learning Capstone  •  3. Juli 2026</a:t>
            </a:r>
          </a:p>
        </p:txBody>
      </p:sp>
      <p:sp>
        <p:nvSpPr>
          <p:cNvPr id="12" name="TextBox 11"/>
          <p:cNvSpPr txBox="1"/>
          <p:nvPr/>
        </p:nvSpPr>
        <p:spPr>
          <a:xfrm>
            <a:off x="9966960" y="6263640"/>
            <a:ext cx="1371600" cy="228600"/>
          </a:xfrm>
          <a:prstGeom prst="rect">
            <a:avLst/>
          </a:prstGeom>
          <a:noFill/>
        </p:spPr>
        <p:txBody>
          <a:bodyPr wrap="square" lIns="45720" rIns="45720" anchor="t">
            <a:spAutoFit/>
          </a:bodyPr>
          <a:lstStyle/>
          <a:p>
            <a:pPr algn="r">
              <a:defRPr sz="900" b="0">
                <a:solidFill>
                  <a:srgbClr val="94A3B8"/>
                </a:solidFill>
                <a:latin typeface="Aptos"/>
              </a:defRPr>
            </a:pPr>
            <a:r>
              <a:t>NILS • 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PROBLEMMOTIVATION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Warum die Prüfung akademischer Integrität wichtig ist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02</a:t>
            </a:r>
          </a:p>
        </p:txBody>
      </p:sp>
      <p:sp>
        <p:nvSpPr>
          <p:cNvPr id="7" name="Rounded Rectangle 6"/>
          <p:cNvSpPr/>
          <p:nvPr/>
        </p:nvSpPr>
        <p:spPr>
          <a:xfrm>
            <a:off x="566928" y="1234440"/>
            <a:ext cx="4709160" cy="443484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72768"/>
            <a:ext cx="4069080" cy="292608"/>
          </a:xfrm>
          <a:prstGeom prst="rect">
            <a:avLst/>
          </a:prstGeom>
          <a:noFill/>
        </p:spPr>
        <p:txBody>
          <a:bodyPr wrap="square" lIns="45720" rIns="45720" anchor="t">
            <a:spAutoFit/>
          </a:bodyPr>
          <a:lstStyle/>
          <a:p>
            <a:pPr algn="l">
              <a:defRPr sz="2100" b="1">
                <a:solidFill>
                  <a:srgbClr val="38BDF8"/>
                </a:solidFill>
                <a:latin typeface="Aptos"/>
              </a:defRPr>
            </a:pPr>
            <a:r>
              <a:t>Eine Quelle kann echt sein …</a:t>
            </a:r>
          </a:p>
        </p:txBody>
      </p:sp>
      <p:sp>
        <p:nvSpPr>
          <p:cNvPr id="9" name="TextBox 8"/>
          <p:cNvSpPr txBox="1"/>
          <p:nvPr/>
        </p:nvSpPr>
        <p:spPr>
          <a:xfrm>
            <a:off x="868680" y="2084831"/>
            <a:ext cx="4069080" cy="1115568"/>
          </a:xfrm>
          <a:prstGeom prst="rect">
            <a:avLst/>
          </a:prstGeom>
          <a:noFill/>
        </p:spPr>
        <p:txBody>
          <a:bodyPr wrap="square" lIns="45720" rIns="45720" anchor="t">
            <a:spAutoFit/>
          </a:bodyPr>
          <a:lstStyle/>
          <a:p>
            <a:pPr algn="l">
              <a:defRPr sz="2900" b="1">
                <a:solidFill>
                  <a:srgbClr val="FFFFFF"/>
                </a:solidFill>
                <a:latin typeface="Aptos"/>
              </a:defRPr>
            </a:pPr>
            <a:r>
              <a:t>… und trotzdem die zitierte Aussage nicht stützen.</a:t>
            </a:r>
          </a:p>
        </p:txBody>
      </p:sp>
      <p:sp>
        <p:nvSpPr>
          <p:cNvPr id="10" name="TextBox 9"/>
          <p:cNvSpPr txBox="1"/>
          <p:nvPr/>
        </p:nvSpPr>
        <p:spPr>
          <a:xfrm>
            <a:off x="868680" y="3730752"/>
            <a:ext cx="3931920" cy="731520"/>
          </a:xfrm>
          <a:prstGeom prst="rect">
            <a:avLst/>
          </a:prstGeom>
          <a:noFill/>
        </p:spPr>
        <p:txBody>
          <a:bodyPr wrap="square" lIns="45720" rIns="45720" anchor="t">
            <a:spAutoFit/>
          </a:bodyPr>
          <a:lstStyle/>
          <a:p>
            <a:pPr algn="l">
              <a:defRPr sz="1600" b="0">
                <a:solidFill>
                  <a:srgbClr val="CBD5E1"/>
                </a:solidFill>
                <a:latin typeface="Aptos"/>
              </a:defRPr>
            </a:pPr>
            <a:r>
              <a:t>Manuelle Prüfung ist langsam; naive Automatisierung erzeugt falsche Verdächtigungen.</a:t>
            </a:r>
          </a:p>
        </p:txBody>
      </p:sp>
      <p:sp>
        <p:nvSpPr>
          <p:cNvPr id="11" name="Rounded Rectangle 10"/>
          <p:cNvSpPr/>
          <p:nvPr/>
        </p:nvSpPr>
        <p:spPr>
          <a:xfrm>
            <a:off x="868680" y="4956048"/>
            <a:ext cx="2176272"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65192"/>
            <a:ext cx="2176272" cy="274320"/>
          </a:xfrm>
          <a:prstGeom prst="rect">
            <a:avLst/>
          </a:prstGeom>
          <a:noFill/>
        </p:spPr>
        <p:txBody>
          <a:bodyPr wrap="square" lIns="45720" rIns="45720" anchor="t">
            <a:spAutoFit/>
          </a:bodyPr>
          <a:lstStyle/>
          <a:p>
            <a:pPr algn="ctr">
              <a:defRPr sz="1000" b="1">
                <a:solidFill>
                  <a:srgbClr val="0B132B"/>
                </a:solidFill>
                <a:latin typeface="Aptos"/>
              </a:defRPr>
            </a:pPr>
            <a:r>
              <a:t>VORPRÜFUNG, KEIN URTEIL</a:t>
            </a:r>
          </a:p>
        </p:txBody>
      </p:sp>
      <p:sp>
        <p:nvSpPr>
          <p:cNvPr id="13" name="TextBox 12"/>
          <p:cNvSpPr txBox="1"/>
          <p:nvPr/>
        </p:nvSpPr>
        <p:spPr>
          <a:xfrm>
            <a:off x="5715000" y="1444752"/>
            <a:ext cx="5669280" cy="3566160"/>
          </a:xfrm>
          <a:prstGeom prst="rect">
            <a:avLst/>
          </a:prstGeom>
          <a:noFill/>
        </p:spPr>
        <p:txBody>
          <a:bodyPr wrap="square" lIns="0" rIns="0" tIns="0" bIns="0">
            <a:spAutoFit/>
          </a:bodyPr>
          <a:lstStyle/>
          <a:p>
            <a:pPr>
              <a:lnSpc>
                <a:spcPct val="105000"/>
              </a:lnSpc>
              <a:spcAft>
                <a:spcPts val="1500"/>
              </a:spcAft>
              <a:defRPr sz="1700">
                <a:solidFill>
                  <a:srgbClr val="182230"/>
                </a:solidFill>
                <a:latin typeface="Aptos"/>
              </a:defRPr>
            </a:pPr>
            <a:r>
              <a:rPr b="1"/>
              <a:t>•  Umfang  Lange Berichte enthalten viele überprüfbare Aussagen.</a:t>
            </a:r>
          </a:p>
          <a:p>
            <a:pPr>
              <a:lnSpc>
                <a:spcPct val="105000"/>
              </a:lnSpc>
              <a:spcAft>
                <a:spcPts val="1500"/>
              </a:spcAft>
              <a:defRPr sz="1700">
                <a:solidFill>
                  <a:srgbClr val="182230"/>
                </a:solidFill>
                <a:latin typeface="Aptos"/>
              </a:defRPr>
            </a:pPr>
            <a:r>
              <a:rPr b="1"/>
              <a:t>•  Feinheit  Existenz, Relevanz und faktische Stützung sind verschiedene Fragen.</a:t>
            </a:r>
          </a:p>
          <a:p>
            <a:pPr>
              <a:lnSpc>
                <a:spcPct val="105000"/>
              </a:lnSpc>
              <a:spcAft>
                <a:spcPts val="1500"/>
              </a:spcAft>
              <a:defRPr sz="1700">
                <a:solidFill>
                  <a:srgbClr val="182230"/>
                </a:solidFill>
                <a:latin typeface="Aptos"/>
              </a:defRPr>
            </a:pPr>
            <a:r>
              <a:rPr b="1"/>
              <a:t>•  Risiko  Fehlalarme können Studierenden und Forschenden unfair schaden.</a:t>
            </a:r>
          </a:p>
          <a:p>
            <a:pPr>
              <a:lnSpc>
                <a:spcPct val="105000"/>
              </a:lnSpc>
              <a:spcAft>
                <a:spcPts val="1500"/>
              </a:spcAft>
              <a:defRPr sz="1700">
                <a:solidFill>
                  <a:srgbClr val="182230"/>
                </a:solidFill>
                <a:latin typeface="Aptos"/>
              </a:defRPr>
            </a:pPr>
            <a:r>
              <a:rPr b="1"/>
              <a:t>•  Bedarf  Prüfende brauchen nachvollziehbare Evidenz statt einer Blackbox-Zahl.</a:t>
            </a:r>
          </a:p>
        </p:txBody>
      </p:sp>
      <p:sp>
        <p:nvSpPr>
          <p:cNvPr id="14" name="TextBox 13"/>
          <p:cNvSpPr txBox="1"/>
          <p:nvPr/>
        </p:nvSpPr>
        <p:spPr>
          <a:xfrm>
            <a:off x="5742432" y="5193792"/>
            <a:ext cx="5303520" cy="384048"/>
          </a:xfrm>
          <a:prstGeom prst="rect">
            <a:avLst/>
          </a:prstGeom>
          <a:noFill/>
        </p:spPr>
        <p:txBody>
          <a:bodyPr wrap="square" lIns="45720" rIns="45720" anchor="t">
            <a:spAutoFit/>
          </a:bodyPr>
          <a:lstStyle/>
          <a:p>
            <a:pPr algn="l">
              <a:defRPr sz="1600" b="1">
                <a:solidFill>
                  <a:srgbClr val="2563EB"/>
                </a:solidFill>
                <a:latin typeface="Aptos"/>
              </a:defRPr>
            </a:pPr>
            <a:r>
              <a:t>Ziel: Auffällige Passagen schneller prüfen und verständlich begründen.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PROBLEMSTELLUNG</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Drei Prüfungen — ein nachvollziehbarer Bericht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0:45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03</a:t>
            </a:r>
          </a:p>
        </p:txBody>
      </p:sp>
      <p:sp>
        <p:nvSpPr>
          <p:cNvPr id="7" name="Rounded Rectangle 6"/>
          <p:cNvSpPr/>
          <p:nvPr/>
        </p:nvSpPr>
        <p:spPr>
          <a:xfrm>
            <a:off x="658368" y="1417320"/>
            <a:ext cx="3401568" cy="3493008"/>
          </a:xfrm>
          <a:prstGeom prst="roundRect">
            <a:avLst>
              <a:gd name="adj" fmla="val 12000"/>
            </a:avLst>
          </a:prstGeom>
          <a:solidFill>
            <a:srgbClr val="F3F6FA"/>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9536" y="1645920"/>
            <a:ext cx="65836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01</a:t>
            </a:r>
          </a:p>
        </p:txBody>
      </p:sp>
      <p:sp>
        <p:nvSpPr>
          <p:cNvPr id="10" name="TextBox 9"/>
          <p:cNvSpPr txBox="1"/>
          <p:nvPr/>
        </p:nvSpPr>
        <p:spPr>
          <a:xfrm>
            <a:off x="859536"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Benötigt das eine Quelle?</a:t>
            </a:r>
          </a:p>
        </p:txBody>
      </p:sp>
      <p:sp>
        <p:nvSpPr>
          <p:cNvPr id="11" name="TextBox 10"/>
          <p:cNvSpPr txBox="1"/>
          <p:nvPr/>
        </p:nvSpPr>
        <p:spPr>
          <a:xfrm>
            <a:off x="859536"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Aussagetyp, Abschnitt, Zitiermarker, Schweregrad</a:t>
            </a:r>
          </a:p>
        </p:txBody>
      </p:sp>
      <p:sp>
        <p:nvSpPr>
          <p:cNvPr id="12" name="Rounded Rectangle 11"/>
          <p:cNvSpPr/>
          <p:nvPr/>
        </p:nvSpPr>
        <p:spPr>
          <a:xfrm>
            <a:off x="4480559" y="1417320"/>
            <a:ext cx="3401568" cy="3493008"/>
          </a:xfrm>
          <a:prstGeom prst="roundRect">
            <a:avLst>
              <a:gd name="adj" fmla="val 12000"/>
            </a:avLst>
          </a:prstGeom>
          <a:solidFill>
            <a:srgbClr val="F3F6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81727" y="1645920"/>
            <a:ext cx="658368" cy="310896"/>
          </a:xfrm>
          <a:prstGeom prst="roundRect">
            <a:avLst>
              <a:gd name="adj" fmla="val 12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02</a:t>
            </a:r>
          </a:p>
        </p:txBody>
      </p:sp>
      <p:sp>
        <p:nvSpPr>
          <p:cNvPr id="15" name="TextBox 14"/>
          <p:cNvSpPr txBox="1"/>
          <p:nvPr/>
        </p:nvSpPr>
        <p:spPr>
          <a:xfrm>
            <a:off x="4681727"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Existiert die Quelle?</a:t>
            </a:r>
          </a:p>
        </p:txBody>
      </p:sp>
      <p:sp>
        <p:nvSpPr>
          <p:cNvPr id="16" name="TextBox 15"/>
          <p:cNvSpPr txBox="1"/>
          <p:nvPr/>
        </p:nvSpPr>
        <p:spPr>
          <a:xfrm>
            <a:off x="4681727"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IEEE-Parsing plus wissenschaftliche Metadaten-APIs</a:t>
            </a:r>
          </a:p>
        </p:txBody>
      </p:sp>
      <p:sp>
        <p:nvSpPr>
          <p:cNvPr id="17" name="Rounded Rectangle 16"/>
          <p:cNvSpPr/>
          <p:nvPr/>
        </p:nvSpPr>
        <p:spPr>
          <a:xfrm>
            <a:off x="8302752" y="1417320"/>
            <a:ext cx="3401568" cy="3493008"/>
          </a:xfrm>
          <a:prstGeom prst="roundRect">
            <a:avLst>
              <a:gd name="adj" fmla="val 12000"/>
            </a:avLst>
          </a:prstGeom>
          <a:solidFill>
            <a:srgbClr val="F3F6F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03920" y="1645920"/>
            <a:ext cx="65836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03</a:t>
            </a:r>
          </a:p>
        </p:txBody>
      </p:sp>
      <p:sp>
        <p:nvSpPr>
          <p:cNvPr id="20" name="TextBox 19"/>
          <p:cNvSpPr txBox="1"/>
          <p:nvPr/>
        </p:nvSpPr>
        <p:spPr>
          <a:xfrm>
            <a:off x="8503920"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Stützt die Quelle die Aussage?</a:t>
            </a:r>
          </a:p>
        </p:txBody>
      </p:sp>
      <p:sp>
        <p:nvSpPr>
          <p:cNvPr id="21" name="TextBox 20"/>
          <p:cNvSpPr txBox="1"/>
          <p:nvPr/>
        </p:nvSpPr>
        <p:spPr>
          <a:xfrm>
            <a:off x="8503920"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Evidenzsuche plus fünfstufige Verifikation</a:t>
            </a:r>
          </a:p>
        </p:txBody>
      </p:sp>
      <p:sp>
        <p:nvSpPr>
          <p:cNvPr id="22" name="TextBox 21"/>
          <p:cNvSpPr txBox="1"/>
          <p:nvPr/>
        </p:nvSpPr>
        <p:spPr>
          <a:xfrm>
            <a:off x="960120" y="5330952"/>
            <a:ext cx="10241280" cy="384048"/>
          </a:xfrm>
          <a:prstGeom prst="rect">
            <a:avLst/>
          </a:prstGeom>
          <a:noFill/>
        </p:spPr>
        <p:txBody>
          <a:bodyPr wrap="square" lIns="45720" rIns="45720" anchor="t">
            <a:spAutoFit/>
          </a:bodyPr>
          <a:lstStyle/>
          <a:p>
            <a:pPr algn="ctr">
              <a:defRPr sz="1600" b="1">
                <a:solidFill>
                  <a:srgbClr val="0B132B"/>
                </a:solidFill>
                <a:latin typeface="Aptos"/>
              </a:defRPr>
            </a:pPr>
            <a:r>
              <a:t>Ausgabe: lesbares Markdown + vollständige JSON-Provenienz für Evaluation und Audit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SYSTEMARCHITEKTUR</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Pipeline-Architektur</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04</a:t>
            </a:r>
          </a:p>
        </p:txBody>
      </p:sp>
      <p:sp>
        <p:nvSpPr>
          <p:cNvPr id="7" name="Rounded Rectangle 6"/>
          <p:cNvSpPr/>
          <p:nvPr/>
        </p:nvSpPr>
        <p:spPr>
          <a:xfrm>
            <a:off x="438912" y="1444752"/>
            <a:ext cx="1965960" cy="1261872"/>
          </a:xfrm>
          <a:prstGeom prst="roundRect">
            <a:avLst>
              <a:gd name="adj" fmla="val 12000"/>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581912"/>
            <a:ext cx="384048" cy="384048"/>
          </a:xfrm>
          <a:prstGeom prst="ellipse">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1</a:t>
            </a:r>
          </a:p>
        </p:txBody>
      </p:sp>
      <p:sp>
        <p:nvSpPr>
          <p:cNvPr id="10" name="TextBox 9"/>
          <p:cNvSpPr txBox="1"/>
          <p:nvPr/>
        </p:nvSpPr>
        <p:spPr>
          <a:xfrm>
            <a:off x="1042416"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Einlesen</a:t>
            </a:r>
          </a:p>
        </p:txBody>
      </p:sp>
      <p:sp>
        <p:nvSpPr>
          <p:cNvPr id="11" name="TextBox 10"/>
          <p:cNvSpPr txBox="1"/>
          <p:nvPr/>
        </p:nvSpPr>
        <p:spPr>
          <a:xfrm>
            <a:off x="585216"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PDF/TXT-Extraktion</a:t>
            </a:r>
            <a:br/>
            <a:r>
              <a:t/>
            </a:r>
            <a:br/>
            <a:r>
              <a:t>Abschnittsbereinigung</a:t>
            </a:r>
          </a:p>
        </p:txBody>
      </p:sp>
      <p:sp>
        <p:nvSpPr>
          <p:cNvPr id="12" name="Chevron 11"/>
          <p:cNvSpPr/>
          <p:nvPr/>
        </p:nvSpPr>
        <p:spPr>
          <a:xfrm>
            <a:off x="2432304"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8920" y="1444752"/>
            <a:ext cx="1965960" cy="1261872"/>
          </a:xfrm>
          <a:prstGeom prst="roundRect">
            <a:avLst>
              <a:gd name="adj" fmla="val 12000"/>
            </a:avLst>
          </a:prstGeom>
          <a:solidFill>
            <a:srgbClr val="FFFF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98648" y="1581912"/>
            <a:ext cx="384048" cy="384048"/>
          </a:xfrm>
          <a:prstGeom prst="ellipse">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8648"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2</a:t>
            </a:r>
          </a:p>
        </p:txBody>
      </p:sp>
      <p:sp>
        <p:nvSpPr>
          <p:cNvPr id="16" name="TextBox 15"/>
          <p:cNvSpPr txBox="1"/>
          <p:nvPr/>
        </p:nvSpPr>
        <p:spPr>
          <a:xfrm>
            <a:off x="3392424"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Aussagen</a:t>
            </a:r>
          </a:p>
        </p:txBody>
      </p:sp>
      <p:sp>
        <p:nvSpPr>
          <p:cNvPr id="17" name="TextBox 16"/>
          <p:cNvSpPr txBox="1"/>
          <p:nvPr/>
        </p:nvSpPr>
        <p:spPr>
          <a:xfrm>
            <a:off x="2935224"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Typ + Quellenbedarf</a:t>
            </a:r>
            <a:br/>
            <a:r>
              <a:t/>
            </a:r>
            <a:br/>
            <a:r>
              <a:t>Kontextverknüpfung</a:t>
            </a:r>
          </a:p>
        </p:txBody>
      </p:sp>
      <p:sp>
        <p:nvSpPr>
          <p:cNvPr id="18" name="Chevron 17"/>
          <p:cNvSpPr/>
          <p:nvPr/>
        </p:nvSpPr>
        <p:spPr>
          <a:xfrm>
            <a:off x="4782312"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38927" y="1444752"/>
            <a:ext cx="1965960" cy="1261872"/>
          </a:xfrm>
          <a:prstGeom prst="roundRect">
            <a:avLst>
              <a:gd name="adj" fmla="val 12000"/>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48655" y="1581912"/>
            <a:ext cx="384048" cy="38404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5"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3</a:t>
            </a:r>
          </a:p>
        </p:txBody>
      </p:sp>
      <p:sp>
        <p:nvSpPr>
          <p:cNvPr id="22" name="TextBox 21"/>
          <p:cNvSpPr txBox="1"/>
          <p:nvPr/>
        </p:nvSpPr>
        <p:spPr>
          <a:xfrm>
            <a:off x="5742431"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Referenzen</a:t>
            </a:r>
          </a:p>
        </p:txBody>
      </p:sp>
      <p:sp>
        <p:nvSpPr>
          <p:cNvPr id="23" name="TextBox 22"/>
          <p:cNvSpPr txBox="1"/>
          <p:nvPr/>
        </p:nvSpPr>
        <p:spPr>
          <a:xfrm>
            <a:off x="5285231"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IEEE-Parsing</a:t>
            </a:r>
            <a:br/>
            <a:r>
              <a:t/>
            </a:r>
            <a:br/>
            <a:r>
              <a:t>Metadatenprüfung</a:t>
            </a:r>
          </a:p>
        </p:txBody>
      </p:sp>
      <p:sp>
        <p:nvSpPr>
          <p:cNvPr id="24" name="Chevron 23"/>
          <p:cNvSpPr/>
          <p:nvPr/>
        </p:nvSpPr>
        <p:spPr>
          <a:xfrm>
            <a:off x="7132319"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88936" y="1444752"/>
            <a:ext cx="1965960" cy="1261872"/>
          </a:xfrm>
          <a:prstGeom prst="roundRect">
            <a:avLst>
              <a:gd name="adj" fmla="val 12000"/>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98663" y="1581912"/>
            <a:ext cx="384048" cy="384048"/>
          </a:xfrm>
          <a:prstGeom prst="ellipse">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98663"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4</a:t>
            </a:r>
          </a:p>
        </p:txBody>
      </p:sp>
      <p:sp>
        <p:nvSpPr>
          <p:cNvPr id="28" name="TextBox 27"/>
          <p:cNvSpPr txBox="1"/>
          <p:nvPr/>
        </p:nvSpPr>
        <p:spPr>
          <a:xfrm>
            <a:off x="8092440"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Evidenz</a:t>
            </a:r>
          </a:p>
        </p:txBody>
      </p:sp>
      <p:sp>
        <p:nvSpPr>
          <p:cNvPr id="29" name="TextBox 28"/>
          <p:cNvSpPr txBox="1"/>
          <p:nvPr/>
        </p:nvSpPr>
        <p:spPr>
          <a:xfrm>
            <a:off x="7635240"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lexikalisch / Embeddings</a:t>
            </a:r>
            <a:br/>
            <a:r>
              <a:t/>
            </a:r>
            <a:br/>
            <a:r>
              <a:t>Chunk-Suche</a:t>
            </a:r>
          </a:p>
        </p:txBody>
      </p:sp>
      <p:sp>
        <p:nvSpPr>
          <p:cNvPr id="30" name="Chevron 29"/>
          <p:cNvSpPr/>
          <p:nvPr/>
        </p:nvSpPr>
        <p:spPr>
          <a:xfrm>
            <a:off x="9482328"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38944" y="1444752"/>
            <a:ext cx="1965960" cy="1261872"/>
          </a:xfrm>
          <a:prstGeom prst="roundRect">
            <a:avLst>
              <a:gd name="adj" fmla="val 12000"/>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48672" y="1581912"/>
            <a:ext cx="384048" cy="384048"/>
          </a:xfrm>
          <a:prstGeom prst="ellipse">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48672"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5</a:t>
            </a:r>
          </a:p>
        </p:txBody>
      </p:sp>
      <p:sp>
        <p:nvSpPr>
          <p:cNvPr id="34" name="TextBox 33"/>
          <p:cNvSpPr txBox="1"/>
          <p:nvPr/>
        </p:nvSpPr>
        <p:spPr>
          <a:xfrm>
            <a:off x="10442448"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Bewertung</a:t>
            </a:r>
          </a:p>
        </p:txBody>
      </p:sp>
      <p:sp>
        <p:nvSpPr>
          <p:cNvPr id="35" name="TextBox 34"/>
          <p:cNvSpPr txBox="1"/>
          <p:nvPr/>
        </p:nvSpPr>
        <p:spPr>
          <a:xfrm>
            <a:off x="9985248"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Heuristik / lokal /</a:t>
            </a:r>
            <a:br/>
            <a:r>
              <a:t/>
            </a:r>
            <a:br/>
            <a:r>
              <a:t>Frontier / LoRA</a:t>
            </a:r>
          </a:p>
        </p:txBody>
      </p:sp>
      <p:sp>
        <p:nvSpPr>
          <p:cNvPr id="36" name="Rounded Rectangle 35"/>
          <p:cNvSpPr/>
          <p:nvPr/>
        </p:nvSpPr>
        <p:spPr>
          <a:xfrm>
            <a:off x="676656" y="3246120"/>
            <a:ext cx="10826496" cy="96012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3447288"/>
            <a:ext cx="2057400" cy="320040"/>
          </a:xfrm>
          <a:prstGeom prst="rect">
            <a:avLst/>
          </a:prstGeom>
          <a:noFill/>
        </p:spPr>
        <p:txBody>
          <a:bodyPr wrap="square" lIns="45720" rIns="45720" anchor="t">
            <a:spAutoFit/>
          </a:bodyPr>
          <a:lstStyle/>
          <a:p>
            <a:pPr algn="l">
              <a:defRPr sz="1300" b="1">
                <a:solidFill>
                  <a:srgbClr val="38BDF8"/>
                </a:solidFill>
                <a:latin typeface="Aptos"/>
              </a:defRPr>
            </a:pPr>
            <a:r>
              <a:t>AUDIT-SPUR</a:t>
            </a:r>
          </a:p>
        </p:txBody>
      </p:sp>
      <p:sp>
        <p:nvSpPr>
          <p:cNvPr id="38" name="TextBox 37"/>
          <p:cNvSpPr txBox="1"/>
          <p:nvPr/>
        </p:nvSpPr>
        <p:spPr>
          <a:xfrm>
            <a:off x="2788920" y="3429000"/>
            <a:ext cx="8138160" cy="393192"/>
          </a:xfrm>
          <a:prstGeom prst="rect">
            <a:avLst/>
          </a:prstGeom>
          <a:noFill/>
        </p:spPr>
        <p:txBody>
          <a:bodyPr wrap="square" lIns="45720" rIns="45720" anchor="t">
            <a:spAutoFit/>
          </a:bodyPr>
          <a:lstStyle/>
          <a:p>
            <a:pPr algn="l">
              <a:defRPr sz="1500" b="0">
                <a:solidFill>
                  <a:srgbClr val="FFFFFF"/>
                </a:solidFill>
                <a:latin typeface="Aptos"/>
              </a:defRPr>
            </a:pPr>
            <a:r>
              <a:t>Evidenz • Konfidenz • Modell-ID • Latenz • Tokenverbrauch • Antwort-/Anfrage-IDs</a:t>
            </a:r>
          </a:p>
        </p:txBody>
      </p:sp>
      <p:sp>
        <p:nvSpPr>
          <p:cNvPr id="39" name="Rounded Rectangle 38"/>
          <p:cNvSpPr/>
          <p:nvPr/>
        </p:nvSpPr>
        <p:spPr>
          <a:xfrm>
            <a:off x="914400"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78992" y="4754880"/>
            <a:ext cx="2642616" cy="438912"/>
          </a:xfrm>
          <a:prstGeom prst="rect">
            <a:avLst/>
          </a:prstGeom>
          <a:noFill/>
        </p:spPr>
        <p:txBody>
          <a:bodyPr wrap="square" lIns="45720" rIns="45720" anchor="t">
            <a:spAutoFit/>
          </a:bodyPr>
          <a:lstStyle/>
          <a:p>
            <a:pPr algn="l">
              <a:defRPr sz="2700" b="1">
                <a:solidFill>
                  <a:srgbClr val="10B981"/>
                </a:solidFill>
                <a:latin typeface="Aptos"/>
              </a:defRPr>
            </a:pPr>
            <a:r>
              <a:t>Offline zuerst</a:t>
            </a:r>
          </a:p>
        </p:txBody>
      </p:sp>
      <p:sp>
        <p:nvSpPr>
          <p:cNvPr id="41" name="TextBox 40"/>
          <p:cNvSpPr txBox="1"/>
          <p:nvPr/>
        </p:nvSpPr>
        <p:spPr>
          <a:xfrm>
            <a:off x="1078992"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Regelbasierter Fallback</a:t>
            </a:r>
          </a:p>
        </p:txBody>
      </p:sp>
      <p:sp>
        <p:nvSpPr>
          <p:cNvPr id="42" name="TextBox 41"/>
          <p:cNvSpPr txBox="1"/>
          <p:nvPr/>
        </p:nvSpPr>
        <p:spPr>
          <a:xfrm>
            <a:off x="1078992"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Netzwerkfunktionen nur optional</a:t>
            </a:r>
          </a:p>
        </p:txBody>
      </p:sp>
      <p:sp>
        <p:nvSpPr>
          <p:cNvPr id="43" name="Rounded Rectangle 42"/>
          <p:cNvSpPr/>
          <p:nvPr/>
        </p:nvSpPr>
        <p:spPr>
          <a:xfrm>
            <a:off x="4599432"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64024" y="4754880"/>
            <a:ext cx="2642616" cy="438912"/>
          </a:xfrm>
          <a:prstGeom prst="rect">
            <a:avLst/>
          </a:prstGeom>
          <a:noFill/>
        </p:spPr>
        <p:txBody>
          <a:bodyPr wrap="square" lIns="45720" rIns="45720" anchor="t">
            <a:spAutoFit/>
          </a:bodyPr>
          <a:lstStyle/>
          <a:p>
            <a:pPr algn="l">
              <a:defRPr sz="2700" b="1">
                <a:solidFill>
                  <a:srgbClr val="2563EB"/>
                </a:solidFill>
                <a:latin typeface="Aptos"/>
              </a:defRPr>
            </a:pPr>
            <a:r>
              <a:t>Ein Schema</a:t>
            </a:r>
          </a:p>
        </p:txBody>
      </p:sp>
      <p:sp>
        <p:nvSpPr>
          <p:cNvPr id="45" name="TextBox 44"/>
          <p:cNvSpPr txBox="1"/>
          <p:nvPr/>
        </p:nvSpPr>
        <p:spPr>
          <a:xfrm>
            <a:off x="4764024"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Vergleichbare Backends</a:t>
            </a:r>
          </a:p>
        </p:txBody>
      </p:sp>
      <p:sp>
        <p:nvSpPr>
          <p:cNvPr id="46" name="TextBox 45"/>
          <p:cNvSpPr txBox="1"/>
          <p:nvPr/>
        </p:nvSpPr>
        <p:spPr>
          <a:xfrm>
            <a:off x="4764024"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Fünf Unterstützungslabels</a:t>
            </a:r>
          </a:p>
        </p:txBody>
      </p:sp>
      <p:sp>
        <p:nvSpPr>
          <p:cNvPr id="47" name="Rounded Rectangle 46"/>
          <p:cNvSpPr/>
          <p:nvPr/>
        </p:nvSpPr>
        <p:spPr>
          <a:xfrm>
            <a:off x="8275320"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39912" y="4754880"/>
            <a:ext cx="2642616" cy="438912"/>
          </a:xfrm>
          <a:prstGeom prst="rect">
            <a:avLst/>
          </a:prstGeom>
          <a:noFill/>
        </p:spPr>
        <p:txBody>
          <a:bodyPr wrap="square" lIns="45720" rIns="45720" anchor="t">
            <a:spAutoFit/>
          </a:bodyPr>
          <a:lstStyle/>
          <a:p>
            <a:pPr algn="l">
              <a:defRPr sz="2700" b="1">
                <a:solidFill>
                  <a:srgbClr val="F59E0B"/>
                </a:solidFill>
                <a:latin typeface="Aptos"/>
              </a:defRPr>
            </a:pPr>
            <a:r>
              <a:t>Mensch prüft</a:t>
            </a:r>
          </a:p>
        </p:txBody>
      </p:sp>
      <p:sp>
        <p:nvSpPr>
          <p:cNvPr id="49" name="TextBox 48"/>
          <p:cNvSpPr txBox="1"/>
          <p:nvPr/>
        </p:nvSpPr>
        <p:spPr>
          <a:xfrm>
            <a:off x="8439912"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Endgültige Entscheidung</a:t>
            </a:r>
          </a:p>
        </p:txBody>
      </p:sp>
      <p:sp>
        <p:nvSpPr>
          <p:cNvPr id="50" name="TextBox 49"/>
          <p:cNvSpPr txBox="1"/>
          <p:nvPr/>
        </p:nvSpPr>
        <p:spPr>
          <a:xfrm>
            <a:off x="8439912"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Kein automatischer Täuschungsvorwurf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MODULABDECKUNG</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Modulabdeckung: erfüllt und offen</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05</a:t>
            </a:r>
          </a:p>
        </p:txBody>
      </p:sp>
      <p:sp>
        <p:nvSpPr>
          <p:cNvPr id="7" name="Rounded Rectangle 6"/>
          <p:cNvSpPr/>
          <p:nvPr/>
        </p:nvSpPr>
        <p:spPr>
          <a:xfrm>
            <a:off x="640080" y="1225296"/>
            <a:ext cx="10881360" cy="896112"/>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408176"/>
            <a:ext cx="129844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17320"/>
            <a:ext cx="1298448" cy="274320"/>
          </a:xfrm>
          <a:prstGeom prst="rect">
            <a:avLst/>
          </a:prstGeom>
          <a:noFill/>
        </p:spPr>
        <p:txBody>
          <a:bodyPr wrap="square" lIns="45720" rIns="45720" anchor="t">
            <a:spAutoFit/>
          </a:bodyPr>
          <a:lstStyle/>
          <a:p>
            <a:pPr algn="ctr">
              <a:defRPr sz="1000" b="1">
                <a:solidFill>
                  <a:srgbClr val="FFFFFF"/>
                </a:solidFill>
                <a:latin typeface="Aptos"/>
              </a:defRPr>
            </a:pPr>
            <a:r>
              <a:t>KERN 1–3</a:t>
            </a:r>
          </a:p>
        </p:txBody>
      </p:sp>
      <p:sp>
        <p:nvSpPr>
          <p:cNvPr id="10" name="TextBox 9"/>
          <p:cNvSpPr txBox="1"/>
          <p:nvPr/>
        </p:nvSpPr>
        <p:spPr>
          <a:xfrm>
            <a:off x="2331720" y="1380744"/>
            <a:ext cx="2606040" cy="347472"/>
          </a:xfrm>
          <a:prstGeom prst="rect">
            <a:avLst/>
          </a:prstGeom>
          <a:noFill/>
        </p:spPr>
        <p:txBody>
          <a:bodyPr wrap="square" lIns="45720" rIns="45720" anchor="t">
            <a:spAutoFit/>
          </a:bodyPr>
          <a:lstStyle/>
          <a:p>
            <a:pPr algn="l">
              <a:defRPr sz="1600" b="1">
                <a:solidFill>
                  <a:srgbClr val="182230"/>
                </a:solidFill>
                <a:latin typeface="Aptos"/>
              </a:defRPr>
            </a:pPr>
            <a:r>
              <a:t>Abgeschlossen</a:t>
            </a:r>
          </a:p>
        </p:txBody>
      </p:sp>
      <p:sp>
        <p:nvSpPr>
          <p:cNvPr id="11" name="TextBox 10"/>
          <p:cNvSpPr txBox="1"/>
          <p:nvPr/>
        </p:nvSpPr>
        <p:spPr>
          <a:xfrm>
            <a:off x="4956048" y="1353312"/>
            <a:ext cx="4617720" cy="502920"/>
          </a:xfrm>
          <a:prstGeom prst="rect">
            <a:avLst/>
          </a:prstGeom>
          <a:noFill/>
        </p:spPr>
        <p:txBody>
          <a:bodyPr wrap="square" lIns="45720" rIns="45720" anchor="t">
            <a:spAutoFit/>
          </a:bodyPr>
          <a:lstStyle/>
          <a:p>
            <a:pPr algn="l">
              <a:defRPr sz="1250" b="0">
                <a:solidFill>
                  <a:srgbClr val="5D6B7A"/>
                </a:solidFill>
                <a:latin typeface="Aptos"/>
              </a:defRPr>
            </a:pPr>
            <a:r>
              <a:t>Claims/Zitate, Bibliografie und RAG-Verifikation; verpflichtend und evaluiert.</a:t>
            </a:r>
          </a:p>
        </p:txBody>
      </p:sp>
      <p:sp>
        <p:nvSpPr>
          <p:cNvPr id="12" name="Rounded Rectangle 11"/>
          <p:cNvSpPr/>
          <p:nvPr/>
        </p:nvSpPr>
        <p:spPr>
          <a:xfrm>
            <a:off x="9857232" y="1517904"/>
            <a:ext cx="1353312"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57232" y="1527048"/>
            <a:ext cx="1353312" cy="274320"/>
          </a:xfrm>
          <a:prstGeom prst="rect">
            <a:avLst/>
          </a:prstGeom>
          <a:noFill/>
        </p:spPr>
        <p:txBody>
          <a:bodyPr wrap="square" lIns="45720" rIns="45720" anchor="t">
            <a:spAutoFit/>
          </a:bodyPr>
          <a:lstStyle/>
          <a:p>
            <a:pPr algn="ctr">
              <a:defRPr sz="1000" b="1">
                <a:solidFill>
                  <a:srgbClr val="FFFFFF"/>
                </a:solidFill>
                <a:latin typeface="Aptos"/>
              </a:defRPr>
            </a:pPr>
            <a:r>
              <a:t>ERFÜLLT</a:t>
            </a:r>
          </a:p>
        </p:txBody>
      </p:sp>
      <p:sp>
        <p:nvSpPr>
          <p:cNvPr id="14" name="Rounded Rectangle 13"/>
          <p:cNvSpPr/>
          <p:nvPr/>
        </p:nvSpPr>
        <p:spPr>
          <a:xfrm>
            <a:off x="640080" y="2258568"/>
            <a:ext cx="10881360" cy="896112"/>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 y="2441448"/>
            <a:ext cx="129844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450591"/>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 5</a:t>
            </a:r>
          </a:p>
        </p:txBody>
      </p:sp>
      <p:sp>
        <p:nvSpPr>
          <p:cNvPr id="17" name="TextBox 16"/>
          <p:cNvSpPr txBox="1"/>
          <p:nvPr/>
        </p:nvSpPr>
        <p:spPr>
          <a:xfrm>
            <a:off x="2331720" y="2414015"/>
            <a:ext cx="2606040" cy="347472"/>
          </a:xfrm>
          <a:prstGeom prst="rect">
            <a:avLst/>
          </a:prstGeom>
          <a:noFill/>
        </p:spPr>
        <p:txBody>
          <a:bodyPr wrap="square" lIns="45720" rIns="45720" anchor="t">
            <a:spAutoFit/>
          </a:bodyPr>
          <a:lstStyle/>
          <a:p>
            <a:pPr algn="l">
              <a:defRPr sz="1600" b="1">
                <a:solidFill>
                  <a:srgbClr val="182230"/>
                </a:solidFill>
                <a:latin typeface="Aptos"/>
              </a:defRPr>
            </a:pPr>
            <a:r>
              <a:t>LoRA abgeschlossen</a:t>
            </a:r>
          </a:p>
        </p:txBody>
      </p:sp>
      <p:sp>
        <p:nvSpPr>
          <p:cNvPr id="18" name="TextBox 17"/>
          <p:cNvSpPr txBox="1"/>
          <p:nvPr/>
        </p:nvSpPr>
        <p:spPr>
          <a:xfrm>
            <a:off x="4956048" y="2386584"/>
            <a:ext cx="4617720" cy="502920"/>
          </a:xfrm>
          <a:prstGeom prst="rect">
            <a:avLst/>
          </a:prstGeom>
          <a:noFill/>
        </p:spPr>
        <p:txBody>
          <a:bodyPr wrap="square" lIns="45720" rIns="45720" anchor="t">
            <a:spAutoFit/>
          </a:bodyPr>
          <a:lstStyle/>
          <a:p>
            <a:pPr algn="l">
              <a:defRPr sz="1250" b="0">
                <a:solidFill>
                  <a:srgbClr val="5D6B7A"/>
                </a:solidFill>
                <a:latin typeface="Aptos"/>
              </a:defRPr>
            </a:pPr>
            <a:r>
              <a:t>SciFact-Adapter trainiert, gespeichert und labelgleich sowie im Transfer verglichen.</a:t>
            </a:r>
          </a:p>
        </p:txBody>
      </p:sp>
      <p:sp>
        <p:nvSpPr>
          <p:cNvPr id="19" name="Rounded Rectangle 18"/>
          <p:cNvSpPr/>
          <p:nvPr/>
        </p:nvSpPr>
        <p:spPr>
          <a:xfrm>
            <a:off x="9857232" y="2551175"/>
            <a:ext cx="1353312"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57232" y="2560319"/>
            <a:ext cx="1353312" cy="274320"/>
          </a:xfrm>
          <a:prstGeom prst="rect">
            <a:avLst/>
          </a:prstGeom>
          <a:noFill/>
        </p:spPr>
        <p:txBody>
          <a:bodyPr wrap="square" lIns="45720" rIns="45720" anchor="t">
            <a:spAutoFit/>
          </a:bodyPr>
          <a:lstStyle/>
          <a:p>
            <a:pPr algn="ctr">
              <a:defRPr sz="1000" b="1">
                <a:solidFill>
                  <a:srgbClr val="FFFFFF"/>
                </a:solidFill>
                <a:latin typeface="Aptos"/>
              </a:defRPr>
            </a:pPr>
            <a:r>
              <a:t>ERFÜLLT</a:t>
            </a:r>
          </a:p>
        </p:txBody>
      </p:sp>
      <p:sp>
        <p:nvSpPr>
          <p:cNvPr id="21" name="Rounded Rectangle 20"/>
          <p:cNvSpPr/>
          <p:nvPr/>
        </p:nvSpPr>
        <p:spPr>
          <a:xfrm>
            <a:off x="640080" y="3291839"/>
            <a:ext cx="10881360" cy="896112"/>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2960" y="3474720"/>
            <a:ext cx="1298448"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483863"/>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 4</a:t>
            </a:r>
          </a:p>
        </p:txBody>
      </p:sp>
      <p:sp>
        <p:nvSpPr>
          <p:cNvPr id="24" name="TextBox 23"/>
          <p:cNvSpPr txBox="1"/>
          <p:nvPr/>
        </p:nvSpPr>
        <p:spPr>
          <a:xfrm>
            <a:off x="2331720" y="3447287"/>
            <a:ext cx="2606040" cy="347472"/>
          </a:xfrm>
          <a:prstGeom prst="rect">
            <a:avLst/>
          </a:prstGeom>
          <a:noFill/>
        </p:spPr>
        <p:txBody>
          <a:bodyPr wrap="square" lIns="45720" rIns="45720" anchor="t">
            <a:spAutoFit/>
          </a:bodyPr>
          <a:lstStyle/>
          <a:p>
            <a:pPr algn="l">
              <a:defRPr sz="1600" b="1">
                <a:solidFill>
                  <a:srgbClr val="182230"/>
                </a:solidFill>
                <a:latin typeface="Aptos"/>
              </a:defRPr>
            </a:pPr>
            <a:r>
              <a:t>Über Fast-DetectGPT erfüllt</a:t>
            </a:r>
          </a:p>
        </p:txBody>
      </p:sp>
      <p:sp>
        <p:nvSpPr>
          <p:cNvPr id="25" name="TextBox 24"/>
          <p:cNvSpPr txBox="1"/>
          <p:nvPr/>
        </p:nvSpPr>
        <p:spPr>
          <a:xfrm>
            <a:off x="4956048" y="3419856"/>
            <a:ext cx="4617720" cy="502920"/>
          </a:xfrm>
          <a:prstGeom prst="rect">
            <a:avLst/>
          </a:prstGeom>
          <a:noFill/>
        </p:spPr>
        <p:txBody>
          <a:bodyPr wrap="square" lIns="45720" rIns="45720" anchor="t">
            <a:spAutoFit/>
          </a:bodyPr>
          <a:lstStyle/>
          <a:p>
            <a:pPr algn="l">
              <a:defRPr sz="1250" b="0">
                <a:solidFill>
                  <a:srgbClr val="5D6B7A"/>
                </a:solidFill>
                <a:latin typeface="Aptos"/>
              </a:defRPr>
            </a:pPr>
            <a:r>
              <a:t>Offizielle API auf N=30 evaluiert; Binoculars' kalibriertes 14B-Paar übersteigt 8 GB VRAM.</a:t>
            </a:r>
          </a:p>
        </p:txBody>
      </p:sp>
      <p:sp>
        <p:nvSpPr>
          <p:cNvPr id="26" name="Rounded Rectangle 25"/>
          <p:cNvSpPr/>
          <p:nvPr/>
        </p:nvSpPr>
        <p:spPr>
          <a:xfrm>
            <a:off x="9857232" y="3584447"/>
            <a:ext cx="1353312"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57232" y="3593591"/>
            <a:ext cx="1353312" cy="274320"/>
          </a:xfrm>
          <a:prstGeom prst="rect">
            <a:avLst/>
          </a:prstGeom>
          <a:noFill/>
        </p:spPr>
        <p:txBody>
          <a:bodyPr wrap="square" lIns="45720" rIns="45720" anchor="t">
            <a:spAutoFit/>
          </a:bodyPr>
          <a:lstStyle/>
          <a:p>
            <a:pPr algn="ctr">
              <a:defRPr sz="1000" b="1">
                <a:solidFill>
                  <a:srgbClr val="FFFFFF"/>
                </a:solidFill>
                <a:latin typeface="Aptos"/>
              </a:defRPr>
            </a:pPr>
            <a:r>
              <a:t>ERFÜLLT</a:t>
            </a:r>
          </a:p>
        </p:txBody>
      </p:sp>
      <p:sp>
        <p:nvSpPr>
          <p:cNvPr id="28" name="Rounded Rectangle 27"/>
          <p:cNvSpPr/>
          <p:nvPr/>
        </p:nvSpPr>
        <p:spPr>
          <a:xfrm>
            <a:off x="640080" y="4325112"/>
            <a:ext cx="10881360" cy="896112"/>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2960" y="4507992"/>
            <a:ext cx="1298448"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17136"/>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 6</a:t>
            </a:r>
          </a:p>
        </p:txBody>
      </p:sp>
      <p:sp>
        <p:nvSpPr>
          <p:cNvPr id="31" name="TextBox 30"/>
          <p:cNvSpPr txBox="1"/>
          <p:nvPr/>
        </p:nvSpPr>
        <p:spPr>
          <a:xfrm>
            <a:off x="2331720" y="4480559"/>
            <a:ext cx="2606040" cy="347472"/>
          </a:xfrm>
          <a:prstGeom prst="rect">
            <a:avLst/>
          </a:prstGeom>
          <a:noFill/>
        </p:spPr>
        <p:txBody>
          <a:bodyPr wrap="square" lIns="45720" rIns="45720" anchor="t">
            <a:spAutoFit/>
          </a:bodyPr>
          <a:lstStyle/>
          <a:p>
            <a:pPr algn="l">
              <a:defRPr sz="1600" b="1">
                <a:solidFill>
                  <a:srgbClr val="182230"/>
                </a:solidFill>
                <a:latin typeface="Aptos"/>
              </a:defRPr>
            </a:pPr>
            <a:r>
              <a:t>Nur Vergleichsgerüst</a:t>
            </a:r>
          </a:p>
        </p:txBody>
      </p:sp>
      <p:sp>
        <p:nvSpPr>
          <p:cNvPr id="32" name="TextBox 31"/>
          <p:cNvSpPr txBox="1"/>
          <p:nvPr/>
        </p:nvSpPr>
        <p:spPr>
          <a:xfrm>
            <a:off x="4956048" y="4453127"/>
            <a:ext cx="4617720" cy="502920"/>
          </a:xfrm>
          <a:prstGeom prst="rect">
            <a:avLst/>
          </a:prstGeom>
          <a:noFill/>
        </p:spPr>
        <p:txBody>
          <a:bodyPr wrap="square" lIns="45720" rIns="45720" anchor="t">
            <a:spAutoFit/>
          </a:bodyPr>
          <a:lstStyle/>
          <a:p>
            <a:pPr algn="l">
              <a:defRPr sz="1250" b="0">
                <a:solidFill>
                  <a:srgbClr val="5D6B7A"/>
                </a:solidFill>
                <a:latin typeface="Aptos"/>
              </a:defRPr>
            </a:pPr>
            <a:r>
              <a:t>Import- und Evaluationscode existiert, aber keine scite-/SemanticCite-Vorhersagen lagen vor.</a:t>
            </a:r>
          </a:p>
        </p:txBody>
      </p:sp>
      <p:sp>
        <p:nvSpPr>
          <p:cNvPr id="33" name="Rounded Rectangle 32"/>
          <p:cNvSpPr/>
          <p:nvPr/>
        </p:nvSpPr>
        <p:spPr>
          <a:xfrm>
            <a:off x="9857232" y="4617720"/>
            <a:ext cx="1353312"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57232" y="4626864"/>
            <a:ext cx="1353312" cy="274320"/>
          </a:xfrm>
          <a:prstGeom prst="rect">
            <a:avLst/>
          </a:prstGeom>
          <a:noFill/>
        </p:spPr>
        <p:txBody>
          <a:bodyPr wrap="square" lIns="45720" rIns="45720" anchor="t">
            <a:spAutoFit/>
          </a:bodyPr>
          <a:lstStyle/>
          <a:p>
            <a:pPr algn="ctr">
              <a:defRPr sz="1000" b="1">
                <a:solidFill>
                  <a:srgbClr val="FFFFFF"/>
                </a:solidFill>
                <a:latin typeface="Aptos"/>
              </a:defRPr>
            </a:pPr>
            <a:r>
              <a:t>OFFEN</a:t>
            </a:r>
          </a:p>
        </p:txBody>
      </p:sp>
      <p:sp>
        <p:nvSpPr>
          <p:cNvPr id="35" name="TextBox 34"/>
          <p:cNvSpPr txBox="1"/>
          <p:nvPr/>
        </p:nvSpPr>
        <p:spPr>
          <a:xfrm>
            <a:off x="841248" y="5513832"/>
            <a:ext cx="10515600" cy="365760"/>
          </a:xfrm>
          <a:prstGeom prst="rect">
            <a:avLst/>
          </a:prstGeom>
          <a:noFill/>
        </p:spPr>
        <p:txBody>
          <a:bodyPr wrap="square" lIns="45720" rIns="45720" anchor="t">
            <a:spAutoFit/>
          </a:bodyPr>
          <a:lstStyle/>
          <a:p>
            <a:pPr algn="ctr">
              <a:defRPr sz="1400" b="1">
                <a:solidFill>
                  <a:srgbClr val="0B132B"/>
                </a:solidFill>
                <a:latin typeface="Aptos"/>
              </a:defRPr>
            </a:pPr>
            <a:r>
              <a:t>Als erfüllt ausgewiesen: Kernmodule 1–3 + optionale Module 4 und 5 • Modul 6 bleibt Future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TECHNISCHE TIEFE</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Technische Entscheidungen und Zielkonflikte</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1:00</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06</a:t>
            </a:r>
          </a:p>
        </p:txBody>
      </p:sp>
      <p:sp>
        <p:nvSpPr>
          <p:cNvPr id="7" name="Rounded Rectangle 6"/>
          <p:cNvSpPr/>
          <p:nvPr/>
        </p:nvSpPr>
        <p:spPr>
          <a:xfrm>
            <a:off x="640080" y="1298448"/>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481328"/>
            <a:ext cx="111556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490472"/>
            <a:ext cx="1115568" cy="274320"/>
          </a:xfrm>
          <a:prstGeom prst="rect">
            <a:avLst/>
          </a:prstGeom>
          <a:noFill/>
        </p:spPr>
        <p:txBody>
          <a:bodyPr wrap="square" lIns="45720" rIns="45720" anchor="t">
            <a:spAutoFit/>
          </a:bodyPr>
          <a:lstStyle/>
          <a:p>
            <a:pPr algn="ctr">
              <a:defRPr sz="1000" b="1">
                <a:solidFill>
                  <a:srgbClr val="FFFFFF"/>
                </a:solidFill>
                <a:latin typeface="Aptos"/>
              </a:defRPr>
            </a:pPr>
            <a:r>
              <a:t>EVIDENZSUCHE</a:t>
            </a:r>
          </a:p>
        </p:txBody>
      </p:sp>
      <p:sp>
        <p:nvSpPr>
          <p:cNvPr id="10" name="TextBox 9"/>
          <p:cNvSpPr txBox="1"/>
          <p:nvPr/>
        </p:nvSpPr>
        <p:spPr>
          <a:xfrm>
            <a:off x="2176272" y="1444751"/>
            <a:ext cx="3017520" cy="365760"/>
          </a:xfrm>
          <a:prstGeom prst="rect">
            <a:avLst/>
          </a:prstGeom>
          <a:noFill/>
        </p:spPr>
        <p:txBody>
          <a:bodyPr wrap="square" lIns="45720" rIns="45720" anchor="t">
            <a:spAutoFit/>
          </a:bodyPr>
          <a:lstStyle/>
          <a:p>
            <a:pPr algn="l">
              <a:defRPr sz="1600" b="1">
                <a:solidFill>
                  <a:srgbClr val="182230"/>
                </a:solidFill>
                <a:latin typeface="Aptos"/>
              </a:defRPr>
            </a:pPr>
            <a:r>
              <a:t>all-MiniLM-L6-v2</a:t>
            </a:r>
          </a:p>
        </p:txBody>
      </p:sp>
      <p:sp>
        <p:nvSpPr>
          <p:cNvPr id="11" name="TextBox 10"/>
          <p:cNvSpPr txBox="1"/>
          <p:nvPr/>
        </p:nvSpPr>
        <p:spPr>
          <a:xfrm>
            <a:off x="5321808" y="1444751"/>
            <a:ext cx="5806440" cy="384048"/>
          </a:xfrm>
          <a:prstGeom prst="rect">
            <a:avLst/>
          </a:prstGeom>
          <a:noFill/>
        </p:spPr>
        <p:txBody>
          <a:bodyPr wrap="square" lIns="45720" rIns="45720" anchor="t">
            <a:spAutoFit/>
          </a:bodyPr>
          <a:lstStyle/>
          <a:p>
            <a:pPr algn="l">
              <a:defRPr sz="1400" b="0">
                <a:solidFill>
                  <a:srgbClr val="5D6B7A"/>
                </a:solidFill>
                <a:latin typeface="Aptos"/>
              </a:defRPr>
            </a:pPr>
            <a:r>
              <a:t>Semantischer Abgleich; Kosinus-Fallback unter Windows</a:t>
            </a:r>
          </a:p>
        </p:txBody>
      </p:sp>
      <p:sp>
        <p:nvSpPr>
          <p:cNvPr id="12" name="Rounded Rectangle 11"/>
          <p:cNvSpPr/>
          <p:nvPr/>
        </p:nvSpPr>
        <p:spPr>
          <a:xfrm>
            <a:off x="640080" y="2194560"/>
            <a:ext cx="10881360" cy="694944"/>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 y="2377440"/>
            <a:ext cx="1115568" cy="310896"/>
          </a:xfrm>
          <a:prstGeom prst="roundRect">
            <a:avLst>
              <a:gd name="adj" fmla="val 12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386584"/>
            <a:ext cx="1115568" cy="274320"/>
          </a:xfrm>
          <a:prstGeom prst="rect">
            <a:avLst/>
          </a:prstGeom>
          <a:noFill/>
        </p:spPr>
        <p:txBody>
          <a:bodyPr wrap="square" lIns="45720" rIns="45720" anchor="t">
            <a:spAutoFit/>
          </a:bodyPr>
          <a:lstStyle/>
          <a:p>
            <a:pPr algn="ctr">
              <a:defRPr sz="1000" b="1">
                <a:solidFill>
                  <a:srgbClr val="FFFFFF"/>
                </a:solidFill>
                <a:latin typeface="Aptos"/>
              </a:defRPr>
            </a:pPr>
            <a:r>
              <a:t>METADATEN</a:t>
            </a:r>
          </a:p>
        </p:txBody>
      </p:sp>
      <p:sp>
        <p:nvSpPr>
          <p:cNvPr id="15" name="TextBox 14"/>
          <p:cNvSpPr txBox="1"/>
          <p:nvPr/>
        </p:nvSpPr>
        <p:spPr>
          <a:xfrm>
            <a:off x="2176272" y="2340864"/>
            <a:ext cx="3017520" cy="365760"/>
          </a:xfrm>
          <a:prstGeom prst="rect">
            <a:avLst/>
          </a:prstGeom>
          <a:noFill/>
        </p:spPr>
        <p:txBody>
          <a:bodyPr wrap="square" lIns="45720" rIns="45720" anchor="t">
            <a:spAutoFit/>
          </a:bodyPr>
          <a:lstStyle/>
          <a:p>
            <a:pPr algn="l">
              <a:defRPr sz="1600" b="1">
                <a:solidFill>
                  <a:srgbClr val="182230"/>
                </a:solidFill>
                <a:latin typeface="Aptos"/>
              </a:defRPr>
            </a:pPr>
            <a:r>
              <a:t>CrossRef • OpenAlex • S2</a:t>
            </a:r>
          </a:p>
        </p:txBody>
      </p:sp>
      <p:sp>
        <p:nvSpPr>
          <p:cNvPr id="16" name="TextBox 15"/>
          <p:cNvSpPr txBox="1"/>
          <p:nvPr/>
        </p:nvSpPr>
        <p:spPr>
          <a:xfrm>
            <a:off x="5321808" y="2340864"/>
            <a:ext cx="5806440" cy="384048"/>
          </a:xfrm>
          <a:prstGeom prst="rect">
            <a:avLst/>
          </a:prstGeom>
          <a:noFill/>
        </p:spPr>
        <p:txBody>
          <a:bodyPr wrap="square" lIns="45720" rIns="45720" anchor="t">
            <a:spAutoFit/>
          </a:bodyPr>
          <a:lstStyle/>
          <a:p>
            <a:pPr algn="l">
              <a:defRPr sz="1400" b="0">
                <a:solidFill>
                  <a:srgbClr val="5D6B7A"/>
                </a:solidFill>
                <a:latin typeface="Aptos"/>
              </a:defRPr>
            </a:pPr>
            <a:r>
              <a:t>Abdeckung von DOI, Titel, Autoren und Open-Access-Status</a:t>
            </a:r>
          </a:p>
        </p:txBody>
      </p:sp>
      <p:sp>
        <p:nvSpPr>
          <p:cNvPr id="17" name="Rounded Rectangle 16"/>
          <p:cNvSpPr/>
          <p:nvPr/>
        </p:nvSpPr>
        <p:spPr>
          <a:xfrm>
            <a:off x="640080" y="3090672"/>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 y="3273552"/>
            <a:ext cx="111556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282696"/>
            <a:ext cx="1115568" cy="274320"/>
          </a:xfrm>
          <a:prstGeom prst="rect">
            <a:avLst/>
          </a:prstGeom>
          <a:noFill/>
        </p:spPr>
        <p:txBody>
          <a:bodyPr wrap="square" lIns="45720" rIns="45720" anchor="t">
            <a:spAutoFit/>
          </a:bodyPr>
          <a:lstStyle/>
          <a:p>
            <a:pPr algn="ctr">
              <a:defRPr sz="1000" b="1">
                <a:solidFill>
                  <a:srgbClr val="FFFFFF"/>
                </a:solidFill>
                <a:latin typeface="Aptos"/>
              </a:defRPr>
            </a:pPr>
            <a:r>
              <a:t>LOKAL</a:t>
            </a:r>
          </a:p>
        </p:txBody>
      </p:sp>
      <p:sp>
        <p:nvSpPr>
          <p:cNvPr id="20" name="TextBox 19"/>
          <p:cNvSpPr txBox="1"/>
          <p:nvPr/>
        </p:nvSpPr>
        <p:spPr>
          <a:xfrm>
            <a:off x="2176272" y="3236976"/>
            <a:ext cx="3017520" cy="365760"/>
          </a:xfrm>
          <a:prstGeom prst="rect">
            <a:avLst/>
          </a:prstGeom>
          <a:noFill/>
        </p:spPr>
        <p:txBody>
          <a:bodyPr wrap="square" lIns="45720" rIns="45720" anchor="t">
            <a:spAutoFit/>
          </a:bodyPr>
          <a:lstStyle/>
          <a:p>
            <a:pPr algn="l">
              <a:defRPr sz="1600" b="1">
                <a:solidFill>
                  <a:srgbClr val="182230"/>
                </a:solidFill>
                <a:latin typeface="Aptos"/>
              </a:defRPr>
            </a:pPr>
            <a:r>
              <a:t>Ollama / qwen3:1.7b</a:t>
            </a:r>
          </a:p>
        </p:txBody>
      </p:sp>
      <p:sp>
        <p:nvSpPr>
          <p:cNvPr id="21" name="TextBox 20"/>
          <p:cNvSpPr txBox="1"/>
          <p:nvPr/>
        </p:nvSpPr>
        <p:spPr>
          <a:xfrm>
            <a:off x="5321808" y="3236976"/>
            <a:ext cx="5806440" cy="384048"/>
          </a:xfrm>
          <a:prstGeom prst="rect">
            <a:avLst/>
          </a:prstGeom>
          <a:noFill/>
        </p:spPr>
        <p:txBody>
          <a:bodyPr wrap="square" lIns="45720" rIns="45720" anchor="t">
            <a:spAutoFit/>
          </a:bodyPr>
          <a:lstStyle/>
          <a:p>
            <a:pPr algn="l">
              <a:defRPr sz="1400" b="0">
                <a:solidFill>
                  <a:srgbClr val="5D6B7A"/>
                </a:solidFill>
                <a:latin typeface="Aptos"/>
              </a:defRPr>
            </a:pPr>
            <a:r>
              <a:t>Privat und offline; auf diesem Rechner langsamer</a:t>
            </a:r>
          </a:p>
        </p:txBody>
      </p:sp>
      <p:sp>
        <p:nvSpPr>
          <p:cNvPr id="22" name="Rounded Rectangle 21"/>
          <p:cNvSpPr/>
          <p:nvPr/>
        </p:nvSpPr>
        <p:spPr>
          <a:xfrm>
            <a:off x="640080" y="3986783"/>
            <a:ext cx="10881360" cy="694944"/>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169663"/>
            <a:ext cx="1115568" cy="310896"/>
          </a:xfrm>
          <a:prstGeom prst="roundRect">
            <a:avLst>
              <a:gd name="adj" fmla="val 12000"/>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178807"/>
            <a:ext cx="1115568" cy="274320"/>
          </a:xfrm>
          <a:prstGeom prst="rect">
            <a:avLst/>
          </a:prstGeom>
          <a:noFill/>
        </p:spPr>
        <p:txBody>
          <a:bodyPr wrap="square" lIns="45720" rIns="45720" anchor="t">
            <a:spAutoFit/>
          </a:bodyPr>
          <a:lstStyle/>
          <a:p>
            <a:pPr algn="ctr">
              <a:defRPr sz="1000" b="1">
                <a:solidFill>
                  <a:srgbClr val="FFFFFF"/>
                </a:solidFill>
                <a:latin typeface="Aptos"/>
              </a:defRPr>
            </a:pPr>
            <a:r>
              <a:t>FRONTIER</a:t>
            </a:r>
          </a:p>
        </p:txBody>
      </p:sp>
      <p:sp>
        <p:nvSpPr>
          <p:cNvPr id="25" name="TextBox 24"/>
          <p:cNvSpPr txBox="1"/>
          <p:nvPr/>
        </p:nvSpPr>
        <p:spPr>
          <a:xfrm>
            <a:off x="2176272" y="4133087"/>
            <a:ext cx="3017520" cy="365760"/>
          </a:xfrm>
          <a:prstGeom prst="rect">
            <a:avLst/>
          </a:prstGeom>
          <a:noFill/>
        </p:spPr>
        <p:txBody>
          <a:bodyPr wrap="square" lIns="45720" rIns="45720" anchor="t">
            <a:spAutoFit/>
          </a:bodyPr>
          <a:lstStyle/>
          <a:p>
            <a:pPr algn="l">
              <a:defRPr sz="1600" b="1">
                <a:solidFill>
                  <a:srgbClr val="182230"/>
                </a:solidFill>
                <a:latin typeface="Aptos"/>
              </a:defRPr>
            </a:pPr>
            <a:r>
              <a:t>OpenAI gpt-5.4-mini</a:t>
            </a:r>
          </a:p>
        </p:txBody>
      </p:sp>
      <p:sp>
        <p:nvSpPr>
          <p:cNvPr id="26" name="TextBox 25"/>
          <p:cNvSpPr txBox="1"/>
          <p:nvPr/>
        </p:nvSpPr>
        <p:spPr>
          <a:xfrm>
            <a:off x="5321808" y="4133087"/>
            <a:ext cx="5806440" cy="384048"/>
          </a:xfrm>
          <a:prstGeom prst="rect">
            <a:avLst/>
          </a:prstGeom>
          <a:noFill/>
        </p:spPr>
        <p:txBody>
          <a:bodyPr wrap="square" lIns="45720" rIns="45720" anchor="t">
            <a:spAutoFit/>
          </a:bodyPr>
          <a:lstStyle/>
          <a:p>
            <a:pPr algn="l">
              <a:defRPr sz="1400" b="0">
                <a:solidFill>
                  <a:srgbClr val="5D6B7A"/>
                </a:solidFill>
                <a:latin typeface="Aptos"/>
              </a:defRPr>
            </a:pPr>
            <a:r>
              <a:t>Schnelle strukturierte Ausgabe; kostenpflichtig und extern</a:t>
            </a:r>
          </a:p>
        </p:txBody>
      </p:sp>
      <p:sp>
        <p:nvSpPr>
          <p:cNvPr id="27" name="Rounded Rectangle 26"/>
          <p:cNvSpPr/>
          <p:nvPr/>
        </p:nvSpPr>
        <p:spPr>
          <a:xfrm>
            <a:off x="640080" y="4882896"/>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4672" y="5065776"/>
            <a:ext cx="1115568"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5074920"/>
            <a:ext cx="1115568" cy="274320"/>
          </a:xfrm>
          <a:prstGeom prst="rect">
            <a:avLst/>
          </a:prstGeom>
          <a:noFill/>
        </p:spPr>
        <p:txBody>
          <a:bodyPr wrap="square" lIns="45720" rIns="45720" anchor="t">
            <a:spAutoFit/>
          </a:bodyPr>
          <a:lstStyle/>
          <a:p>
            <a:pPr algn="ctr">
              <a:defRPr sz="1000" b="1">
                <a:solidFill>
                  <a:srgbClr val="FFFFFF"/>
                </a:solidFill>
                <a:latin typeface="Aptos"/>
              </a:defRPr>
            </a:pPr>
            <a:r>
              <a:t>FINE-TUNING</a:t>
            </a:r>
          </a:p>
        </p:txBody>
      </p:sp>
      <p:sp>
        <p:nvSpPr>
          <p:cNvPr id="30" name="TextBox 29"/>
          <p:cNvSpPr txBox="1"/>
          <p:nvPr/>
        </p:nvSpPr>
        <p:spPr>
          <a:xfrm>
            <a:off x="2176272" y="5029200"/>
            <a:ext cx="3017520" cy="365760"/>
          </a:xfrm>
          <a:prstGeom prst="rect">
            <a:avLst/>
          </a:prstGeom>
          <a:noFill/>
        </p:spPr>
        <p:txBody>
          <a:bodyPr wrap="square" lIns="45720" rIns="45720" anchor="t">
            <a:spAutoFit/>
          </a:bodyPr>
          <a:lstStyle/>
          <a:p>
            <a:pPr algn="l">
              <a:defRPr sz="1600" b="1">
                <a:solidFill>
                  <a:srgbClr val="182230"/>
                </a:solidFill>
                <a:latin typeface="Aptos"/>
              </a:defRPr>
            </a:pPr>
            <a:r>
              <a:t>SciFact LoRA</a:t>
            </a:r>
          </a:p>
        </p:txBody>
      </p:sp>
      <p:sp>
        <p:nvSpPr>
          <p:cNvPr id="31" name="TextBox 30"/>
          <p:cNvSpPr txBox="1"/>
          <p:nvPr/>
        </p:nvSpPr>
        <p:spPr>
          <a:xfrm>
            <a:off x="5321808" y="5029200"/>
            <a:ext cx="5806440" cy="384048"/>
          </a:xfrm>
          <a:prstGeom prst="rect">
            <a:avLst/>
          </a:prstGeom>
          <a:noFill/>
        </p:spPr>
        <p:txBody>
          <a:bodyPr wrap="square" lIns="45720" rIns="45720" anchor="t">
            <a:spAutoFit/>
          </a:bodyPr>
          <a:lstStyle/>
          <a:p>
            <a:pPr algn="l">
              <a:defRPr sz="1400" b="0">
                <a:solidFill>
                  <a:srgbClr val="5D6B7A"/>
                </a:solidFill>
                <a:latin typeface="Aptos"/>
              </a:defRPr>
            </a:pPr>
            <a:r>
              <a:t>Günstige lokale Inferenz; Taxonomie mit drei Labels</a:t>
            </a:r>
          </a:p>
        </p:txBody>
      </p:sp>
      <p:sp>
        <p:nvSpPr>
          <p:cNvPr id="32" name="TextBox 31"/>
          <p:cNvSpPr txBox="1"/>
          <p:nvPr/>
        </p:nvSpPr>
        <p:spPr>
          <a:xfrm>
            <a:off x="822960" y="5879592"/>
            <a:ext cx="10607040" cy="292608"/>
          </a:xfrm>
          <a:prstGeom prst="rect">
            <a:avLst/>
          </a:prstGeom>
          <a:noFill/>
        </p:spPr>
        <p:txBody>
          <a:bodyPr wrap="square" lIns="45720" rIns="45720" anchor="t">
            <a:spAutoFit/>
          </a:bodyPr>
          <a:lstStyle/>
          <a:p>
            <a:pPr algn="ctr">
              <a:defRPr sz="1400" b="1">
                <a:solidFill>
                  <a:srgbClr val="0B132B"/>
                </a:solidFill>
                <a:latin typeface="Aptos"/>
              </a:defRPr>
            </a:pPr>
            <a:r>
              <a:t>Designprinzip: kontrollierte Degradation — API- oder Embedding-Fehler stoppen den Bericht nicht.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DEMO</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Demo mit unserem echten RQ5-Bericht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07</a:t>
            </a:r>
          </a:p>
        </p:txBody>
      </p:sp>
      <p:sp>
        <p:nvSpPr>
          <p:cNvPr id="7" name="Rounded Rectangle 6"/>
          <p:cNvSpPr/>
          <p:nvPr/>
        </p:nvSpPr>
        <p:spPr>
          <a:xfrm>
            <a:off x="566928" y="1234440"/>
            <a:ext cx="6492240" cy="123444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89888"/>
            <a:ext cx="5989320" cy="219456"/>
          </a:xfrm>
          <a:prstGeom prst="rect">
            <a:avLst/>
          </a:prstGeom>
          <a:noFill/>
        </p:spPr>
        <p:txBody>
          <a:bodyPr wrap="square" lIns="45720" rIns="45720" anchor="t">
            <a:spAutoFit/>
          </a:bodyPr>
          <a:lstStyle/>
          <a:p>
            <a:pPr algn="l">
              <a:defRPr sz="1000" b="1">
                <a:solidFill>
                  <a:srgbClr val="38BDF8"/>
                </a:solidFill>
                <a:latin typeface="Consolas"/>
              </a:defRPr>
            </a:pPr>
            <a:r>
              <a:t>POWERSHELL</a:t>
            </a:r>
          </a:p>
        </p:txBody>
      </p:sp>
      <p:sp>
        <p:nvSpPr>
          <p:cNvPr id="9" name="TextBox 8"/>
          <p:cNvSpPr txBox="1"/>
          <p:nvPr/>
        </p:nvSpPr>
        <p:spPr>
          <a:xfrm>
            <a:off x="822960" y="1664208"/>
            <a:ext cx="5989320" cy="621792"/>
          </a:xfrm>
          <a:prstGeom prst="rect">
            <a:avLst/>
          </a:prstGeom>
          <a:noFill/>
        </p:spPr>
        <p:txBody>
          <a:bodyPr wrap="square" lIns="45720" rIns="45720" anchor="t">
            <a:spAutoFit/>
          </a:bodyPr>
          <a:lstStyle/>
          <a:p>
            <a:pPr algn="l">
              <a:defRPr sz="1150" b="0">
                <a:solidFill>
                  <a:srgbClr val="FFFFFF"/>
                </a:solidFill>
                <a:latin typeface="Consolas"/>
              </a:defRPr>
            </a:pPr>
            <a:r>
              <a:t>python -m scripts.run_claimguard `</a:t>
            </a:r>
            <a:br/>
            <a:r>
              <a:t>  --input data/reports/NW2_RQ5_Report.pdf --verifier openai `</a:t>
            </a:r>
            <a:br/>
            <a:r>
              <a:t>  --output outputs/examples/rq5_openai.json --markdown-output outputs/examples/rq5_openai.md</a:t>
            </a:r>
          </a:p>
        </p:txBody>
      </p:sp>
      <p:sp>
        <p:nvSpPr>
          <p:cNvPr id="10" name="Rounded Rectangle 9"/>
          <p:cNvSpPr/>
          <p:nvPr/>
        </p:nvSpPr>
        <p:spPr>
          <a:xfrm>
            <a:off x="7360920"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25512" y="1371600"/>
            <a:ext cx="905256" cy="438912"/>
          </a:xfrm>
          <a:prstGeom prst="rect">
            <a:avLst/>
          </a:prstGeom>
          <a:noFill/>
        </p:spPr>
        <p:txBody>
          <a:bodyPr wrap="square" lIns="45720" rIns="45720" anchor="t">
            <a:spAutoFit/>
          </a:bodyPr>
          <a:lstStyle/>
          <a:p>
            <a:pPr algn="l">
              <a:defRPr sz="2700" b="1">
                <a:solidFill>
                  <a:srgbClr val="2563EB"/>
                </a:solidFill>
                <a:latin typeface="Aptos"/>
              </a:defRPr>
            </a:pPr>
            <a:r>
              <a:t>137</a:t>
            </a:r>
          </a:p>
        </p:txBody>
      </p:sp>
      <p:sp>
        <p:nvSpPr>
          <p:cNvPr id="12" name="TextBox 11"/>
          <p:cNvSpPr txBox="1"/>
          <p:nvPr/>
        </p:nvSpPr>
        <p:spPr>
          <a:xfrm>
            <a:off x="7525512"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Sätze</a:t>
            </a:r>
          </a:p>
        </p:txBody>
      </p:sp>
      <p:sp>
        <p:nvSpPr>
          <p:cNvPr id="13" name="Rounded Rectangle 12"/>
          <p:cNvSpPr/>
          <p:nvPr/>
        </p:nvSpPr>
        <p:spPr>
          <a:xfrm>
            <a:off x="8750808"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371600"/>
            <a:ext cx="905256" cy="438912"/>
          </a:xfrm>
          <a:prstGeom prst="rect">
            <a:avLst/>
          </a:prstGeom>
          <a:noFill/>
        </p:spPr>
        <p:txBody>
          <a:bodyPr wrap="square" lIns="45720" rIns="45720" anchor="t">
            <a:spAutoFit/>
          </a:bodyPr>
          <a:lstStyle/>
          <a:p>
            <a:pPr algn="l">
              <a:defRPr sz="2700" b="1">
                <a:solidFill>
                  <a:srgbClr val="8B5CF6"/>
                </a:solidFill>
                <a:latin typeface="Aptos"/>
              </a:defRPr>
            </a:pPr>
            <a:r>
              <a:t>65</a:t>
            </a:r>
          </a:p>
        </p:txBody>
      </p:sp>
      <p:sp>
        <p:nvSpPr>
          <p:cNvPr id="15" name="TextBox 14"/>
          <p:cNvSpPr txBox="1"/>
          <p:nvPr/>
        </p:nvSpPr>
        <p:spPr>
          <a:xfrm>
            <a:off x="8915400"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faktische Aussagen</a:t>
            </a:r>
          </a:p>
        </p:txBody>
      </p:sp>
      <p:sp>
        <p:nvSpPr>
          <p:cNvPr id="16" name="Rounded Rectangle 15"/>
          <p:cNvSpPr/>
          <p:nvPr/>
        </p:nvSpPr>
        <p:spPr>
          <a:xfrm>
            <a:off x="10140696"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05288" y="1371600"/>
            <a:ext cx="905256" cy="438912"/>
          </a:xfrm>
          <a:prstGeom prst="rect">
            <a:avLst/>
          </a:prstGeom>
          <a:noFill/>
        </p:spPr>
        <p:txBody>
          <a:bodyPr wrap="square" lIns="45720" rIns="45720" anchor="t">
            <a:spAutoFit/>
          </a:bodyPr>
          <a:lstStyle/>
          <a:p>
            <a:pPr algn="l">
              <a:defRPr sz="2700" b="1">
                <a:solidFill>
                  <a:srgbClr val="EF4444"/>
                </a:solidFill>
                <a:latin typeface="Aptos"/>
              </a:defRPr>
            </a:pPr>
            <a:r>
              <a:t>21</a:t>
            </a:r>
          </a:p>
        </p:txBody>
      </p:sp>
      <p:sp>
        <p:nvSpPr>
          <p:cNvPr id="18" name="TextBox 17"/>
          <p:cNvSpPr txBox="1"/>
          <p:nvPr/>
        </p:nvSpPr>
        <p:spPr>
          <a:xfrm>
            <a:off x="10305288"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Quellenhinweise</a:t>
            </a:r>
          </a:p>
        </p:txBody>
      </p:sp>
      <p:sp>
        <p:nvSpPr>
          <p:cNvPr id="19" name="TextBox 18"/>
          <p:cNvSpPr txBox="1"/>
          <p:nvPr/>
        </p:nvSpPr>
        <p:spPr>
          <a:xfrm>
            <a:off x="658368" y="2816352"/>
            <a:ext cx="4297680" cy="320040"/>
          </a:xfrm>
          <a:prstGeom prst="rect">
            <a:avLst/>
          </a:prstGeom>
          <a:noFill/>
        </p:spPr>
        <p:txBody>
          <a:bodyPr wrap="square" lIns="45720" rIns="45720" anchor="t">
            <a:spAutoFit/>
          </a:bodyPr>
          <a:lstStyle/>
          <a:p>
            <a:pPr algn="l">
              <a:defRPr sz="1200" b="1">
                <a:solidFill>
                  <a:srgbClr val="2563EB"/>
                </a:solidFill>
                <a:latin typeface="Aptos"/>
              </a:defRPr>
            </a:pPr>
            <a:r>
              <a:t>ECHTE AUSSAGE AUS SATZ 11 (ÜBERSETZT)</a:t>
            </a:r>
          </a:p>
        </p:txBody>
      </p:sp>
      <p:sp>
        <p:nvSpPr>
          <p:cNvPr id="20" name="Rounded Rectangle 19"/>
          <p:cNvSpPr/>
          <p:nvPr/>
        </p:nvSpPr>
        <p:spPr>
          <a:xfrm>
            <a:off x="594360" y="3182112"/>
            <a:ext cx="5166360" cy="224028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3456432"/>
            <a:ext cx="4617720" cy="868680"/>
          </a:xfrm>
          <a:prstGeom prst="rect">
            <a:avLst/>
          </a:prstGeom>
          <a:noFill/>
        </p:spPr>
        <p:txBody>
          <a:bodyPr wrap="square" lIns="45720" rIns="45720" anchor="t">
            <a:spAutoFit/>
          </a:bodyPr>
          <a:lstStyle/>
          <a:p>
            <a:pPr algn="l">
              <a:defRPr sz="1800" b="1">
                <a:solidFill>
                  <a:srgbClr val="182230"/>
                </a:solidFill>
                <a:latin typeface="Aptos"/>
              </a:defRPr>
            </a:pPr>
            <a:r>
              <a:t>„RAG verbindet ein Sprachmodell mit externem Wissen, ohne Modellgewichte zu verändern.“</a:t>
            </a:r>
          </a:p>
        </p:txBody>
      </p:sp>
      <p:sp>
        <p:nvSpPr>
          <p:cNvPr id="22" name="TextBox 21"/>
          <p:cNvSpPr txBox="1"/>
          <p:nvPr/>
        </p:nvSpPr>
        <p:spPr>
          <a:xfrm>
            <a:off x="841248" y="4645152"/>
            <a:ext cx="4572000" cy="384048"/>
          </a:xfrm>
          <a:prstGeom prst="rect">
            <a:avLst/>
          </a:prstGeom>
          <a:noFill/>
        </p:spPr>
        <p:txBody>
          <a:bodyPr wrap="square" lIns="45720" rIns="45720" anchor="t">
            <a:spAutoFit/>
          </a:bodyPr>
          <a:lstStyle/>
          <a:p>
            <a:pPr algn="l">
              <a:defRPr sz="1200" b="0">
                <a:solidFill>
                  <a:srgbClr val="5D6B7A"/>
                </a:solidFill>
                <a:latin typeface="Aptos"/>
              </a:defRPr>
            </a:pPr>
            <a:r>
              <a:t>Erkannte Quellen: [1, 3]  •  Beste Evidenz gespeichert</a:t>
            </a:r>
          </a:p>
        </p:txBody>
      </p:sp>
      <p:sp>
        <p:nvSpPr>
          <p:cNvPr id="23" name="Rounded Rectangle 22"/>
          <p:cNvSpPr/>
          <p:nvPr/>
        </p:nvSpPr>
        <p:spPr>
          <a:xfrm>
            <a:off x="6053328" y="3182112"/>
            <a:ext cx="2487168" cy="2240280"/>
          </a:xfrm>
          <a:prstGeom prst="roundRect">
            <a:avLst>
              <a:gd name="adj" fmla="val 12000"/>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72784" y="3401568"/>
            <a:ext cx="93268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72784" y="3410712"/>
            <a:ext cx="932688" cy="274320"/>
          </a:xfrm>
          <a:prstGeom prst="rect">
            <a:avLst/>
          </a:prstGeom>
          <a:noFill/>
        </p:spPr>
        <p:txBody>
          <a:bodyPr wrap="square" lIns="45720" rIns="45720" anchor="t">
            <a:spAutoFit/>
          </a:bodyPr>
          <a:lstStyle/>
          <a:p>
            <a:pPr algn="ctr">
              <a:defRPr sz="1000" b="1">
                <a:solidFill>
                  <a:srgbClr val="FFFFFF"/>
                </a:solidFill>
                <a:latin typeface="Aptos"/>
              </a:defRPr>
            </a:pPr>
            <a:r>
              <a:t>OPENAI</a:t>
            </a:r>
          </a:p>
        </p:txBody>
      </p:sp>
      <p:sp>
        <p:nvSpPr>
          <p:cNvPr id="26" name="TextBox 25"/>
          <p:cNvSpPr txBox="1"/>
          <p:nvPr/>
        </p:nvSpPr>
        <p:spPr>
          <a:xfrm>
            <a:off x="6272784" y="3913632"/>
            <a:ext cx="2011680" cy="475488"/>
          </a:xfrm>
          <a:prstGeom prst="rect">
            <a:avLst/>
          </a:prstGeom>
          <a:noFill/>
        </p:spPr>
        <p:txBody>
          <a:bodyPr wrap="square" lIns="45720" rIns="45720" anchor="t">
            <a:spAutoFit/>
          </a:bodyPr>
          <a:lstStyle/>
          <a:p>
            <a:pPr algn="l">
              <a:defRPr sz="1800" b="1">
                <a:solidFill>
                  <a:srgbClr val="2563EB"/>
                </a:solidFill>
                <a:latin typeface="Aptos"/>
              </a:defRPr>
            </a:pPr>
            <a:r>
              <a:t>unzureichende</a:t>
            </a:r>
            <a:br/>
            <a:r>
              <a:t/>
            </a:r>
            <a:br/>
            <a:r>
              <a:t>Evidenz</a:t>
            </a:r>
          </a:p>
        </p:txBody>
      </p:sp>
      <p:sp>
        <p:nvSpPr>
          <p:cNvPr id="27" name="TextBox 26"/>
          <p:cNvSpPr txBox="1"/>
          <p:nvPr/>
        </p:nvSpPr>
        <p:spPr>
          <a:xfrm>
            <a:off x="6272784" y="4727448"/>
            <a:ext cx="2011680" cy="320040"/>
          </a:xfrm>
          <a:prstGeom prst="rect">
            <a:avLst/>
          </a:prstGeom>
          <a:noFill/>
        </p:spPr>
        <p:txBody>
          <a:bodyPr wrap="square" lIns="45720" rIns="45720" anchor="t">
            <a:spAutoFit/>
          </a:bodyPr>
          <a:lstStyle/>
          <a:p>
            <a:pPr algn="l">
              <a:defRPr sz="1100" b="0">
                <a:solidFill>
                  <a:srgbClr val="5D6B7A"/>
                </a:solidFill>
                <a:latin typeface="Aptos"/>
              </a:defRPr>
            </a:pPr>
            <a:r>
              <a:t>1.889 s • 506 tokens</a:t>
            </a:r>
          </a:p>
        </p:txBody>
      </p:sp>
      <p:sp>
        <p:nvSpPr>
          <p:cNvPr id="28" name="Rounded Rectangle 27"/>
          <p:cNvSpPr/>
          <p:nvPr/>
        </p:nvSpPr>
        <p:spPr>
          <a:xfrm>
            <a:off x="8796528" y="3182112"/>
            <a:ext cx="2487168" cy="2240280"/>
          </a:xfrm>
          <a:prstGeom prst="roundRect">
            <a:avLst>
              <a:gd name="adj" fmla="val 12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15984" y="3401568"/>
            <a:ext cx="93268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15984" y="3410712"/>
            <a:ext cx="932688" cy="274320"/>
          </a:xfrm>
          <a:prstGeom prst="rect">
            <a:avLst/>
          </a:prstGeom>
          <a:noFill/>
        </p:spPr>
        <p:txBody>
          <a:bodyPr wrap="square" lIns="45720" rIns="45720" anchor="t">
            <a:spAutoFit/>
          </a:bodyPr>
          <a:lstStyle/>
          <a:p>
            <a:pPr algn="ctr">
              <a:defRPr sz="1000" b="1">
                <a:solidFill>
                  <a:srgbClr val="FFFFFF"/>
                </a:solidFill>
                <a:latin typeface="Aptos"/>
              </a:defRPr>
            </a:pPr>
            <a:r>
              <a:t>OLLAMA</a:t>
            </a:r>
          </a:p>
        </p:txBody>
      </p:sp>
      <p:sp>
        <p:nvSpPr>
          <p:cNvPr id="31" name="TextBox 30"/>
          <p:cNvSpPr txBox="1"/>
          <p:nvPr/>
        </p:nvSpPr>
        <p:spPr>
          <a:xfrm>
            <a:off x="9015984" y="3977639"/>
            <a:ext cx="2011680" cy="320040"/>
          </a:xfrm>
          <a:prstGeom prst="rect">
            <a:avLst/>
          </a:prstGeom>
          <a:noFill/>
        </p:spPr>
        <p:txBody>
          <a:bodyPr wrap="square" lIns="45720" rIns="45720" anchor="t">
            <a:spAutoFit/>
          </a:bodyPr>
          <a:lstStyle/>
          <a:p>
            <a:pPr algn="l">
              <a:defRPr sz="2000" b="1">
                <a:solidFill>
                  <a:srgbClr val="10B981"/>
                </a:solidFill>
                <a:latin typeface="Aptos"/>
              </a:defRPr>
            </a:pPr>
            <a:r>
              <a:t>gestützt</a:t>
            </a:r>
          </a:p>
        </p:txBody>
      </p:sp>
      <p:sp>
        <p:nvSpPr>
          <p:cNvPr id="32" name="TextBox 31"/>
          <p:cNvSpPr txBox="1"/>
          <p:nvPr/>
        </p:nvSpPr>
        <p:spPr>
          <a:xfrm>
            <a:off x="9015984" y="4727448"/>
            <a:ext cx="2011680" cy="320040"/>
          </a:xfrm>
          <a:prstGeom prst="rect">
            <a:avLst/>
          </a:prstGeom>
          <a:noFill/>
        </p:spPr>
        <p:txBody>
          <a:bodyPr wrap="square" lIns="45720" rIns="45720" anchor="t">
            <a:spAutoFit/>
          </a:bodyPr>
          <a:lstStyle/>
          <a:p>
            <a:pPr algn="l">
              <a:defRPr sz="1100" b="0">
                <a:solidFill>
                  <a:srgbClr val="5D6B7A"/>
                </a:solidFill>
                <a:latin typeface="Aptos"/>
              </a:defRPr>
            </a:pPr>
            <a:r>
              <a:t>40,902 s • lokal</a:t>
            </a:r>
          </a:p>
        </p:txBody>
      </p:sp>
      <p:sp>
        <p:nvSpPr>
          <p:cNvPr id="33" name="TextBox 32"/>
          <p:cNvSpPr txBox="1"/>
          <p:nvPr/>
        </p:nvSpPr>
        <p:spPr>
          <a:xfrm>
            <a:off x="749808" y="5733288"/>
            <a:ext cx="10652760" cy="338328"/>
          </a:xfrm>
          <a:prstGeom prst="rect">
            <a:avLst/>
          </a:prstGeom>
          <a:noFill/>
        </p:spPr>
        <p:txBody>
          <a:bodyPr wrap="square" lIns="45720" rIns="45720" anchor="t">
            <a:spAutoFit/>
          </a:bodyPr>
          <a:lstStyle/>
          <a:p>
            <a:pPr algn="ctr">
              <a:defRPr sz="1500" b="1">
                <a:solidFill>
                  <a:srgbClr val="0B132B"/>
                </a:solidFill>
                <a:latin typeface="Aptos"/>
              </a:defRPr>
            </a:pPr>
            <a:r>
              <a:t>Kernaussage: Die Evidenz ist sichtbar — Unterschiede werden prüfbar statt verborgen.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EVALUATION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Zentrale Ergebnisse: kontrollierte Tests vs. echte Berichte</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08</a:t>
            </a:r>
          </a:p>
        </p:txBody>
      </p:sp>
      <p:graphicFrame>
        <p:nvGraphicFramePr>
          <p:cNvPr id="7" name="Chart 6"/>
          <p:cNvGraphicFramePr>
            <a:graphicFrameLocks noGrp="1"/>
          </p:cNvGraphicFramePr>
          <p:nvPr/>
        </p:nvGraphicFramePr>
        <p:xfrm>
          <a:off x="658368" y="1298448"/>
          <a:ext cx="6492240" cy="4370832"/>
        </p:xfrm>
        <a:graphic>
          <a:graphicData uri="http://schemas.openxmlformats.org/drawingml/2006/chart">
            <c:chart xmlns:c="http://schemas.openxmlformats.org/drawingml/2006/chart" r:id="rId2"/>
          </a:graphicData>
        </a:graphic>
      </p:graphicFrame>
      <p:sp>
        <p:nvSpPr>
          <p:cNvPr id="8" name="Rounded Rectangle 7"/>
          <p:cNvSpPr/>
          <p:nvPr/>
        </p:nvSpPr>
        <p:spPr>
          <a:xfrm>
            <a:off x="7543800" y="1389888"/>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08392" y="1527048"/>
            <a:ext cx="3255264" cy="438912"/>
          </a:xfrm>
          <a:prstGeom prst="rect">
            <a:avLst/>
          </a:prstGeom>
          <a:noFill/>
        </p:spPr>
        <p:txBody>
          <a:bodyPr wrap="square" lIns="45720" rIns="45720" anchor="t">
            <a:spAutoFit/>
          </a:bodyPr>
          <a:lstStyle/>
          <a:p>
            <a:pPr algn="l">
              <a:defRPr sz="2700" b="1">
                <a:solidFill>
                  <a:srgbClr val="10B981"/>
                </a:solidFill>
                <a:latin typeface="Aptos"/>
              </a:defRPr>
            </a:pPr>
            <a:r>
              <a:t>1.000</a:t>
            </a:r>
          </a:p>
        </p:txBody>
      </p:sp>
      <p:sp>
        <p:nvSpPr>
          <p:cNvPr id="10" name="TextBox 9"/>
          <p:cNvSpPr txBox="1"/>
          <p:nvPr/>
        </p:nvSpPr>
        <p:spPr>
          <a:xfrm>
            <a:off x="7708392" y="2011680"/>
            <a:ext cx="3255264" cy="237744"/>
          </a:xfrm>
          <a:prstGeom prst="rect">
            <a:avLst/>
          </a:prstGeom>
          <a:noFill/>
        </p:spPr>
        <p:txBody>
          <a:bodyPr wrap="square" lIns="45720" rIns="45720" anchor="t">
            <a:spAutoFit/>
          </a:bodyPr>
          <a:lstStyle/>
          <a:p>
            <a:pPr algn="l">
              <a:defRPr sz="1200" b="1">
                <a:solidFill>
                  <a:srgbClr val="182230"/>
                </a:solidFill>
                <a:latin typeface="Aptos"/>
              </a:defRPr>
            </a:pPr>
            <a:r>
              <a:t>Referenz-Parse-Rate</a:t>
            </a:r>
          </a:p>
        </p:txBody>
      </p:sp>
      <p:sp>
        <p:nvSpPr>
          <p:cNvPr id="11" name="TextBox 10"/>
          <p:cNvSpPr txBox="1"/>
          <p:nvPr/>
        </p:nvSpPr>
        <p:spPr>
          <a:xfrm>
            <a:off x="7708392" y="2295144"/>
            <a:ext cx="3255264" cy="201168"/>
          </a:xfrm>
          <a:prstGeom prst="rect">
            <a:avLst/>
          </a:prstGeom>
          <a:noFill/>
        </p:spPr>
        <p:txBody>
          <a:bodyPr wrap="square" lIns="45720" rIns="45720" anchor="t">
            <a:spAutoFit/>
          </a:bodyPr>
          <a:lstStyle/>
          <a:p>
            <a:pPr algn="l">
              <a:defRPr sz="900" b="0">
                <a:solidFill>
                  <a:srgbClr val="5D6B7A"/>
                </a:solidFill>
                <a:latin typeface="Aptos"/>
              </a:defRPr>
            </a:pPr>
            <a:r>
              <a:t>30 echte + kontrollierte Fälle</a:t>
            </a:r>
          </a:p>
        </p:txBody>
      </p:sp>
      <p:sp>
        <p:nvSpPr>
          <p:cNvPr id="12" name="Rounded Rectangle 11"/>
          <p:cNvSpPr/>
          <p:nvPr/>
        </p:nvSpPr>
        <p:spPr>
          <a:xfrm>
            <a:off x="7543800" y="2816352"/>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53512"/>
            <a:ext cx="3255264" cy="438912"/>
          </a:xfrm>
          <a:prstGeom prst="rect">
            <a:avLst/>
          </a:prstGeom>
          <a:noFill/>
        </p:spPr>
        <p:txBody>
          <a:bodyPr wrap="square" lIns="45720" rIns="45720" anchor="t">
            <a:spAutoFit/>
          </a:bodyPr>
          <a:lstStyle/>
          <a:p>
            <a:pPr algn="l">
              <a:defRPr sz="2700" b="1">
                <a:solidFill>
                  <a:srgbClr val="EF4444"/>
                </a:solidFill>
                <a:latin typeface="Aptos"/>
              </a:defRPr>
            </a:pPr>
            <a:r>
              <a:t>0.267</a:t>
            </a:r>
          </a:p>
        </p:txBody>
      </p:sp>
      <p:sp>
        <p:nvSpPr>
          <p:cNvPr id="14" name="TextBox 13"/>
          <p:cNvSpPr txBox="1"/>
          <p:nvPr/>
        </p:nvSpPr>
        <p:spPr>
          <a:xfrm>
            <a:off x="7708392" y="3438144"/>
            <a:ext cx="3255264" cy="237744"/>
          </a:xfrm>
          <a:prstGeom prst="rect">
            <a:avLst/>
          </a:prstGeom>
          <a:noFill/>
        </p:spPr>
        <p:txBody>
          <a:bodyPr wrap="square" lIns="45720" rIns="45720" anchor="t">
            <a:spAutoFit/>
          </a:bodyPr>
          <a:lstStyle/>
          <a:p>
            <a:pPr algn="l">
              <a:defRPr sz="1200" b="1">
                <a:solidFill>
                  <a:srgbClr val="182230"/>
                </a:solidFill>
                <a:latin typeface="Aptos"/>
              </a:defRPr>
            </a:pPr>
            <a:r>
              <a:t>F1 für Quellenbedarf</a:t>
            </a:r>
          </a:p>
        </p:txBody>
      </p:sp>
      <p:sp>
        <p:nvSpPr>
          <p:cNvPr id="15" name="TextBox 14"/>
          <p:cNvSpPr txBox="1"/>
          <p:nvPr/>
        </p:nvSpPr>
        <p:spPr>
          <a:xfrm>
            <a:off x="7708392" y="3721608"/>
            <a:ext cx="3255264" cy="201168"/>
          </a:xfrm>
          <a:prstGeom prst="rect">
            <a:avLst/>
          </a:prstGeom>
          <a:noFill/>
        </p:spPr>
        <p:txBody>
          <a:bodyPr wrap="square" lIns="45720" rIns="45720" anchor="t">
            <a:spAutoFit/>
          </a:bodyPr>
          <a:lstStyle/>
          <a:p>
            <a:pPr algn="l">
              <a:defRPr sz="900" b="0">
                <a:solidFill>
                  <a:srgbClr val="5D6B7A"/>
                </a:solidFill>
                <a:latin typeface="Aptos"/>
              </a:defRPr>
            </a:pPr>
            <a:r>
              <a:t>50 manuell annotierte RQ-Sätze</a:t>
            </a:r>
          </a:p>
        </p:txBody>
      </p:sp>
      <p:sp>
        <p:nvSpPr>
          <p:cNvPr id="16" name="Rounded Rectangle 15"/>
          <p:cNvSpPr/>
          <p:nvPr/>
        </p:nvSpPr>
        <p:spPr>
          <a:xfrm>
            <a:off x="7543800" y="4242816"/>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08392" y="4379976"/>
            <a:ext cx="3255264" cy="438912"/>
          </a:xfrm>
          <a:prstGeom prst="rect">
            <a:avLst/>
          </a:prstGeom>
          <a:noFill/>
        </p:spPr>
        <p:txBody>
          <a:bodyPr wrap="square" lIns="45720" rIns="45720" anchor="t">
            <a:spAutoFit/>
          </a:bodyPr>
          <a:lstStyle/>
          <a:p>
            <a:pPr algn="l">
              <a:defRPr sz="2700" b="1">
                <a:solidFill>
                  <a:srgbClr val="F59E0B"/>
                </a:solidFill>
                <a:latin typeface="Aptos"/>
              </a:defRPr>
            </a:pPr>
            <a:r>
              <a:t>0.924</a:t>
            </a:r>
          </a:p>
        </p:txBody>
      </p:sp>
      <p:sp>
        <p:nvSpPr>
          <p:cNvPr id="18" name="TextBox 17"/>
          <p:cNvSpPr txBox="1"/>
          <p:nvPr/>
        </p:nvSpPr>
        <p:spPr>
          <a:xfrm>
            <a:off x="7708392" y="4864607"/>
            <a:ext cx="3255264" cy="237744"/>
          </a:xfrm>
          <a:prstGeom prst="rect">
            <a:avLst/>
          </a:prstGeom>
          <a:noFill/>
        </p:spPr>
        <p:txBody>
          <a:bodyPr wrap="square" lIns="45720" rIns="45720" anchor="t">
            <a:spAutoFit/>
          </a:bodyPr>
          <a:lstStyle/>
          <a:p>
            <a:pPr algn="l">
              <a:defRPr sz="1200" b="1">
                <a:solidFill>
                  <a:srgbClr val="182230"/>
                </a:solidFill>
                <a:latin typeface="Aptos"/>
              </a:defRPr>
            </a:pPr>
            <a:r>
              <a:t>Fast-DetectGPT AUROC</a:t>
            </a:r>
          </a:p>
        </p:txBody>
      </p:sp>
      <p:sp>
        <p:nvSpPr>
          <p:cNvPr id="19" name="TextBox 18"/>
          <p:cNvSpPr txBox="1"/>
          <p:nvPr/>
        </p:nvSpPr>
        <p:spPr>
          <a:xfrm>
            <a:off x="7708392" y="5148072"/>
            <a:ext cx="3255264" cy="201168"/>
          </a:xfrm>
          <a:prstGeom prst="rect">
            <a:avLst/>
          </a:prstGeom>
          <a:noFill/>
        </p:spPr>
        <p:txBody>
          <a:bodyPr wrap="square" lIns="45720" rIns="45720" anchor="t">
            <a:spAutoFit/>
          </a:bodyPr>
          <a:lstStyle/>
          <a:p>
            <a:pPr algn="l">
              <a:defRPr sz="900" b="0">
                <a:solidFill>
                  <a:srgbClr val="5D6B7A"/>
                </a:solidFill>
                <a:latin typeface="Aptos"/>
              </a:defRPr>
            </a:pPr>
            <a:r>
              <a:t>15 menschliche + 15 GPT-4-Passagen</a:t>
            </a:r>
          </a:p>
        </p:txBody>
      </p:sp>
      <p:sp>
        <p:nvSpPr>
          <p:cNvPr id="20" name="TextBox 19"/>
          <p:cNvSpPr txBox="1"/>
          <p:nvPr/>
        </p:nvSpPr>
        <p:spPr>
          <a:xfrm>
            <a:off x="804672" y="5824728"/>
            <a:ext cx="10378440" cy="310896"/>
          </a:xfrm>
          <a:prstGeom prst="rect">
            <a:avLst/>
          </a:prstGeom>
          <a:noFill/>
        </p:spPr>
        <p:txBody>
          <a:bodyPr wrap="square" lIns="45720" rIns="45720" anchor="t">
            <a:spAutoFit/>
          </a:bodyPr>
          <a:lstStyle/>
          <a:p>
            <a:pPr algn="ctr">
              <a:defRPr sz="1500" b="1">
                <a:solidFill>
                  <a:srgbClr val="0B132B"/>
                </a:solidFill>
                <a:latin typeface="Aptos"/>
              </a:defRPr>
            </a:pPr>
            <a:r>
              <a:t>Hauptergebnis: Synthetische Benchmarks überschätzen den Transfer einfacher Regeln auf echte PDFs.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LOKAL VS. FRONTIER</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Modellvergleich: Geschwindigkeit, Kontrolle und Taxonomie</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09</a:t>
            </a:r>
          </a:p>
        </p:txBody>
      </p:sp>
      <p:sp>
        <p:nvSpPr>
          <p:cNvPr id="7" name="Rectangle 6"/>
          <p:cNvSpPr/>
          <p:nvPr/>
        </p:nvSpPr>
        <p:spPr>
          <a:xfrm>
            <a:off x="621792" y="1280160"/>
            <a:ext cx="150876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399032"/>
            <a:ext cx="1399031" cy="228600"/>
          </a:xfrm>
          <a:prstGeom prst="rect">
            <a:avLst/>
          </a:prstGeom>
          <a:noFill/>
        </p:spPr>
        <p:txBody>
          <a:bodyPr wrap="square" lIns="45720" rIns="45720" anchor="t">
            <a:spAutoFit/>
          </a:bodyPr>
          <a:lstStyle/>
          <a:p>
            <a:pPr algn="ctr">
              <a:defRPr sz="1100" b="1">
                <a:solidFill>
                  <a:srgbClr val="FFFFFF"/>
                </a:solidFill>
                <a:latin typeface="Aptos"/>
              </a:defRPr>
            </a:pPr>
            <a:r>
              <a:t>Backend</a:t>
            </a:r>
          </a:p>
        </p:txBody>
      </p:sp>
      <p:sp>
        <p:nvSpPr>
          <p:cNvPr id="9" name="Rectangle 8"/>
          <p:cNvSpPr/>
          <p:nvPr/>
        </p:nvSpPr>
        <p:spPr>
          <a:xfrm>
            <a:off x="2130552" y="1280160"/>
            <a:ext cx="205740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85416" y="1399032"/>
            <a:ext cx="1947672" cy="228600"/>
          </a:xfrm>
          <a:prstGeom prst="rect">
            <a:avLst/>
          </a:prstGeom>
          <a:noFill/>
        </p:spPr>
        <p:txBody>
          <a:bodyPr wrap="square" lIns="45720" rIns="45720" anchor="t">
            <a:spAutoFit/>
          </a:bodyPr>
          <a:lstStyle/>
          <a:p>
            <a:pPr algn="ctr">
              <a:defRPr sz="1100" b="1">
                <a:solidFill>
                  <a:srgbClr val="FFFFFF"/>
                </a:solidFill>
                <a:latin typeface="Aptos"/>
              </a:defRPr>
            </a:pPr>
            <a:r>
              <a:t>Beobachtetes Ergebnis</a:t>
            </a:r>
          </a:p>
        </p:txBody>
      </p:sp>
      <p:sp>
        <p:nvSpPr>
          <p:cNvPr id="11" name="Rectangle 10"/>
          <p:cNvSpPr/>
          <p:nvPr/>
        </p:nvSpPr>
        <p:spPr>
          <a:xfrm>
            <a:off x="4187952" y="1280160"/>
            <a:ext cx="132588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42816" y="1399032"/>
            <a:ext cx="1216152" cy="228600"/>
          </a:xfrm>
          <a:prstGeom prst="rect">
            <a:avLst/>
          </a:prstGeom>
          <a:noFill/>
        </p:spPr>
        <p:txBody>
          <a:bodyPr wrap="square" lIns="45720" rIns="45720" anchor="t">
            <a:spAutoFit/>
          </a:bodyPr>
          <a:lstStyle/>
          <a:p>
            <a:pPr algn="ctr">
              <a:defRPr sz="1100" b="1">
                <a:solidFill>
                  <a:srgbClr val="FFFFFF"/>
                </a:solidFill>
                <a:latin typeface="Aptos"/>
              </a:defRPr>
            </a:pPr>
            <a:r>
              <a:t>Latenz</a:t>
            </a:r>
          </a:p>
        </p:txBody>
      </p:sp>
      <p:sp>
        <p:nvSpPr>
          <p:cNvPr id="13" name="Rectangle 12"/>
          <p:cNvSpPr/>
          <p:nvPr/>
        </p:nvSpPr>
        <p:spPr>
          <a:xfrm>
            <a:off x="5513832" y="1280160"/>
            <a:ext cx="233172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68696" y="1399032"/>
            <a:ext cx="2221991" cy="228600"/>
          </a:xfrm>
          <a:prstGeom prst="rect">
            <a:avLst/>
          </a:prstGeom>
          <a:noFill/>
        </p:spPr>
        <p:txBody>
          <a:bodyPr wrap="square" lIns="45720" rIns="45720" anchor="t">
            <a:spAutoFit/>
          </a:bodyPr>
          <a:lstStyle/>
          <a:p>
            <a:pPr algn="ctr">
              <a:defRPr sz="1100" b="1">
                <a:solidFill>
                  <a:srgbClr val="FFFFFF"/>
                </a:solidFill>
                <a:latin typeface="Aptos"/>
              </a:defRPr>
            </a:pPr>
            <a:r>
              <a:t>Geeigneter Einsatz</a:t>
            </a:r>
          </a:p>
        </p:txBody>
      </p:sp>
      <p:sp>
        <p:nvSpPr>
          <p:cNvPr id="15" name="Rectangle 14"/>
          <p:cNvSpPr/>
          <p:nvPr/>
        </p:nvSpPr>
        <p:spPr>
          <a:xfrm>
            <a:off x="7845552" y="1280160"/>
            <a:ext cx="324612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416" y="1399032"/>
            <a:ext cx="3136391" cy="228600"/>
          </a:xfrm>
          <a:prstGeom prst="rect">
            <a:avLst/>
          </a:prstGeom>
          <a:noFill/>
        </p:spPr>
        <p:txBody>
          <a:bodyPr wrap="square" lIns="45720" rIns="45720" anchor="t">
            <a:spAutoFit/>
          </a:bodyPr>
          <a:lstStyle/>
          <a:p>
            <a:pPr algn="ctr">
              <a:defRPr sz="1100" b="1">
                <a:solidFill>
                  <a:srgbClr val="FFFFFF"/>
                </a:solidFill>
                <a:latin typeface="Aptos"/>
              </a:defRPr>
            </a:pPr>
            <a:r>
              <a:t>Einschränkung</a:t>
            </a:r>
          </a:p>
        </p:txBody>
      </p:sp>
      <p:sp>
        <p:nvSpPr>
          <p:cNvPr id="17" name="Rectangle 16"/>
          <p:cNvSpPr/>
          <p:nvPr/>
        </p:nvSpPr>
        <p:spPr>
          <a:xfrm>
            <a:off x="621792" y="1783080"/>
            <a:ext cx="150876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1947672"/>
            <a:ext cx="1362456" cy="393192"/>
          </a:xfrm>
          <a:prstGeom prst="rect">
            <a:avLst/>
          </a:prstGeom>
          <a:noFill/>
        </p:spPr>
        <p:txBody>
          <a:bodyPr wrap="square" lIns="45720" rIns="45720" anchor="t">
            <a:spAutoFit/>
          </a:bodyPr>
          <a:lstStyle/>
          <a:p>
            <a:pPr algn="ctr">
              <a:defRPr sz="1350" b="1">
                <a:solidFill>
                  <a:srgbClr val="2563EB"/>
                </a:solidFill>
                <a:latin typeface="Aptos"/>
              </a:defRPr>
            </a:pPr>
            <a:r>
              <a:t>Heuristik</a:t>
            </a:r>
          </a:p>
        </p:txBody>
      </p:sp>
      <p:sp>
        <p:nvSpPr>
          <p:cNvPr id="19" name="Rectangle 18"/>
          <p:cNvSpPr/>
          <p:nvPr/>
        </p:nvSpPr>
        <p:spPr>
          <a:xfrm>
            <a:off x="2130552" y="1783080"/>
            <a:ext cx="205740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03704" y="1947672"/>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0.868 Macro-F1</a:t>
            </a:r>
          </a:p>
        </p:txBody>
      </p:sp>
      <p:sp>
        <p:nvSpPr>
          <p:cNvPr id="21" name="Rectangle 20"/>
          <p:cNvSpPr/>
          <p:nvPr/>
        </p:nvSpPr>
        <p:spPr>
          <a:xfrm>
            <a:off x="4187952" y="1783080"/>
            <a:ext cx="132588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61104" y="1947672"/>
            <a:ext cx="1179576" cy="393192"/>
          </a:xfrm>
          <a:prstGeom prst="rect">
            <a:avLst/>
          </a:prstGeom>
          <a:noFill/>
        </p:spPr>
        <p:txBody>
          <a:bodyPr wrap="square" lIns="45720" rIns="45720" anchor="t">
            <a:spAutoFit/>
          </a:bodyPr>
          <a:lstStyle/>
          <a:p>
            <a:pPr algn="ctr">
              <a:defRPr sz="1250" b="0">
                <a:solidFill>
                  <a:srgbClr val="182230"/>
                </a:solidFill>
                <a:latin typeface="Aptos"/>
              </a:defRPr>
            </a:pPr>
            <a:r>
              <a:t>~0 ms</a:t>
            </a:r>
          </a:p>
        </p:txBody>
      </p:sp>
      <p:sp>
        <p:nvSpPr>
          <p:cNvPr id="23" name="Rectangle 22"/>
          <p:cNvSpPr/>
          <p:nvPr/>
        </p:nvSpPr>
        <p:spPr>
          <a:xfrm>
            <a:off x="5513832" y="1783080"/>
            <a:ext cx="23317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6984" y="1947672"/>
            <a:ext cx="2185415" cy="393192"/>
          </a:xfrm>
          <a:prstGeom prst="rect">
            <a:avLst/>
          </a:prstGeom>
          <a:noFill/>
        </p:spPr>
        <p:txBody>
          <a:bodyPr wrap="square" lIns="45720" rIns="45720" anchor="t">
            <a:spAutoFit/>
          </a:bodyPr>
          <a:lstStyle/>
          <a:p>
            <a:pPr algn="ctr">
              <a:defRPr sz="1250" b="0">
                <a:solidFill>
                  <a:srgbClr val="182230"/>
                </a:solidFill>
                <a:latin typeface="Aptos"/>
              </a:defRPr>
            </a:pPr>
            <a:r>
              <a:t>Transparente Baseline</a:t>
            </a:r>
          </a:p>
        </p:txBody>
      </p:sp>
      <p:sp>
        <p:nvSpPr>
          <p:cNvPr id="25" name="Rectangle 24"/>
          <p:cNvSpPr/>
          <p:nvPr/>
        </p:nvSpPr>
        <p:spPr>
          <a:xfrm>
            <a:off x="7845552" y="1783080"/>
            <a:ext cx="32461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18704" y="1947672"/>
            <a:ext cx="3099815" cy="393192"/>
          </a:xfrm>
          <a:prstGeom prst="rect">
            <a:avLst/>
          </a:prstGeom>
          <a:noFill/>
        </p:spPr>
        <p:txBody>
          <a:bodyPr wrap="square" lIns="45720" rIns="45720" anchor="t">
            <a:spAutoFit/>
          </a:bodyPr>
          <a:lstStyle/>
          <a:p>
            <a:pPr algn="ctr">
              <a:defRPr sz="1250" b="0">
                <a:solidFill>
                  <a:srgbClr val="182230"/>
                </a:solidFill>
                <a:latin typeface="Aptos"/>
              </a:defRPr>
            </a:pPr>
            <a:r>
              <a:t>Beruht auf Oberflächenmustern</a:t>
            </a:r>
          </a:p>
        </p:txBody>
      </p:sp>
      <p:sp>
        <p:nvSpPr>
          <p:cNvPr id="27" name="Rectangle 26"/>
          <p:cNvSpPr/>
          <p:nvPr/>
        </p:nvSpPr>
        <p:spPr>
          <a:xfrm>
            <a:off x="621792" y="2642615"/>
            <a:ext cx="150876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2807208"/>
            <a:ext cx="1362456" cy="393192"/>
          </a:xfrm>
          <a:prstGeom prst="rect">
            <a:avLst/>
          </a:prstGeom>
          <a:noFill/>
        </p:spPr>
        <p:txBody>
          <a:bodyPr wrap="square" lIns="45720" rIns="45720" anchor="t">
            <a:spAutoFit/>
          </a:bodyPr>
          <a:lstStyle/>
          <a:p>
            <a:pPr algn="ctr">
              <a:defRPr sz="1350" b="1">
                <a:solidFill>
                  <a:srgbClr val="F59E0B"/>
                </a:solidFill>
                <a:latin typeface="Aptos"/>
              </a:defRPr>
            </a:pPr>
            <a:r>
              <a:t>LoRA</a:t>
            </a:r>
          </a:p>
        </p:txBody>
      </p:sp>
      <p:sp>
        <p:nvSpPr>
          <p:cNvPr id="29" name="Rectangle 28"/>
          <p:cNvSpPr/>
          <p:nvPr/>
        </p:nvSpPr>
        <p:spPr>
          <a:xfrm>
            <a:off x="2130552" y="2642615"/>
            <a:ext cx="205740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03704" y="2807208"/>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0.172 Macro-F1</a:t>
            </a:r>
          </a:p>
        </p:txBody>
      </p:sp>
      <p:sp>
        <p:nvSpPr>
          <p:cNvPr id="31" name="Rectangle 30"/>
          <p:cNvSpPr/>
          <p:nvPr/>
        </p:nvSpPr>
        <p:spPr>
          <a:xfrm>
            <a:off x="4187952" y="2642615"/>
            <a:ext cx="132588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61104" y="2807208"/>
            <a:ext cx="1179576" cy="393192"/>
          </a:xfrm>
          <a:prstGeom prst="rect">
            <a:avLst/>
          </a:prstGeom>
          <a:noFill/>
        </p:spPr>
        <p:txBody>
          <a:bodyPr wrap="square" lIns="45720" rIns="45720" anchor="t">
            <a:spAutoFit/>
          </a:bodyPr>
          <a:lstStyle/>
          <a:p>
            <a:pPr algn="ctr">
              <a:defRPr sz="1250" b="0">
                <a:solidFill>
                  <a:srgbClr val="182230"/>
                </a:solidFill>
                <a:latin typeface="Aptos"/>
              </a:defRPr>
            </a:pPr>
            <a:r>
              <a:t>6 ms</a:t>
            </a:r>
          </a:p>
        </p:txBody>
      </p:sp>
      <p:sp>
        <p:nvSpPr>
          <p:cNvPr id="33" name="Rectangle 32"/>
          <p:cNvSpPr/>
          <p:nvPr/>
        </p:nvSpPr>
        <p:spPr>
          <a:xfrm>
            <a:off x="5513832" y="2642615"/>
            <a:ext cx="23317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86984" y="2807208"/>
            <a:ext cx="2185415" cy="393192"/>
          </a:xfrm>
          <a:prstGeom prst="rect">
            <a:avLst/>
          </a:prstGeom>
          <a:noFill/>
        </p:spPr>
        <p:txBody>
          <a:bodyPr wrap="square" lIns="45720" rIns="45720" anchor="t">
            <a:spAutoFit/>
          </a:bodyPr>
          <a:lstStyle/>
          <a:p>
            <a:pPr algn="ctr">
              <a:defRPr sz="1250" b="0">
                <a:solidFill>
                  <a:srgbClr val="182230"/>
                </a:solidFill>
                <a:latin typeface="Aptos"/>
              </a:defRPr>
            </a:pPr>
            <a:r>
              <a:t>Günstige lokale Inferenz</a:t>
            </a:r>
          </a:p>
        </p:txBody>
      </p:sp>
      <p:sp>
        <p:nvSpPr>
          <p:cNvPr id="35" name="Rectangle 34"/>
          <p:cNvSpPr/>
          <p:nvPr/>
        </p:nvSpPr>
        <p:spPr>
          <a:xfrm>
            <a:off x="7845552" y="2642615"/>
            <a:ext cx="32461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18704" y="2807208"/>
            <a:ext cx="3099815" cy="393192"/>
          </a:xfrm>
          <a:prstGeom prst="rect">
            <a:avLst/>
          </a:prstGeom>
          <a:noFill/>
        </p:spPr>
        <p:txBody>
          <a:bodyPr wrap="square" lIns="45720" rIns="45720" anchor="t">
            <a:spAutoFit/>
          </a:bodyPr>
          <a:lstStyle/>
          <a:p>
            <a:pPr algn="ctr">
              <a:defRPr sz="1250" b="0">
                <a:solidFill>
                  <a:srgbClr val="182230"/>
                </a:solidFill>
                <a:latin typeface="Aptos"/>
              </a:defRPr>
            </a:pPr>
            <a:r>
              <a:t>SciFact hat 3 statt 5 Labels</a:t>
            </a:r>
          </a:p>
        </p:txBody>
      </p:sp>
      <p:sp>
        <p:nvSpPr>
          <p:cNvPr id="37" name="Rectangle 36"/>
          <p:cNvSpPr/>
          <p:nvPr/>
        </p:nvSpPr>
        <p:spPr>
          <a:xfrm>
            <a:off x="621792" y="3502152"/>
            <a:ext cx="150876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 y="3666744"/>
            <a:ext cx="1362456" cy="393192"/>
          </a:xfrm>
          <a:prstGeom prst="rect">
            <a:avLst/>
          </a:prstGeom>
          <a:noFill/>
        </p:spPr>
        <p:txBody>
          <a:bodyPr wrap="square" lIns="45720" rIns="45720" anchor="t">
            <a:spAutoFit/>
          </a:bodyPr>
          <a:lstStyle/>
          <a:p>
            <a:pPr algn="ctr">
              <a:defRPr sz="1350" b="1">
                <a:solidFill>
                  <a:srgbClr val="10B981"/>
                </a:solidFill>
                <a:latin typeface="Aptos"/>
              </a:defRPr>
            </a:pPr>
            <a:r>
              <a:t>Ollama</a:t>
            </a:r>
          </a:p>
        </p:txBody>
      </p:sp>
      <p:sp>
        <p:nvSpPr>
          <p:cNvPr id="39" name="Rectangle 38"/>
          <p:cNvSpPr/>
          <p:nvPr/>
        </p:nvSpPr>
        <p:spPr>
          <a:xfrm>
            <a:off x="2130552" y="3502152"/>
            <a:ext cx="205740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03704" y="3666744"/>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0.728 Macro-F1</a:t>
            </a:r>
          </a:p>
        </p:txBody>
      </p:sp>
      <p:sp>
        <p:nvSpPr>
          <p:cNvPr id="41" name="Rectangle 40"/>
          <p:cNvSpPr/>
          <p:nvPr/>
        </p:nvSpPr>
        <p:spPr>
          <a:xfrm>
            <a:off x="4187952" y="3502152"/>
            <a:ext cx="132588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61104" y="3666744"/>
            <a:ext cx="1179576" cy="393192"/>
          </a:xfrm>
          <a:prstGeom prst="rect">
            <a:avLst/>
          </a:prstGeom>
          <a:noFill/>
        </p:spPr>
        <p:txBody>
          <a:bodyPr wrap="square" lIns="45720" rIns="45720" anchor="t">
            <a:spAutoFit/>
          </a:bodyPr>
          <a:lstStyle/>
          <a:p>
            <a:pPr algn="ctr">
              <a:defRPr sz="1250" b="0">
                <a:solidFill>
                  <a:srgbClr val="182230"/>
                </a:solidFill>
                <a:latin typeface="Aptos"/>
              </a:defRPr>
            </a:pPr>
            <a:r>
              <a:t>2.74 s</a:t>
            </a:r>
          </a:p>
        </p:txBody>
      </p:sp>
      <p:sp>
        <p:nvSpPr>
          <p:cNvPr id="43" name="Rectangle 42"/>
          <p:cNvSpPr/>
          <p:nvPr/>
        </p:nvSpPr>
        <p:spPr>
          <a:xfrm>
            <a:off x="5513832" y="3502152"/>
            <a:ext cx="23317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86984" y="3666744"/>
            <a:ext cx="2185415" cy="393192"/>
          </a:xfrm>
          <a:prstGeom prst="rect">
            <a:avLst/>
          </a:prstGeom>
          <a:noFill/>
        </p:spPr>
        <p:txBody>
          <a:bodyPr wrap="square" lIns="45720" rIns="45720" anchor="t">
            <a:spAutoFit/>
          </a:bodyPr>
          <a:lstStyle/>
          <a:p>
            <a:pPr algn="ctr">
              <a:defRPr sz="1250" b="0">
                <a:solidFill>
                  <a:srgbClr val="182230"/>
                </a:solidFill>
                <a:latin typeface="Aptos"/>
              </a:defRPr>
            </a:pPr>
            <a:r>
              <a:t>Private lokale Prüfung</a:t>
            </a:r>
          </a:p>
        </p:txBody>
      </p:sp>
      <p:sp>
        <p:nvSpPr>
          <p:cNvPr id="45" name="Rectangle 44"/>
          <p:cNvSpPr/>
          <p:nvPr/>
        </p:nvSpPr>
        <p:spPr>
          <a:xfrm>
            <a:off x="7845552" y="3502152"/>
            <a:ext cx="32461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18704" y="3666744"/>
            <a:ext cx="3099815" cy="393192"/>
          </a:xfrm>
          <a:prstGeom prst="rect">
            <a:avLst/>
          </a:prstGeom>
          <a:noFill/>
        </p:spPr>
        <p:txBody>
          <a:bodyPr wrap="square" lIns="45720" rIns="45720" anchor="t">
            <a:spAutoFit/>
          </a:bodyPr>
          <a:lstStyle/>
          <a:p>
            <a:pPr algn="ctr">
              <a:defRPr sz="1250" b="0">
                <a:solidFill>
                  <a:srgbClr val="182230"/>
                </a:solidFill>
                <a:latin typeface="Aptos"/>
              </a:defRPr>
            </a:pPr>
            <a:r>
              <a:t>Überschätzt vollständige Stützung</a:t>
            </a:r>
          </a:p>
        </p:txBody>
      </p:sp>
      <p:sp>
        <p:nvSpPr>
          <p:cNvPr id="47" name="Rectangle 46"/>
          <p:cNvSpPr/>
          <p:nvPr/>
        </p:nvSpPr>
        <p:spPr>
          <a:xfrm>
            <a:off x="621792" y="4361688"/>
            <a:ext cx="150876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526279"/>
            <a:ext cx="1362456" cy="393192"/>
          </a:xfrm>
          <a:prstGeom prst="rect">
            <a:avLst/>
          </a:prstGeom>
          <a:noFill/>
        </p:spPr>
        <p:txBody>
          <a:bodyPr wrap="square" lIns="45720" rIns="45720" anchor="t">
            <a:spAutoFit/>
          </a:bodyPr>
          <a:lstStyle/>
          <a:p>
            <a:pPr algn="ctr">
              <a:defRPr sz="1350" b="1">
                <a:solidFill>
                  <a:srgbClr val="8B5CF6"/>
                </a:solidFill>
                <a:latin typeface="Aptos"/>
              </a:defRPr>
            </a:pPr>
            <a:r>
              <a:t>OpenAI</a:t>
            </a:r>
          </a:p>
        </p:txBody>
      </p:sp>
      <p:sp>
        <p:nvSpPr>
          <p:cNvPr id="49" name="Rectangle 48"/>
          <p:cNvSpPr/>
          <p:nvPr/>
        </p:nvSpPr>
        <p:spPr>
          <a:xfrm>
            <a:off x="2130552" y="4361688"/>
            <a:ext cx="205740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03704" y="4526279"/>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0.518 Macro-F1</a:t>
            </a:r>
          </a:p>
        </p:txBody>
      </p:sp>
      <p:sp>
        <p:nvSpPr>
          <p:cNvPr id="51" name="Rectangle 50"/>
          <p:cNvSpPr/>
          <p:nvPr/>
        </p:nvSpPr>
        <p:spPr>
          <a:xfrm>
            <a:off x="4187952" y="4361688"/>
            <a:ext cx="132588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61104" y="4526279"/>
            <a:ext cx="1179576" cy="393192"/>
          </a:xfrm>
          <a:prstGeom prst="rect">
            <a:avLst/>
          </a:prstGeom>
          <a:noFill/>
        </p:spPr>
        <p:txBody>
          <a:bodyPr wrap="square" lIns="45720" rIns="45720" anchor="t">
            <a:spAutoFit/>
          </a:bodyPr>
          <a:lstStyle/>
          <a:p>
            <a:pPr algn="ctr">
              <a:defRPr sz="1250" b="0">
                <a:solidFill>
                  <a:srgbClr val="182230"/>
                </a:solidFill>
                <a:latin typeface="Aptos"/>
              </a:defRPr>
            </a:pPr>
            <a:r>
              <a:t>1.42 s</a:t>
            </a:r>
          </a:p>
        </p:txBody>
      </p:sp>
      <p:sp>
        <p:nvSpPr>
          <p:cNvPr id="53" name="Rectangle 52"/>
          <p:cNvSpPr/>
          <p:nvPr/>
        </p:nvSpPr>
        <p:spPr>
          <a:xfrm>
            <a:off x="5513832" y="4361688"/>
            <a:ext cx="23317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86984" y="4526279"/>
            <a:ext cx="2185415" cy="393192"/>
          </a:xfrm>
          <a:prstGeom prst="rect">
            <a:avLst/>
          </a:prstGeom>
          <a:noFill/>
        </p:spPr>
        <p:txBody>
          <a:bodyPr wrap="square" lIns="45720" rIns="45720" anchor="t">
            <a:spAutoFit/>
          </a:bodyPr>
          <a:lstStyle/>
          <a:p>
            <a:pPr algn="ctr">
              <a:defRPr sz="1250" b="0">
                <a:solidFill>
                  <a:srgbClr val="182230"/>
                </a:solidFill>
                <a:latin typeface="Aptos"/>
              </a:defRPr>
            </a:pPr>
            <a:r>
              <a:t>Strukturierte Frontier-Prüfung</a:t>
            </a:r>
          </a:p>
        </p:txBody>
      </p:sp>
      <p:sp>
        <p:nvSpPr>
          <p:cNvPr id="55" name="Rectangle 54"/>
          <p:cNvSpPr/>
          <p:nvPr/>
        </p:nvSpPr>
        <p:spPr>
          <a:xfrm>
            <a:off x="7845552" y="4361688"/>
            <a:ext cx="32461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18704" y="4526279"/>
            <a:ext cx="3099815" cy="393192"/>
          </a:xfrm>
          <a:prstGeom prst="rect">
            <a:avLst/>
          </a:prstGeom>
          <a:noFill/>
        </p:spPr>
        <p:txBody>
          <a:bodyPr wrap="square" lIns="45720" rIns="45720" anchor="t">
            <a:spAutoFit/>
          </a:bodyPr>
          <a:lstStyle/>
          <a:p>
            <a:pPr algn="ctr">
              <a:defRPr sz="1250" b="0">
                <a:solidFill>
                  <a:srgbClr val="182230"/>
                </a:solidFill>
                <a:latin typeface="Aptos"/>
              </a:defRPr>
            </a:pPr>
            <a:r>
              <a:t>Kostenpflichtig/extern; Kosten nicht erfasst</a:t>
            </a:r>
          </a:p>
        </p:txBody>
      </p:sp>
      <p:sp>
        <p:nvSpPr>
          <p:cNvPr id="57" name="Rounded Rectangle 56"/>
          <p:cNvSpPr/>
          <p:nvPr/>
        </p:nvSpPr>
        <p:spPr>
          <a:xfrm>
            <a:off x="685800" y="5440680"/>
            <a:ext cx="10835640" cy="621792"/>
          </a:xfrm>
          <a:prstGeom prst="roundRect">
            <a:avLst>
              <a:gd name="adj" fmla="val 12000"/>
            </a:avLst>
          </a:prstGeom>
          <a:solidFill>
            <a:srgbClr val="FFF7ED"/>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6112" y="5596128"/>
            <a:ext cx="10378440" cy="274320"/>
          </a:xfrm>
          <a:prstGeom prst="rect">
            <a:avLst/>
          </a:prstGeom>
          <a:noFill/>
        </p:spPr>
        <p:txBody>
          <a:bodyPr wrap="square" lIns="45720" rIns="45720" anchor="t">
            <a:spAutoFit/>
          </a:bodyPr>
          <a:lstStyle/>
          <a:p>
            <a:pPr algn="ctr">
              <a:defRPr sz="1250" b="1">
                <a:solidFill>
                  <a:srgbClr val="92400E"/>
                </a:solidFill>
                <a:latin typeface="Aptos"/>
              </a:defRPr>
            </a:pPr>
            <a:r>
              <a:t>Dieselben 30 Gold-Fälle und identische Evidenz • 3 Enthaltungen ohne Evidenz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GRENZEN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Was funktioniert — und wo es scheitert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10</a:t>
            </a:r>
          </a:p>
        </p:txBody>
      </p:sp>
      <p:sp>
        <p:nvSpPr>
          <p:cNvPr id="7" name="Rounded Rectangle 6"/>
          <p:cNvSpPr/>
          <p:nvPr/>
        </p:nvSpPr>
        <p:spPr>
          <a:xfrm>
            <a:off x="621792" y="1298448"/>
            <a:ext cx="5303520" cy="4526280"/>
          </a:xfrm>
          <a:prstGeom prst="roundRect">
            <a:avLst>
              <a:gd name="adj" fmla="val 12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77824" y="1572768"/>
            <a:ext cx="1353312"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581912"/>
            <a:ext cx="1353312" cy="274320"/>
          </a:xfrm>
          <a:prstGeom prst="rect">
            <a:avLst/>
          </a:prstGeom>
          <a:noFill/>
        </p:spPr>
        <p:txBody>
          <a:bodyPr wrap="square" lIns="45720" rIns="45720" anchor="t">
            <a:spAutoFit/>
          </a:bodyPr>
          <a:lstStyle/>
          <a:p>
            <a:pPr algn="ctr">
              <a:defRPr sz="1000" b="1">
                <a:solidFill>
                  <a:srgbClr val="FFFFFF"/>
                </a:solidFill>
                <a:latin typeface="Aptos"/>
              </a:defRPr>
            </a:pPr>
            <a:r>
              <a:t>FUNKTIONIERT GUT</a:t>
            </a:r>
          </a:p>
        </p:txBody>
      </p:sp>
      <p:sp>
        <p:nvSpPr>
          <p:cNvPr id="10" name="TextBox 9"/>
          <p:cNvSpPr txBox="1"/>
          <p:nvPr/>
        </p:nvSpPr>
        <p:spPr>
          <a:xfrm>
            <a:off x="932688" y="2148840"/>
            <a:ext cx="4526280" cy="2971800"/>
          </a:xfrm>
          <a:prstGeom prst="rect">
            <a:avLst/>
          </a:prstGeom>
          <a:noFill/>
        </p:spPr>
        <p:txBody>
          <a:bodyPr wrap="square" lIns="0" rIns="0" tIns="0" bIns="0">
            <a:spAutoFit/>
          </a:bodyPr>
          <a:lstStyle/>
          <a:p>
            <a:pPr>
              <a:lnSpc>
                <a:spcPct val="105000"/>
              </a:lnSpc>
              <a:spcAft>
                <a:spcPts val="1600"/>
              </a:spcAft>
              <a:defRPr sz="1600">
                <a:solidFill>
                  <a:srgbClr val="182230"/>
                </a:solidFill>
                <a:latin typeface="Aptos"/>
              </a:defRPr>
            </a:pPr>
            <a:r>
              <a:t>•  Durchgängiger Ablauf von PDF zu Markdown/JSON</a:t>
            </a:r>
          </a:p>
          <a:p>
            <a:pPr>
              <a:lnSpc>
                <a:spcPct val="105000"/>
              </a:lnSpc>
              <a:spcAft>
                <a:spcPts val="1600"/>
              </a:spcAft>
              <a:defRPr sz="1600">
                <a:solidFill>
                  <a:srgbClr val="182230"/>
                </a:solidFill>
                <a:latin typeface="Aptos"/>
              </a:defRPr>
            </a:pPr>
            <a:r>
              <a:t>•  Nachvollziehbare Evidenz und Backend-Metadaten</a:t>
            </a:r>
          </a:p>
          <a:p>
            <a:pPr>
              <a:lnSpc>
                <a:spcPct val="105000"/>
              </a:lnSpc>
              <a:spcAft>
                <a:spcPts val="1600"/>
              </a:spcAft>
              <a:defRPr sz="1600">
                <a:solidFill>
                  <a:srgbClr val="182230"/>
                </a:solidFill>
                <a:latin typeface="Aptos"/>
              </a:defRPr>
            </a:pPr>
            <a:r>
              <a:t>•  Robustes IEEE-Parsing für Bericht 5</a:t>
            </a:r>
          </a:p>
          <a:p>
            <a:pPr>
              <a:lnSpc>
                <a:spcPct val="105000"/>
              </a:lnSpc>
              <a:spcAft>
                <a:spcPts val="1600"/>
              </a:spcAft>
              <a:defRPr sz="1600">
                <a:solidFill>
                  <a:srgbClr val="182230"/>
                </a:solidFill>
                <a:latin typeface="Aptos"/>
              </a:defRPr>
            </a:pPr>
            <a:r>
              <a:t>•  LoRA und Fast-DetectGPT reproduzierbar evaluiert</a:t>
            </a:r>
          </a:p>
        </p:txBody>
      </p:sp>
      <p:sp>
        <p:nvSpPr>
          <p:cNvPr id="11" name="Rounded Rectangle 10"/>
          <p:cNvSpPr/>
          <p:nvPr/>
        </p:nvSpPr>
        <p:spPr>
          <a:xfrm>
            <a:off x="6254496" y="1298448"/>
            <a:ext cx="5303520" cy="4526280"/>
          </a:xfrm>
          <a:prstGeom prst="roundRect">
            <a:avLst>
              <a:gd name="adj" fmla="val 12000"/>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72768"/>
            <a:ext cx="1389888"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1581912"/>
            <a:ext cx="1389888" cy="274320"/>
          </a:xfrm>
          <a:prstGeom prst="rect">
            <a:avLst/>
          </a:prstGeom>
          <a:noFill/>
        </p:spPr>
        <p:txBody>
          <a:bodyPr wrap="square" lIns="45720" rIns="45720" anchor="t">
            <a:spAutoFit/>
          </a:bodyPr>
          <a:lstStyle/>
          <a:p>
            <a:pPr algn="ctr">
              <a:defRPr sz="1000" b="1">
                <a:solidFill>
                  <a:srgbClr val="FFFFFF"/>
                </a:solidFill>
                <a:latin typeface="Aptos"/>
              </a:defRPr>
            </a:pPr>
            <a:r>
              <a:t>EINSCHRÄNKUNGEN</a:t>
            </a:r>
          </a:p>
        </p:txBody>
      </p:sp>
      <p:sp>
        <p:nvSpPr>
          <p:cNvPr id="14" name="TextBox 13"/>
          <p:cNvSpPr txBox="1"/>
          <p:nvPr/>
        </p:nvSpPr>
        <p:spPr>
          <a:xfrm>
            <a:off x="6565392" y="2148840"/>
            <a:ext cx="4526280" cy="2971800"/>
          </a:xfrm>
          <a:prstGeom prst="rect">
            <a:avLst/>
          </a:prstGeom>
          <a:noFill/>
        </p:spPr>
        <p:txBody>
          <a:bodyPr wrap="square" lIns="0" rIns="0" tIns="0" bIns="0">
            <a:spAutoFit/>
          </a:bodyPr>
          <a:lstStyle/>
          <a:p>
            <a:pPr>
              <a:lnSpc>
                <a:spcPct val="105000"/>
              </a:lnSpc>
              <a:spcAft>
                <a:spcPts val="1600"/>
              </a:spcAft>
              <a:defRPr sz="1600">
                <a:solidFill>
                  <a:srgbClr val="182230"/>
                </a:solidFill>
                <a:latin typeface="Aptos"/>
              </a:defRPr>
            </a:pPr>
            <a:r>
              <a:t>•  PDF-Extraktion erzeugt Abstands- und Überschriftenfehler</a:t>
            </a:r>
          </a:p>
          <a:p>
            <a:pPr>
              <a:lnSpc>
                <a:spcPct val="105000"/>
              </a:lnSpc>
              <a:spcAft>
                <a:spcPts val="1600"/>
              </a:spcAft>
              <a:defRPr sz="1600">
                <a:solidFill>
                  <a:srgbClr val="182230"/>
                </a:solidFill>
                <a:latin typeface="Aptos"/>
              </a:defRPr>
            </a:pPr>
            <a:r>
              <a:t>•  Erkennung echter Aussagen generalisiert schwach</a:t>
            </a:r>
          </a:p>
          <a:p>
            <a:pPr>
              <a:lnSpc>
                <a:spcPct val="105000"/>
              </a:lnSpc>
              <a:spcAft>
                <a:spcPts val="1600"/>
              </a:spcAft>
              <a:defRPr sz="1600">
                <a:solidFill>
                  <a:srgbClr val="182230"/>
                </a:solidFill>
                <a:latin typeface="Aptos"/>
              </a:defRPr>
            </a:pPr>
            <a:r>
              <a:t>•  Metadaten-APIs können ausfallen oder drosseln</a:t>
            </a:r>
          </a:p>
          <a:p>
            <a:pPr>
              <a:lnSpc>
                <a:spcPct val="105000"/>
              </a:lnSpc>
              <a:spcAft>
                <a:spcPts val="1600"/>
              </a:spcAft>
              <a:defRPr sz="1600">
                <a:solidFill>
                  <a:srgbClr val="182230"/>
                </a:solidFill>
                <a:latin typeface="Aptos"/>
              </a:defRPr>
            </a:pPr>
            <a:r>
              <a:t>•  Fast-DetectGPT übersah 7/15 generierte Passagen</a:t>
            </a:r>
          </a:p>
        </p:txBody>
      </p:sp>
      <p:sp>
        <p:nvSpPr>
          <p:cNvPr id="15" name="TextBox 14"/>
          <p:cNvSpPr txBox="1"/>
          <p:nvPr/>
        </p:nvSpPr>
        <p:spPr>
          <a:xfrm>
            <a:off x="1143000" y="5989320"/>
            <a:ext cx="9921240" cy="274320"/>
          </a:xfrm>
          <a:prstGeom prst="rect">
            <a:avLst/>
          </a:prstGeom>
          <a:noFill/>
        </p:spPr>
        <p:txBody>
          <a:bodyPr wrap="square" lIns="45720" rIns="45720" anchor="t">
            <a:spAutoFit/>
          </a:bodyPr>
          <a:lstStyle/>
          <a:p>
            <a:pPr algn="ctr">
              <a:defRPr sz="1450" b="1">
                <a:solidFill>
                  <a:srgbClr val="0B132B"/>
                </a:solidFill>
                <a:latin typeface="Aptos"/>
              </a:defRPr>
            </a:pPr>
            <a:r>
              <a:t>Ethische Grenze: Ein Hinweis priorisiert menschliche Prüfung; er beweist weder Täuschung noch KI-Autorschaft.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FAZIT</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Kernaussagen</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Nils  •  0:35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11</a:t>
            </a:r>
          </a:p>
        </p:txBody>
      </p:sp>
      <p:sp>
        <p:nvSpPr>
          <p:cNvPr id="7" name="Rectangle 6"/>
          <p:cNvSpPr/>
          <p:nvPr/>
        </p:nvSpPr>
        <p:spPr>
          <a:xfrm>
            <a:off x="0" y="0"/>
            <a:ext cx="12191695" cy="6858000"/>
          </a:xfrm>
          <a:prstGeom prst="rect">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30352"/>
            <a:ext cx="3657600" cy="320040"/>
          </a:xfrm>
          <a:prstGeom prst="rect">
            <a:avLst/>
          </a:prstGeom>
          <a:noFill/>
        </p:spPr>
        <p:txBody>
          <a:bodyPr wrap="square" lIns="45720" rIns="45720" anchor="t">
            <a:spAutoFit/>
          </a:bodyPr>
          <a:lstStyle/>
          <a:p>
            <a:pPr algn="l">
              <a:defRPr sz="1100" b="1">
                <a:solidFill>
                  <a:srgbClr val="38BDF8"/>
                </a:solidFill>
                <a:latin typeface="Aptos"/>
              </a:defRPr>
            </a:pPr>
            <a:r>
              <a:t>FAZIT</a:t>
            </a:r>
          </a:p>
        </p:txBody>
      </p:sp>
      <p:sp>
        <p:nvSpPr>
          <p:cNvPr id="9" name="TextBox 8"/>
          <p:cNvSpPr txBox="1"/>
          <p:nvPr/>
        </p:nvSpPr>
        <p:spPr>
          <a:xfrm>
            <a:off x="731520" y="1005840"/>
            <a:ext cx="10515600" cy="640080"/>
          </a:xfrm>
          <a:prstGeom prst="rect">
            <a:avLst/>
          </a:prstGeom>
          <a:noFill/>
        </p:spPr>
        <p:txBody>
          <a:bodyPr wrap="square" lIns="45720" rIns="45720" anchor="t">
            <a:spAutoFit/>
          </a:bodyPr>
          <a:lstStyle/>
          <a:p>
            <a:pPr algn="l">
              <a:defRPr sz="3400" b="1">
                <a:solidFill>
                  <a:srgbClr val="FFFFFF"/>
                </a:solidFill>
                <a:latin typeface="Aptos"/>
              </a:defRPr>
            </a:pPr>
            <a:r>
              <a:t>ClaimGuard macht Integritätsprüfungen nachvollziehbar.</a:t>
            </a:r>
          </a:p>
        </p:txBody>
      </p:sp>
      <p:sp>
        <p:nvSpPr>
          <p:cNvPr id="10" name="Rounded Rectangle 9"/>
          <p:cNvSpPr/>
          <p:nvPr/>
        </p:nvSpPr>
        <p:spPr>
          <a:xfrm>
            <a:off x="731520"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01</a:t>
            </a:r>
          </a:p>
        </p:txBody>
      </p:sp>
      <p:sp>
        <p:nvSpPr>
          <p:cNvPr id="13" name="TextBox 12"/>
          <p:cNvSpPr txBox="1"/>
          <p:nvPr/>
        </p:nvSpPr>
        <p:spPr>
          <a:xfrm>
            <a:off x="932688"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Pipeline</a:t>
            </a:r>
          </a:p>
        </p:txBody>
      </p:sp>
      <p:sp>
        <p:nvSpPr>
          <p:cNvPr id="14" name="TextBox 13"/>
          <p:cNvSpPr txBox="1"/>
          <p:nvPr/>
        </p:nvSpPr>
        <p:spPr>
          <a:xfrm>
            <a:off x="932688"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Aussagen, Referenzen, Evidenz und Bewertungen in einem Ablauf.</a:t>
            </a:r>
          </a:p>
        </p:txBody>
      </p:sp>
      <p:sp>
        <p:nvSpPr>
          <p:cNvPr id="15" name="Rounded Rectangle 14"/>
          <p:cNvSpPr/>
          <p:nvPr/>
        </p:nvSpPr>
        <p:spPr>
          <a:xfrm>
            <a:off x="4480559"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81727"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1727"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02</a:t>
            </a:r>
          </a:p>
        </p:txBody>
      </p:sp>
      <p:sp>
        <p:nvSpPr>
          <p:cNvPr id="18" name="TextBox 17"/>
          <p:cNvSpPr txBox="1"/>
          <p:nvPr/>
        </p:nvSpPr>
        <p:spPr>
          <a:xfrm>
            <a:off x="4681727"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Evidenz</a:t>
            </a:r>
          </a:p>
        </p:txBody>
      </p:sp>
      <p:sp>
        <p:nvSpPr>
          <p:cNvPr id="19" name="TextBox 18"/>
          <p:cNvSpPr txBox="1"/>
          <p:nvPr/>
        </p:nvSpPr>
        <p:spPr>
          <a:xfrm>
            <a:off x="4681727"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Evaluation mit echten Berichten zeigt, wo synthetische Werte täuschen.</a:t>
            </a:r>
          </a:p>
        </p:txBody>
      </p:sp>
      <p:sp>
        <p:nvSpPr>
          <p:cNvPr id="20" name="Rounded Rectangle 19"/>
          <p:cNvSpPr/>
          <p:nvPr/>
        </p:nvSpPr>
        <p:spPr>
          <a:xfrm>
            <a:off x="8229600"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30768"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0768"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03</a:t>
            </a:r>
          </a:p>
        </p:txBody>
      </p:sp>
      <p:sp>
        <p:nvSpPr>
          <p:cNvPr id="23" name="TextBox 22"/>
          <p:cNvSpPr txBox="1"/>
          <p:nvPr/>
        </p:nvSpPr>
        <p:spPr>
          <a:xfrm>
            <a:off x="8430768"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Verantwortung</a:t>
            </a:r>
          </a:p>
        </p:txBody>
      </p:sp>
      <p:sp>
        <p:nvSpPr>
          <p:cNvPr id="24" name="TextBox 23"/>
          <p:cNvSpPr txBox="1"/>
          <p:nvPr/>
        </p:nvSpPr>
        <p:spPr>
          <a:xfrm>
            <a:off x="8430768"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Automatisierung lenkt menschliche Aufmerksamkeit — sie ersetzt kein Urteil.</a:t>
            </a:r>
          </a:p>
        </p:txBody>
      </p:sp>
      <p:sp>
        <p:nvSpPr>
          <p:cNvPr id="25" name="TextBox 24"/>
          <p:cNvSpPr txBox="1"/>
          <p:nvPr/>
        </p:nvSpPr>
        <p:spPr>
          <a:xfrm>
            <a:off x="749808" y="5074920"/>
            <a:ext cx="10515600" cy="411480"/>
          </a:xfrm>
          <a:prstGeom prst="rect">
            <a:avLst/>
          </a:prstGeom>
          <a:noFill/>
        </p:spPr>
        <p:txBody>
          <a:bodyPr wrap="square" lIns="45720" rIns="45720" anchor="t">
            <a:spAutoFit/>
          </a:bodyPr>
          <a:lstStyle/>
          <a:p>
            <a:pPr algn="ctr">
              <a:defRPr sz="1700" b="1">
                <a:solidFill>
                  <a:srgbClr val="FFFFFF"/>
                </a:solidFill>
                <a:latin typeface="Aptos"/>
              </a:defRPr>
            </a:pPr>
            <a:r>
              <a:t>Nächster Schritt: Doppelannotation, externer Tool-Benchmark und consentierte Zitiermusterstudie.</a:t>
            </a:r>
          </a:p>
        </p:txBody>
      </p:sp>
      <p:sp>
        <p:nvSpPr>
          <p:cNvPr id="26" name="TextBox 25"/>
          <p:cNvSpPr txBox="1"/>
          <p:nvPr/>
        </p:nvSpPr>
        <p:spPr>
          <a:xfrm>
            <a:off x="749808" y="6172200"/>
            <a:ext cx="4572000" cy="228600"/>
          </a:xfrm>
          <a:prstGeom prst="rect">
            <a:avLst/>
          </a:prstGeom>
          <a:noFill/>
        </p:spPr>
        <p:txBody>
          <a:bodyPr wrap="square" lIns="45720" rIns="45720" anchor="t">
            <a:spAutoFit/>
          </a:bodyPr>
          <a:lstStyle/>
          <a:p>
            <a:pPr algn="l">
              <a:defRPr sz="900" b="0">
                <a:solidFill>
                  <a:srgbClr val="94A3B8"/>
                </a:solidFill>
                <a:latin typeface="Aptos"/>
              </a:defRPr>
            </a:pPr>
            <a:r>
              <a:t>Nick fasst zusammen • Nils leitet zur Fragerunde über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Oval 1"/>
          <p:cNvSpPr/>
          <p:nvPr/>
        </p:nvSpPr>
        <p:spPr>
          <a:xfrm>
            <a:off x="5239512" y="804672"/>
            <a:ext cx="1664208" cy="1664208"/>
          </a:xfrm>
          <a:prstGeom prst="ellipse">
            <a:avLst/>
          </a:prstGeom>
          <a:solidFill>
            <a:srgbClr val="2563E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39512" y="1170432"/>
            <a:ext cx="1664208" cy="658368"/>
          </a:xfrm>
          <a:prstGeom prst="rect">
            <a:avLst/>
          </a:prstGeom>
          <a:noFill/>
        </p:spPr>
        <p:txBody>
          <a:bodyPr wrap="square" lIns="45720" rIns="45720" anchor="t">
            <a:spAutoFit/>
          </a:bodyPr>
          <a:lstStyle/>
          <a:p>
            <a:pPr algn="ctr">
              <a:defRPr sz="4200" b="1">
                <a:solidFill>
                  <a:srgbClr val="FFFFFF"/>
                </a:solidFill>
                <a:latin typeface="Aptos"/>
              </a:defRPr>
            </a:pPr>
            <a:r>
              <a:t>?</a:t>
            </a:r>
          </a:p>
        </p:txBody>
      </p:sp>
      <p:sp>
        <p:nvSpPr>
          <p:cNvPr id="4" name="TextBox 3"/>
          <p:cNvSpPr txBox="1"/>
          <p:nvPr/>
        </p:nvSpPr>
        <p:spPr>
          <a:xfrm>
            <a:off x="1097280" y="2788920"/>
            <a:ext cx="9966960" cy="713232"/>
          </a:xfrm>
          <a:prstGeom prst="rect">
            <a:avLst/>
          </a:prstGeom>
          <a:noFill/>
        </p:spPr>
        <p:txBody>
          <a:bodyPr wrap="square" lIns="45720" rIns="45720" anchor="t">
            <a:spAutoFit/>
          </a:bodyPr>
          <a:lstStyle/>
          <a:p>
            <a:pPr algn="ctr">
              <a:defRPr sz="3700" b="1">
                <a:solidFill>
                  <a:srgbClr val="FFFFFF"/>
                </a:solidFill>
                <a:latin typeface="Aptos"/>
              </a:defRPr>
            </a:pPr>
            <a:r>
              <a:t>Fragen &amp; Diskussion</a:t>
            </a:r>
          </a:p>
        </p:txBody>
      </p:sp>
      <p:sp>
        <p:nvSpPr>
          <p:cNvPr id="5" name="TextBox 4"/>
          <p:cNvSpPr txBox="1"/>
          <p:nvPr/>
        </p:nvSpPr>
        <p:spPr>
          <a:xfrm>
            <a:off x="1965960" y="3703320"/>
            <a:ext cx="8229600" cy="411480"/>
          </a:xfrm>
          <a:prstGeom prst="rect">
            <a:avLst/>
          </a:prstGeom>
          <a:noFill/>
        </p:spPr>
        <p:txBody>
          <a:bodyPr wrap="square" lIns="45720" rIns="45720" anchor="t">
            <a:spAutoFit/>
          </a:bodyPr>
          <a:lstStyle/>
          <a:p>
            <a:pPr algn="ctr">
              <a:defRPr sz="2000" b="1">
                <a:solidFill>
                  <a:srgbClr val="38BDF8"/>
                </a:solidFill>
                <a:latin typeface="Aptos"/>
              </a:defRPr>
            </a:pPr>
            <a:r>
              <a:t>5 Minuten</a:t>
            </a:r>
          </a:p>
        </p:txBody>
      </p:sp>
      <p:sp>
        <p:nvSpPr>
          <p:cNvPr id="6" name="TextBox 5"/>
          <p:cNvSpPr txBox="1"/>
          <p:nvPr/>
        </p:nvSpPr>
        <p:spPr>
          <a:xfrm>
            <a:off x="1828800" y="4754880"/>
            <a:ext cx="8503920" cy="502920"/>
          </a:xfrm>
          <a:prstGeom prst="rect">
            <a:avLst/>
          </a:prstGeom>
          <a:noFill/>
        </p:spPr>
        <p:txBody>
          <a:bodyPr wrap="square" lIns="45720" rIns="45720" anchor="t">
            <a:spAutoFit/>
          </a:bodyPr>
          <a:lstStyle/>
          <a:p>
            <a:pPr algn="ctr">
              <a:defRPr sz="1500" b="0">
                <a:solidFill>
                  <a:srgbClr val="CBD5E1"/>
                </a:solidFill>
                <a:latin typeface="Aptos"/>
              </a:defRPr>
            </a:pPr>
            <a:r>
              <a:t>Architektur  •  Evaluation  •  Modell-Zielkonflikte  •  Ethik</a:t>
            </a:r>
          </a:p>
        </p:txBody>
      </p:sp>
      <p:sp>
        <p:nvSpPr>
          <p:cNvPr id="7" name="TextBox 6"/>
          <p:cNvSpPr txBox="1"/>
          <p:nvPr/>
        </p:nvSpPr>
        <p:spPr>
          <a:xfrm>
            <a:off x="685800" y="6236208"/>
            <a:ext cx="4114800" cy="228600"/>
          </a:xfrm>
          <a:prstGeom prst="rect">
            <a:avLst/>
          </a:prstGeom>
          <a:noFill/>
        </p:spPr>
        <p:txBody>
          <a:bodyPr wrap="square" lIns="45720" rIns="45720" anchor="t">
            <a:spAutoFit/>
          </a:bodyPr>
          <a:lstStyle/>
          <a:p>
            <a:pPr algn="l">
              <a:defRPr sz="1000" b="0">
                <a:solidFill>
                  <a:srgbClr val="94A3B8"/>
                </a:solidFill>
                <a:latin typeface="Aptos"/>
              </a:defRPr>
            </a:pPr>
            <a:r>
              <a:t>Nils Wagner • Nick Wenzel</a:t>
            </a:r>
          </a:p>
        </p:txBody>
      </p:sp>
      <p:sp>
        <p:nvSpPr>
          <p:cNvPr id="8" name="TextBox 7"/>
          <p:cNvSpPr txBox="1"/>
          <p:nvPr/>
        </p:nvSpPr>
        <p:spPr>
          <a:xfrm>
            <a:off x="9875520" y="6236208"/>
            <a:ext cx="1554480" cy="228600"/>
          </a:xfrm>
          <a:prstGeom prst="rect">
            <a:avLst/>
          </a:prstGeom>
          <a:noFill/>
        </p:spPr>
        <p:txBody>
          <a:bodyPr wrap="square" lIns="45720" rIns="45720" anchor="t">
            <a:spAutoFit/>
          </a:bodyPr>
          <a:lstStyle/>
          <a:p>
            <a:pPr algn="r">
              <a:defRPr sz="1000" b="0">
                <a:solidFill>
                  <a:srgbClr val="94A3B8"/>
                </a:solidFill>
                <a:latin typeface="Aptos"/>
              </a:defRPr>
            </a:pPr>
            <a:r>
              <a:t>05:00 FRAGEN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ClaimGuard — Evidenzbasierte Prüfung akademischer Integrität</dc:title>
  <dc:subject>Deutsche MWI-Deep-Learning-Capstone-Präsentation</dc:subject>
  <dc:creator>Nils Wagner &amp; Nick Wenzel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