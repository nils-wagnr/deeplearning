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F1 / Macro-F1</c:v>
                </c:pt>
              </c:strCache>
            </c:strRef>
          </c:tx>
          <c:spPr>
            <a:solidFill>
              <a:srgbClr val="2563EB"/>
            </a:solidFill>
          </c:spPr>
          <c:dLbls>
            <c:numFmt formatCode="0.000" sourceLinked="0"/>
            <c:txPr>
              <a:bodyPr/>
              <a:lstStyle/>
              <a:p>
                <a:pPr>
                  <a:defRPr sz="1100" b="1"/>
                </a:pPr>
              </a:p>
            </c:txPr>
            <c:dLblPos val="outEnd"/>
            <c:showLegendKey val="0"/>
            <c:showVal val="0"/>
            <c:showCatName val="0"/>
            <c:showSerName val="0"/>
            <c:showPercent val="0"/>
            <c:showBubbleSize val="0"/>
            <c:showLeaderLines val="1"/>
          </c:dLbls>
          <c:cat>
            <c:strRef>
              <c:f>Sheet1!$A$2:$A$5</c:f>
              <c:strCache>
                <c:ptCount val="4"/>
                <c:pt idx="0">
                  <c:v>Real RQ
claims</c:v>
                </c:pt>
                <c:pt idx="1">
                  <c:v>Lexical
verifier</c:v>
                </c:pt>
                <c:pt idx="2">
                  <c:v>SciFact LoRA
aligned</c:v>
                </c:pt>
                <c:pt idx="3">
                  <c:v>Fast-DetectGPT</c:v>
                </c:pt>
              </c:strCache>
            </c:strRef>
          </c:cat>
          <c:val>
            <c:numRef>
              <c:f>Sheet1!$B$2:$B$5</c:f>
              <c:numCache>
                <c:formatCode>General</c:formatCode>
                <c:ptCount val="4"/>
                <c:pt idx="0">
                  <c:v>0.437</c:v>
                </c:pt>
                <c:pt idx="1">
                  <c:v>0.9</c:v>
                </c:pt>
                <c:pt idx="2">
                  <c:v>0.367</c:v>
                </c:pt>
                <c:pt idx="3">
                  <c:v>0.696</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1.0"/>
          <c:min val="0.0"/>
        </c:scaling>
        <c:delete val="0"/>
        <c:axPos val="l"/>
        <c:majorGridlines/>
        <c:majorTickMark val="out"/>
        <c:minorTickMark val="none"/>
        <c:tickLblPos val="nextTo"/>
        <c:txPr>
          <a:bodyPr/>
          <a:lstStyle/>
          <a:p>
            <a:pPr>
              <a:defRPr sz="1000"/>
            </a:pPr>
          </a:p>
        </c:txPr>
        <c:crossAx val="-2068027336"/>
        <c:crosses val="autoZero"/>
        <c:majorUnit val="0.2"/>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20 seconds</a:t>
            </a:r>
          </a:p>
          <a:p>
            <a:r>
              <a:t>Open with one sentence: ClaimGuard does not decide misconduct; it organizes evidence so a human can review it. Introduce both presenters and the three-part question: claim, reference, support.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55 seconds</a:t>
            </a:r>
          </a:p>
          <a:p>
            <a:r>
              <a:t>Use the contrast on the left. Explain that plagiarism, fabricated references, and unsupported citation use are distinct. ClaimGuard focuses on citation integrity and evidence support. Stress that the system is decision support, not an accusation engine.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45 seconds</a:t>
            </a:r>
          </a:p>
          <a:p>
            <a:r>
              <a:t>Walk left to right. These checks map directly to the three core modules. Mention that every decision remains traceable in JSON, while Markdown is the reviewer-facing 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55 seconds</a:t>
            </a:r>
          </a:p>
          <a:p>
            <a:r>
              <a:t>Follow the five numbered boxes. Explain that references constrain evidence retrieval; the verifier receives bounded evidence rather than the whole internet. Point out the audit rail: this makes outputs traceable and comparable. Then introduce the module-coverage decision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55 seconds</a:t>
            </a:r>
          </a:p>
          <a:p>
            <a:r>
              <a:t>The three required core modules are complete and visibly evaluated. For optional depth, Module 5 is complete: we trained and saved the LoRA adapter and compared it on aligned and transfer benchmarks. Module 4 is fulfilled through Fast-DetectGPT. We considered Binoculars, but its calibrated Falcon pair totals about 14 billion parameters and does not fit the available 8 GB GPU; using a smaller pair would invalidate its published threshold. Module 6 has a working comparison/import scaffold, but without shared scite or SemanticCite predictions we do not claim a completed external-tool benchmark. This boundary is deliberate: implemented code is separated from measured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Nick — 60 seconds</a:t>
            </a:r>
          </a:p>
          <a:p>
            <a:r>
              <a:t>Explain why there is no single best backend. The APIs validate bibliography, not source support. The retriever can use embeddings but falls back to lexical search. Mention store=false for OpenAI and that local models keep text on-device.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Nick — 75 seconds</a:t>
            </a:r>
          </a:p>
          <a:p>
            <a:r>
              <a:t>If live: run the prepared command, then open rq5_openai.md. If offline: use this slide. Read only the shortened claim. Point to citations and top evidence. Compare the two verdicts, then emphasize that disagreement is exactly why evidence and rationale must be shown.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Nick — 75 seconds</a:t>
            </a:r>
          </a:p>
          <a:p>
            <a:r>
              <a:t>Start with the 0.900 lexical verifier result, then contrast it with real claim classification at 0.437 Macro-F1. LoRA reached 0.367 on the label-aligned SciFact subset. Fast-DetectGPT reached 0.924 AUROC but only 0.533 recall, missing 7 of 15 generated passages. The takeaway is that every score needs its dataset and failure boundary.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75 seconds</a:t>
            </a:r>
          </a:p>
          <a:p>
            <a:r>
              <a:t>All four backends saw the same retrieved evidence. The heuristic wins this small synthetic benchmark because cases reward direct lexical patterns. LoRA is fastest but cannot emit two of ClaimGuard's five labels. Ollama beat OpenAI here; OpenAI was faster. This is a benchmark-specific finding, not a universal model ranking.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55 seconds</a:t>
            </a:r>
          </a:p>
          <a:p>
            <a:r>
              <a:t>Give two concrete successes and two failures. In manual runs on 7 July 2026, Semantic Scholar requests without an API key and OpenAlex requests with a configured mailto parameter repeatedly returned HTTP 429, even after waiting several minutes and changing the input file. Present this as an observed service condition, not a systematic API-availability benchmark; it can reduce abstract/full-text evidence and lead to insufficient-evidence results. Fast-DetectGPT had no human false positives in this small set, but missed 7 of 15 generated passages. The official benchmark has no citation markers, so no AI-score/citation correlation is claimed. Private reports were not sent to the external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Nick — 20 seconds; Nils — 15 seconds</a:t>
            </a:r>
          </a:p>
          <a:p>
            <a:r>
              <a:t>Nick summarizes pipeline and evidence. Nils closes with the ethical boundary and invites questions. Transition immediately to the Q&amp;A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 5 minutes</a:t>
            </a:r>
          </a:p>
          <a:p>
            <a:r>
              <a:t>Suggested ownership: Nils answers architecture/evaluation; Nick answers model/API/demo questions. If asked about the low real-claim score, lead with the measured domain shift and single-annotator limitation.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38BDF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749808" y="731520"/>
            <a:ext cx="694944" cy="694944"/>
          </a:xfrm>
          <a:prstGeom prst="hexagon">
            <a:avLst/>
          </a:prstGeom>
          <a:solidFill>
            <a:srgbClr val="2563E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914400"/>
            <a:ext cx="694944" cy="274320"/>
          </a:xfrm>
          <a:prstGeom prst="rect">
            <a:avLst/>
          </a:prstGeom>
          <a:noFill/>
        </p:spPr>
        <p:txBody>
          <a:bodyPr wrap="square" lIns="45720" rIns="45720" anchor="t">
            <a:spAutoFit/>
          </a:bodyPr>
          <a:lstStyle/>
          <a:p>
            <a:pPr algn="ctr">
              <a:defRPr sz="1700" b="1">
                <a:solidFill>
                  <a:srgbClr val="FFFFFF"/>
                </a:solidFill>
                <a:latin typeface="Aptos"/>
              </a:defRPr>
            </a:pPr>
            <a:r>
              <a:t>CG</a:t>
            </a:r>
          </a:p>
        </p:txBody>
      </p:sp>
      <p:sp>
        <p:nvSpPr>
          <p:cNvPr id="5" name="Rounded Rectangle 4"/>
          <p:cNvSpPr/>
          <p:nvPr/>
        </p:nvSpPr>
        <p:spPr>
          <a:xfrm>
            <a:off x="9098280" y="658368"/>
            <a:ext cx="22402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98280" y="667512"/>
            <a:ext cx="2240280" cy="274320"/>
          </a:xfrm>
          <a:prstGeom prst="rect">
            <a:avLst/>
          </a:prstGeom>
          <a:noFill/>
        </p:spPr>
        <p:txBody>
          <a:bodyPr wrap="square" lIns="45720" rIns="45720" anchor="t">
            <a:spAutoFit/>
          </a:bodyPr>
          <a:lstStyle/>
          <a:p>
            <a:pPr algn="ctr">
              <a:defRPr sz="1000" b="1">
                <a:solidFill>
                  <a:srgbClr val="FFFFFF"/>
                </a:solidFill>
                <a:latin typeface="Aptos"/>
              </a:defRPr>
            </a:pPr>
            <a:r>
              <a:t>15 MIN • TEAM PRESENTATION</a:t>
            </a:r>
          </a:p>
        </p:txBody>
      </p:sp>
      <p:sp>
        <p:nvSpPr>
          <p:cNvPr id="7" name="TextBox 6"/>
          <p:cNvSpPr txBox="1"/>
          <p:nvPr/>
        </p:nvSpPr>
        <p:spPr>
          <a:xfrm>
            <a:off x="749808" y="1874519"/>
            <a:ext cx="10241280" cy="731520"/>
          </a:xfrm>
          <a:prstGeom prst="rect">
            <a:avLst/>
          </a:prstGeom>
          <a:noFill/>
        </p:spPr>
        <p:txBody>
          <a:bodyPr wrap="square" lIns="45720" rIns="45720" anchor="t">
            <a:spAutoFit/>
          </a:bodyPr>
          <a:lstStyle/>
          <a:p>
            <a:pPr algn="l">
              <a:defRPr sz="4400" b="1">
                <a:solidFill>
                  <a:srgbClr val="FFFFFF"/>
                </a:solidFill>
                <a:latin typeface="Aptos"/>
              </a:defRPr>
            </a:pPr>
            <a:r>
              <a:t>ClaimGuard</a:t>
            </a:r>
          </a:p>
        </p:txBody>
      </p:sp>
      <p:sp>
        <p:nvSpPr>
          <p:cNvPr id="8" name="TextBox 7"/>
          <p:cNvSpPr txBox="1"/>
          <p:nvPr/>
        </p:nvSpPr>
        <p:spPr>
          <a:xfrm>
            <a:off x="749808" y="2633472"/>
            <a:ext cx="9966960" cy="731520"/>
          </a:xfrm>
          <a:prstGeom prst="rect">
            <a:avLst/>
          </a:prstGeom>
          <a:noFill/>
        </p:spPr>
        <p:txBody>
          <a:bodyPr wrap="square" lIns="45720" rIns="45720" anchor="t">
            <a:spAutoFit/>
          </a:bodyPr>
          <a:lstStyle/>
          <a:p>
            <a:pPr algn="l">
              <a:defRPr sz="2500" b="1">
                <a:solidFill>
                  <a:srgbClr val="38BDF8"/>
                </a:solidFill>
                <a:latin typeface="Aptos"/>
              </a:defRPr>
            </a:pPr>
            <a:r>
              <a:t>Evidence-backed academic integrity checking</a:t>
            </a:r>
          </a:p>
        </p:txBody>
      </p:sp>
      <p:sp>
        <p:nvSpPr>
          <p:cNvPr id="9" name="TextBox 8"/>
          <p:cNvSpPr txBox="1"/>
          <p:nvPr/>
        </p:nvSpPr>
        <p:spPr>
          <a:xfrm>
            <a:off x="768096" y="3547872"/>
            <a:ext cx="8961120" cy="658368"/>
          </a:xfrm>
          <a:prstGeom prst="rect">
            <a:avLst/>
          </a:prstGeom>
          <a:noFill/>
        </p:spPr>
        <p:txBody>
          <a:bodyPr wrap="square" lIns="45720" rIns="45720" anchor="t">
            <a:spAutoFit/>
          </a:bodyPr>
          <a:lstStyle/>
          <a:p>
            <a:pPr algn="l">
              <a:defRPr sz="1800" b="0">
                <a:solidFill>
                  <a:srgbClr val="CBD5E1"/>
                </a:solidFill>
                <a:latin typeface="Aptos"/>
              </a:defRPr>
            </a:pPr>
            <a:r>
              <a:t>From PDF claims to reference validation and source-support verdicts</a:t>
            </a:r>
          </a:p>
        </p:txBody>
      </p:sp>
      <p:sp>
        <p:nvSpPr>
          <p:cNvPr id="10" name="TextBox 9"/>
          <p:cNvSpPr txBox="1"/>
          <p:nvPr/>
        </p:nvSpPr>
        <p:spPr>
          <a:xfrm>
            <a:off x="768096" y="5047488"/>
            <a:ext cx="4572000" cy="274320"/>
          </a:xfrm>
          <a:prstGeom prst="rect">
            <a:avLst/>
          </a:prstGeom>
          <a:noFill/>
        </p:spPr>
        <p:txBody>
          <a:bodyPr wrap="square" lIns="45720" rIns="45720" anchor="t">
            <a:spAutoFit/>
          </a:bodyPr>
          <a:lstStyle/>
          <a:p>
            <a:pPr algn="l">
              <a:defRPr sz="1500" b="1">
                <a:solidFill>
                  <a:srgbClr val="FFFFFF"/>
                </a:solidFill>
                <a:latin typeface="Aptos"/>
              </a:defRPr>
            </a:pPr>
            <a:r>
              <a:t>Nils Wagner  •  Nick Wenzel</a:t>
            </a:r>
          </a:p>
        </p:txBody>
      </p:sp>
      <p:sp>
        <p:nvSpPr>
          <p:cNvPr id="11" name="TextBox 10"/>
          <p:cNvSpPr txBox="1"/>
          <p:nvPr/>
        </p:nvSpPr>
        <p:spPr>
          <a:xfrm>
            <a:off x="768096" y="5422392"/>
            <a:ext cx="6217920" cy="274320"/>
          </a:xfrm>
          <a:prstGeom prst="rect">
            <a:avLst/>
          </a:prstGeom>
          <a:noFill/>
        </p:spPr>
        <p:txBody>
          <a:bodyPr wrap="square" lIns="45720" rIns="45720" anchor="t">
            <a:spAutoFit/>
          </a:bodyPr>
          <a:lstStyle/>
          <a:p>
            <a:pPr algn="l">
              <a:defRPr sz="1200" b="0">
                <a:solidFill>
                  <a:srgbClr val="94A3B8"/>
                </a:solidFill>
                <a:latin typeface="Aptos"/>
              </a:defRPr>
            </a:pPr>
            <a:r>
              <a:t>MWI Deep Learning Capstone  •  2 July 2026</a:t>
            </a:r>
          </a:p>
        </p:txBody>
      </p:sp>
      <p:sp>
        <p:nvSpPr>
          <p:cNvPr id="12" name="TextBox 11"/>
          <p:cNvSpPr txBox="1"/>
          <p:nvPr/>
        </p:nvSpPr>
        <p:spPr>
          <a:xfrm>
            <a:off x="9966960" y="6263640"/>
            <a:ext cx="1371600" cy="228600"/>
          </a:xfrm>
          <a:prstGeom prst="rect">
            <a:avLst/>
          </a:prstGeom>
          <a:noFill/>
        </p:spPr>
        <p:txBody>
          <a:bodyPr wrap="square" lIns="45720" rIns="45720" anchor="t">
            <a:spAutoFit/>
          </a:bodyPr>
          <a:lstStyle/>
          <a:p>
            <a:pPr algn="r">
              <a:defRPr sz="900" b="0">
                <a:solidFill>
                  <a:srgbClr val="94A3B8"/>
                </a:solidFill>
                <a:latin typeface="Aptos"/>
              </a:defRPr>
            </a:pPr>
            <a:r>
              <a:t>NILS • 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PROBLEM MOTIVATION</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Why academic integrity checking matters</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02</a:t>
            </a:r>
          </a:p>
        </p:txBody>
      </p:sp>
      <p:sp>
        <p:nvSpPr>
          <p:cNvPr id="7" name="Rounded Rectangle 6"/>
          <p:cNvSpPr/>
          <p:nvPr/>
        </p:nvSpPr>
        <p:spPr>
          <a:xfrm>
            <a:off x="566928" y="1234440"/>
            <a:ext cx="4709160" cy="4434840"/>
          </a:xfrm>
          <a:prstGeom prst="roundRect">
            <a:avLst>
              <a:gd name="adj" fmla="val 12000"/>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72768"/>
            <a:ext cx="4069080" cy="292608"/>
          </a:xfrm>
          <a:prstGeom prst="rect">
            <a:avLst/>
          </a:prstGeom>
          <a:noFill/>
        </p:spPr>
        <p:txBody>
          <a:bodyPr wrap="square" lIns="45720" rIns="45720" anchor="t">
            <a:spAutoFit/>
          </a:bodyPr>
          <a:lstStyle/>
          <a:p>
            <a:pPr algn="l">
              <a:defRPr sz="2100" b="1">
                <a:solidFill>
                  <a:srgbClr val="38BDF8"/>
                </a:solidFill>
                <a:latin typeface="Aptos"/>
              </a:defRPr>
            </a:pPr>
            <a:r>
              <a:t>A citation can be real…</a:t>
            </a:r>
          </a:p>
        </p:txBody>
      </p:sp>
      <p:sp>
        <p:nvSpPr>
          <p:cNvPr id="9" name="TextBox 8"/>
          <p:cNvSpPr txBox="1"/>
          <p:nvPr/>
        </p:nvSpPr>
        <p:spPr>
          <a:xfrm>
            <a:off x="868680" y="2084831"/>
            <a:ext cx="4069080" cy="1115568"/>
          </a:xfrm>
          <a:prstGeom prst="rect">
            <a:avLst/>
          </a:prstGeom>
          <a:noFill/>
        </p:spPr>
        <p:txBody>
          <a:bodyPr wrap="square" lIns="45720" rIns="45720" anchor="t">
            <a:spAutoFit/>
          </a:bodyPr>
          <a:lstStyle/>
          <a:p>
            <a:pPr algn="l">
              <a:defRPr sz="2900" b="1">
                <a:solidFill>
                  <a:srgbClr val="FFFFFF"/>
                </a:solidFill>
                <a:latin typeface="Aptos"/>
              </a:defRPr>
            </a:pPr>
            <a:r>
              <a:t>…and still not support the sentence that cites it.</a:t>
            </a:r>
          </a:p>
        </p:txBody>
      </p:sp>
      <p:sp>
        <p:nvSpPr>
          <p:cNvPr id="10" name="TextBox 9"/>
          <p:cNvSpPr txBox="1"/>
          <p:nvPr/>
        </p:nvSpPr>
        <p:spPr>
          <a:xfrm>
            <a:off x="868680" y="3730752"/>
            <a:ext cx="3931920" cy="731520"/>
          </a:xfrm>
          <a:prstGeom prst="rect">
            <a:avLst/>
          </a:prstGeom>
          <a:noFill/>
        </p:spPr>
        <p:txBody>
          <a:bodyPr wrap="square" lIns="45720" rIns="45720" anchor="t">
            <a:spAutoFit/>
          </a:bodyPr>
          <a:lstStyle/>
          <a:p>
            <a:pPr algn="l">
              <a:defRPr sz="1600" b="0">
                <a:solidFill>
                  <a:srgbClr val="CBD5E1"/>
                </a:solidFill>
                <a:latin typeface="Aptos"/>
              </a:defRPr>
            </a:pPr>
            <a:r>
              <a:t>Manual review is slow; naive automation creates false accusations.</a:t>
            </a:r>
          </a:p>
        </p:txBody>
      </p:sp>
      <p:sp>
        <p:nvSpPr>
          <p:cNvPr id="11" name="Rounded Rectangle 10"/>
          <p:cNvSpPr/>
          <p:nvPr/>
        </p:nvSpPr>
        <p:spPr>
          <a:xfrm>
            <a:off x="868680" y="4956048"/>
            <a:ext cx="2176272"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65192"/>
            <a:ext cx="2176272" cy="274320"/>
          </a:xfrm>
          <a:prstGeom prst="rect">
            <a:avLst/>
          </a:prstGeom>
          <a:noFill/>
        </p:spPr>
        <p:txBody>
          <a:bodyPr wrap="square" lIns="45720" rIns="45720" anchor="t">
            <a:spAutoFit/>
          </a:bodyPr>
          <a:lstStyle/>
          <a:p>
            <a:pPr algn="ctr">
              <a:defRPr sz="1000" b="1">
                <a:solidFill>
                  <a:srgbClr val="0B132B"/>
                </a:solidFill>
                <a:latin typeface="Aptos"/>
              </a:defRPr>
            </a:pPr>
            <a:r>
              <a:t>TRIAGE, NOT A VERDICT</a:t>
            </a:r>
          </a:p>
        </p:txBody>
      </p:sp>
      <p:sp>
        <p:nvSpPr>
          <p:cNvPr id="13" name="TextBox 12"/>
          <p:cNvSpPr txBox="1"/>
          <p:nvPr/>
        </p:nvSpPr>
        <p:spPr>
          <a:xfrm>
            <a:off x="5715000" y="1444752"/>
            <a:ext cx="5669280" cy="3566160"/>
          </a:xfrm>
          <a:prstGeom prst="rect">
            <a:avLst/>
          </a:prstGeom>
          <a:noFill/>
        </p:spPr>
        <p:txBody>
          <a:bodyPr wrap="square" lIns="0" rIns="0" tIns="0" bIns="0">
            <a:spAutoFit/>
          </a:bodyPr>
          <a:lstStyle/>
          <a:p>
            <a:pPr>
              <a:lnSpc>
                <a:spcPct val="105000"/>
              </a:lnSpc>
              <a:spcAft>
                <a:spcPts val="1500"/>
              </a:spcAft>
              <a:defRPr sz="1700">
                <a:solidFill>
                  <a:srgbClr val="182230"/>
                </a:solidFill>
                <a:latin typeface="Aptos"/>
              </a:defRPr>
            </a:pPr>
            <a:r>
              <a:rPr b="1"/>
              <a:t>•  Scale  Long reports contain dozens of checkable claims.</a:t>
            </a:r>
          </a:p>
          <a:p>
            <a:pPr>
              <a:lnSpc>
                <a:spcPct val="105000"/>
              </a:lnSpc>
              <a:spcAft>
                <a:spcPts val="1500"/>
              </a:spcAft>
              <a:defRPr sz="1700">
                <a:solidFill>
                  <a:srgbClr val="182230"/>
                </a:solidFill>
                <a:latin typeface="Aptos"/>
              </a:defRPr>
            </a:pPr>
            <a:r>
              <a:rPr b="1"/>
              <a:t>•  Subtlety  Existence, relevance, and factual support are different questions.</a:t>
            </a:r>
          </a:p>
          <a:p>
            <a:pPr>
              <a:lnSpc>
                <a:spcPct val="105000"/>
              </a:lnSpc>
              <a:spcAft>
                <a:spcPts val="1500"/>
              </a:spcAft>
              <a:defRPr sz="1700">
                <a:solidFill>
                  <a:srgbClr val="182230"/>
                </a:solidFill>
                <a:latin typeface="Aptos"/>
              </a:defRPr>
            </a:pPr>
            <a:r>
              <a:rPr b="1"/>
              <a:t>•  Risk  False positives can unfairly damage students or researchers.</a:t>
            </a:r>
          </a:p>
          <a:p>
            <a:pPr>
              <a:lnSpc>
                <a:spcPct val="105000"/>
              </a:lnSpc>
              <a:spcAft>
                <a:spcPts val="1500"/>
              </a:spcAft>
              <a:defRPr sz="1700">
                <a:solidFill>
                  <a:srgbClr val="182230"/>
                </a:solidFill>
                <a:latin typeface="Aptos"/>
              </a:defRPr>
            </a:pPr>
            <a:r>
              <a:rPr b="1"/>
              <a:t>•  Need  Reviewers require traceable evidence, not a black-box score.</a:t>
            </a:r>
          </a:p>
        </p:txBody>
      </p:sp>
      <p:sp>
        <p:nvSpPr>
          <p:cNvPr id="14" name="TextBox 13"/>
          <p:cNvSpPr txBox="1"/>
          <p:nvPr/>
        </p:nvSpPr>
        <p:spPr>
          <a:xfrm>
            <a:off x="5742432" y="5193792"/>
            <a:ext cx="5303520" cy="384048"/>
          </a:xfrm>
          <a:prstGeom prst="rect">
            <a:avLst/>
          </a:prstGeom>
          <a:noFill/>
        </p:spPr>
        <p:txBody>
          <a:bodyPr wrap="square" lIns="45720" rIns="45720" anchor="t">
            <a:spAutoFit/>
          </a:bodyPr>
          <a:lstStyle/>
          <a:p>
            <a:pPr algn="l">
              <a:defRPr sz="1600" b="1">
                <a:solidFill>
                  <a:srgbClr val="2563EB"/>
                </a:solidFill>
                <a:latin typeface="Aptos"/>
              </a:defRPr>
            </a:pPr>
            <a:r>
              <a:t>Goal: make suspicious passages faster to inspect and easier to explain.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PROBLEM FRAMING</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Three checks — one auditable report</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0:45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03</a:t>
            </a:r>
          </a:p>
        </p:txBody>
      </p:sp>
      <p:sp>
        <p:nvSpPr>
          <p:cNvPr id="7" name="Rounded Rectangle 6"/>
          <p:cNvSpPr/>
          <p:nvPr/>
        </p:nvSpPr>
        <p:spPr>
          <a:xfrm>
            <a:off x="658368" y="1417320"/>
            <a:ext cx="3401568" cy="3493008"/>
          </a:xfrm>
          <a:prstGeom prst="roundRect">
            <a:avLst>
              <a:gd name="adj" fmla="val 12000"/>
            </a:avLst>
          </a:prstGeom>
          <a:solidFill>
            <a:srgbClr val="F3F6FA"/>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59536" y="1645920"/>
            <a:ext cx="65836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655064"/>
            <a:ext cx="658368" cy="274320"/>
          </a:xfrm>
          <a:prstGeom prst="rect">
            <a:avLst/>
          </a:prstGeom>
          <a:noFill/>
        </p:spPr>
        <p:txBody>
          <a:bodyPr wrap="square" lIns="45720" rIns="45720" anchor="t">
            <a:spAutoFit/>
          </a:bodyPr>
          <a:lstStyle/>
          <a:p>
            <a:pPr algn="ctr">
              <a:defRPr sz="1000" b="1">
                <a:solidFill>
                  <a:srgbClr val="FFFFFF"/>
                </a:solidFill>
                <a:latin typeface="Aptos"/>
              </a:defRPr>
            </a:pPr>
            <a:r>
              <a:t>01</a:t>
            </a:r>
          </a:p>
        </p:txBody>
      </p:sp>
      <p:sp>
        <p:nvSpPr>
          <p:cNvPr id="10" name="TextBox 9"/>
          <p:cNvSpPr txBox="1"/>
          <p:nvPr/>
        </p:nvSpPr>
        <p:spPr>
          <a:xfrm>
            <a:off x="859536" y="2267712"/>
            <a:ext cx="2926080" cy="749808"/>
          </a:xfrm>
          <a:prstGeom prst="rect">
            <a:avLst/>
          </a:prstGeom>
          <a:noFill/>
        </p:spPr>
        <p:txBody>
          <a:bodyPr wrap="square" lIns="45720" rIns="45720" anchor="t">
            <a:spAutoFit/>
          </a:bodyPr>
          <a:lstStyle/>
          <a:p>
            <a:pPr algn="l">
              <a:defRPr sz="2200" b="1">
                <a:solidFill>
                  <a:srgbClr val="182230"/>
                </a:solidFill>
                <a:latin typeface="Aptos"/>
              </a:defRPr>
            </a:pPr>
            <a:r>
              <a:t>Does this need a citation?</a:t>
            </a:r>
          </a:p>
        </p:txBody>
      </p:sp>
      <p:sp>
        <p:nvSpPr>
          <p:cNvPr id="11" name="TextBox 10"/>
          <p:cNvSpPr txBox="1"/>
          <p:nvPr/>
        </p:nvSpPr>
        <p:spPr>
          <a:xfrm>
            <a:off x="859536" y="3273552"/>
            <a:ext cx="2880360" cy="676656"/>
          </a:xfrm>
          <a:prstGeom prst="rect">
            <a:avLst/>
          </a:prstGeom>
          <a:noFill/>
        </p:spPr>
        <p:txBody>
          <a:bodyPr wrap="square" lIns="45720" rIns="45720" anchor="t">
            <a:spAutoFit/>
          </a:bodyPr>
          <a:lstStyle/>
          <a:p>
            <a:pPr algn="l">
              <a:defRPr sz="1500" b="0">
                <a:solidFill>
                  <a:srgbClr val="5D6B7A"/>
                </a:solidFill>
                <a:latin typeface="Aptos"/>
              </a:defRPr>
            </a:pPr>
            <a:r>
              <a:t>Claim type, section, citation marker, severity</a:t>
            </a:r>
          </a:p>
        </p:txBody>
      </p:sp>
      <p:sp>
        <p:nvSpPr>
          <p:cNvPr id="12" name="Rounded Rectangle 11"/>
          <p:cNvSpPr/>
          <p:nvPr/>
        </p:nvSpPr>
        <p:spPr>
          <a:xfrm>
            <a:off x="4480559" y="1417320"/>
            <a:ext cx="3401568" cy="3493008"/>
          </a:xfrm>
          <a:prstGeom prst="roundRect">
            <a:avLst>
              <a:gd name="adj" fmla="val 12000"/>
            </a:avLst>
          </a:prstGeom>
          <a:solidFill>
            <a:srgbClr val="F3F6F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81727" y="1645920"/>
            <a:ext cx="658368" cy="310896"/>
          </a:xfrm>
          <a:prstGeom prst="roundRect">
            <a:avLst>
              <a:gd name="adj" fmla="val 12000"/>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7" y="1655064"/>
            <a:ext cx="658368" cy="274320"/>
          </a:xfrm>
          <a:prstGeom prst="rect">
            <a:avLst/>
          </a:prstGeom>
          <a:noFill/>
        </p:spPr>
        <p:txBody>
          <a:bodyPr wrap="square" lIns="45720" rIns="45720" anchor="t">
            <a:spAutoFit/>
          </a:bodyPr>
          <a:lstStyle/>
          <a:p>
            <a:pPr algn="ctr">
              <a:defRPr sz="1000" b="1">
                <a:solidFill>
                  <a:srgbClr val="FFFFFF"/>
                </a:solidFill>
                <a:latin typeface="Aptos"/>
              </a:defRPr>
            </a:pPr>
            <a:r>
              <a:t>02</a:t>
            </a:r>
          </a:p>
        </p:txBody>
      </p:sp>
      <p:sp>
        <p:nvSpPr>
          <p:cNvPr id="15" name="TextBox 14"/>
          <p:cNvSpPr txBox="1"/>
          <p:nvPr/>
        </p:nvSpPr>
        <p:spPr>
          <a:xfrm>
            <a:off x="4681727" y="2267712"/>
            <a:ext cx="2926080" cy="749808"/>
          </a:xfrm>
          <a:prstGeom prst="rect">
            <a:avLst/>
          </a:prstGeom>
          <a:noFill/>
        </p:spPr>
        <p:txBody>
          <a:bodyPr wrap="square" lIns="45720" rIns="45720" anchor="t">
            <a:spAutoFit/>
          </a:bodyPr>
          <a:lstStyle/>
          <a:p>
            <a:pPr algn="l">
              <a:defRPr sz="2200" b="1">
                <a:solidFill>
                  <a:srgbClr val="182230"/>
                </a:solidFill>
                <a:latin typeface="Aptos"/>
              </a:defRPr>
            </a:pPr>
            <a:r>
              <a:t>Does the source exist?</a:t>
            </a:r>
          </a:p>
        </p:txBody>
      </p:sp>
      <p:sp>
        <p:nvSpPr>
          <p:cNvPr id="16" name="TextBox 15"/>
          <p:cNvSpPr txBox="1"/>
          <p:nvPr/>
        </p:nvSpPr>
        <p:spPr>
          <a:xfrm>
            <a:off x="4681727" y="3273552"/>
            <a:ext cx="2880360" cy="676656"/>
          </a:xfrm>
          <a:prstGeom prst="rect">
            <a:avLst/>
          </a:prstGeom>
          <a:noFill/>
        </p:spPr>
        <p:txBody>
          <a:bodyPr wrap="square" lIns="45720" rIns="45720" anchor="t">
            <a:spAutoFit/>
          </a:bodyPr>
          <a:lstStyle/>
          <a:p>
            <a:pPr algn="l">
              <a:defRPr sz="1500" b="0">
                <a:solidFill>
                  <a:srgbClr val="5D6B7A"/>
                </a:solidFill>
                <a:latin typeface="Aptos"/>
              </a:defRPr>
            </a:pPr>
            <a:r>
              <a:t>IEEE parsing plus scholarly metadata APIs</a:t>
            </a:r>
          </a:p>
        </p:txBody>
      </p:sp>
      <p:sp>
        <p:nvSpPr>
          <p:cNvPr id="17" name="Rounded Rectangle 16"/>
          <p:cNvSpPr/>
          <p:nvPr/>
        </p:nvSpPr>
        <p:spPr>
          <a:xfrm>
            <a:off x="8302752" y="1417320"/>
            <a:ext cx="3401568" cy="3493008"/>
          </a:xfrm>
          <a:prstGeom prst="roundRect">
            <a:avLst>
              <a:gd name="adj" fmla="val 12000"/>
            </a:avLst>
          </a:prstGeom>
          <a:solidFill>
            <a:srgbClr val="F3F6F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03920" y="1645920"/>
            <a:ext cx="65836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0" y="1655064"/>
            <a:ext cx="658368" cy="274320"/>
          </a:xfrm>
          <a:prstGeom prst="rect">
            <a:avLst/>
          </a:prstGeom>
          <a:noFill/>
        </p:spPr>
        <p:txBody>
          <a:bodyPr wrap="square" lIns="45720" rIns="45720" anchor="t">
            <a:spAutoFit/>
          </a:bodyPr>
          <a:lstStyle/>
          <a:p>
            <a:pPr algn="ctr">
              <a:defRPr sz="1000" b="1">
                <a:solidFill>
                  <a:srgbClr val="FFFFFF"/>
                </a:solidFill>
                <a:latin typeface="Aptos"/>
              </a:defRPr>
            </a:pPr>
            <a:r>
              <a:t>03</a:t>
            </a:r>
          </a:p>
        </p:txBody>
      </p:sp>
      <p:sp>
        <p:nvSpPr>
          <p:cNvPr id="20" name="TextBox 19"/>
          <p:cNvSpPr txBox="1"/>
          <p:nvPr/>
        </p:nvSpPr>
        <p:spPr>
          <a:xfrm>
            <a:off x="8503920" y="2267712"/>
            <a:ext cx="2926080" cy="749808"/>
          </a:xfrm>
          <a:prstGeom prst="rect">
            <a:avLst/>
          </a:prstGeom>
          <a:noFill/>
        </p:spPr>
        <p:txBody>
          <a:bodyPr wrap="square" lIns="45720" rIns="45720" anchor="t">
            <a:spAutoFit/>
          </a:bodyPr>
          <a:lstStyle/>
          <a:p>
            <a:pPr algn="l">
              <a:defRPr sz="2200" b="1">
                <a:solidFill>
                  <a:srgbClr val="182230"/>
                </a:solidFill>
                <a:latin typeface="Aptos"/>
              </a:defRPr>
            </a:pPr>
            <a:r>
              <a:t>Does the source support it?</a:t>
            </a:r>
          </a:p>
        </p:txBody>
      </p:sp>
      <p:sp>
        <p:nvSpPr>
          <p:cNvPr id="21" name="TextBox 20"/>
          <p:cNvSpPr txBox="1"/>
          <p:nvPr/>
        </p:nvSpPr>
        <p:spPr>
          <a:xfrm>
            <a:off x="8503920" y="3273552"/>
            <a:ext cx="2880360" cy="676656"/>
          </a:xfrm>
          <a:prstGeom prst="rect">
            <a:avLst/>
          </a:prstGeom>
          <a:noFill/>
        </p:spPr>
        <p:txBody>
          <a:bodyPr wrap="square" lIns="45720" rIns="45720" anchor="t">
            <a:spAutoFit/>
          </a:bodyPr>
          <a:lstStyle/>
          <a:p>
            <a:pPr algn="l">
              <a:defRPr sz="1500" b="0">
                <a:solidFill>
                  <a:srgbClr val="5D6B7A"/>
                </a:solidFill>
                <a:latin typeface="Aptos"/>
              </a:defRPr>
            </a:pPr>
            <a:r>
              <a:t>Evidence retrieval plus five-way verification</a:t>
            </a:r>
          </a:p>
        </p:txBody>
      </p:sp>
      <p:sp>
        <p:nvSpPr>
          <p:cNvPr id="22" name="TextBox 21"/>
          <p:cNvSpPr txBox="1"/>
          <p:nvPr/>
        </p:nvSpPr>
        <p:spPr>
          <a:xfrm>
            <a:off x="960120" y="5330952"/>
            <a:ext cx="10241280" cy="384048"/>
          </a:xfrm>
          <a:prstGeom prst="rect">
            <a:avLst/>
          </a:prstGeom>
          <a:noFill/>
        </p:spPr>
        <p:txBody>
          <a:bodyPr wrap="square" lIns="45720" rIns="45720" anchor="t">
            <a:spAutoFit/>
          </a:bodyPr>
          <a:lstStyle/>
          <a:p>
            <a:pPr algn="ctr">
              <a:defRPr sz="1600" b="1">
                <a:solidFill>
                  <a:srgbClr val="0B132B"/>
                </a:solidFill>
                <a:latin typeface="Aptos"/>
              </a:defRPr>
            </a:pPr>
            <a:r>
              <a:t>Output: human-readable Markdown + complete JSON provenance for evaluation and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SYSTEM ARCHITECTURE</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Pipeline architecture</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04</a:t>
            </a:r>
          </a:p>
        </p:txBody>
      </p:sp>
      <p:sp>
        <p:nvSpPr>
          <p:cNvPr id="7" name="Rounded Rectangle 6"/>
          <p:cNvSpPr/>
          <p:nvPr/>
        </p:nvSpPr>
        <p:spPr>
          <a:xfrm>
            <a:off x="438912" y="1444752"/>
            <a:ext cx="1965960" cy="1261872"/>
          </a:xfrm>
          <a:prstGeom prst="roundRect">
            <a:avLst>
              <a:gd name="adj" fmla="val 12000"/>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48640" y="1581912"/>
            <a:ext cx="384048" cy="384048"/>
          </a:xfrm>
          <a:prstGeom prst="ellipse">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1</a:t>
            </a:r>
          </a:p>
        </p:txBody>
      </p:sp>
      <p:sp>
        <p:nvSpPr>
          <p:cNvPr id="10" name="TextBox 9"/>
          <p:cNvSpPr txBox="1"/>
          <p:nvPr/>
        </p:nvSpPr>
        <p:spPr>
          <a:xfrm>
            <a:off x="1042416"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Ingest</a:t>
            </a:r>
          </a:p>
        </p:txBody>
      </p:sp>
      <p:sp>
        <p:nvSpPr>
          <p:cNvPr id="11" name="TextBox 10"/>
          <p:cNvSpPr txBox="1"/>
          <p:nvPr/>
        </p:nvSpPr>
        <p:spPr>
          <a:xfrm>
            <a:off x="585216"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PDF/TXT extraction</a:t>
            </a:r>
            <a:br/>
            <a:r>
              <a:t>section cleanup</a:t>
            </a:r>
          </a:p>
        </p:txBody>
      </p:sp>
      <p:sp>
        <p:nvSpPr>
          <p:cNvPr id="12" name="Chevron 11"/>
          <p:cNvSpPr/>
          <p:nvPr/>
        </p:nvSpPr>
        <p:spPr>
          <a:xfrm>
            <a:off x="2432304"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88920" y="1444752"/>
            <a:ext cx="1965960" cy="1261872"/>
          </a:xfrm>
          <a:prstGeom prst="roundRect">
            <a:avLst>
              <a:gd name="adj" fmla="val 12000"/>
            </a:avLst>
          </a:prstGeom>
          <a:solidFill>
            <a:srgbClr val="FFFFFF"/>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98648" y="1581912"/>
            <a:ext cx="384048" cy="384048"/>
          </a:xfrm>
          <a:prstGeom prst="ellipse">
            <a:avLst/>
          </a:prstGeom>
          <a:solidFill>
            <a:srgbClr val="38BDF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98648"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2</a:t>
            </a:r>
          </a:p>
        </p:txBody>
      </p:sp>
      <p:sp>
        <p:nvSpPr>
          <p:cNvPr id="16" name="TextBox 15"/>
          <p:cNvSpPr txBox="1"/>
          <p:nvPr/>
        </p:nvSpPr>
        <p:spPr>
          <a:xfrm>
            <a:off x="3392424"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Claims</a:t>
            </a:r>
          </a:p>
        </p:txBody>
      </p:sp>
      <p:sp>
        <p:nvSpPr>
          <p:cNvPr id="17" name="TextBox 16"/>
          <p:cNvSpPr txBox="1"/>
          <p:nvPr/>
        </p:nvSpPr>
        <p:spPr>
          <a:xfrm>
            <a:off x="2935224"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type + citation need</a:t>
            </a:r>
            <a:br/>
            <a:r>
              <a:t>context linking</a:t>
            </a:r>
          </a:p>
        </p:txBody>
      </p:sp>
      <p:sp>
        <p:nvSpPr>
          <p:cNvPr id="18" name="Chevron 17"/>
          <p:cNvSpPr/>
          <p:nvPr/>
        </p:nvSpPr>
        <p:spPr>
          <a:xfrm>
            <a:off x="4782312"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38927" y="1444752"/>
            <a:ext cx="1965960" cy="1261872"/>
          </a:xfrm>
          <a:prstGeom prst="roundRect">
            <a:avLst>
              <a:gd name="adj" fmla="val 12000"/>
            </a:avLst>
          </a:prstGeom>
          <a:solidFill>
            <a:srgbClr val="FFFF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248655" y="1581912"/>
            <a:ext cx="384048" cy="384048"/>
          </a:xfrm>
          <a:prstGeom prst="ellipse">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48655"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3</a:t>
            </a:r>
          </a:p>
        </p:txBody>
      </p:sp>
      <p:sp>
        <p:nvSpPr>
          <p:cNvPr id="22" name="TextBox 21"/>
          <p:cNvSpPr txBox="1"/>
          <p:nvPr/>
        </p:nvSpPr>
        <p:spPr>
          <a:xfrm>
            <a:off x="5742431"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References</a:t>
            </a:r>
          </a:p>
        </p:txBody>
      </p:sp>
      <p:sp>
        <p:nvSpPr>
          <p:cNvPr id="23" name="TextBox 22"/>
          <p:cNvSpPr txBox="1"/>
          <p:nvPr/>
        </p:nvSpPr>
        <p:spPr>
          <a:xfrm>
            <a:off x="5285231"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IEEE parsing</a:t>
            </a:r>
            <a:br/>
            <a:r>
              <a:t>metadata validation</a:t>
            </a:r>
          </a:p>
        </p:txBody>
      </p:sp>
      <p:sp>
        <p:nvSpPr>
          <p:cNvPr id="24" name="Chevron 23"/>
          <p:cNvSpPr/>
          <p:nvPr/>
        </p:nvSpPr>
        <p:spPr>
          <a:xfrm>
            <a:off x="7132319"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88936" y="1444752"/>
            <a:ext cx="1965960" cy="1261872"/>
          </a:xfrm>
          <a:prstGeom prst="roundRect">
            <a:avLst>
              <a:gd name="adj" fmla="val 12000"/>
            </a:avLst>
          </a:prstGeom>
          <a:solidFill>
            <a:srgbClr val="FFFFFF"/>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98663" y="1581912"/>
            <a:ext cx="384048" cy="384048"/>
          </a:xfrm>
          <a:prstGeom prst="ellipse">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98663"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4</a:t>
            </a:r>
          </a:p>
        </p:txBody>
      </p:sp>
      <p:sp>
        <p:nvSpPr>
          <p:cNvPr id="28" name="TextBox 27"/>
          <p:cNvSpPr txBox="1"/>
          <p:nvPr/>
        </p:nvSpPr>
        <p:spPr>
          <a:xfrm>
            <a:off x="8092440"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Evidence</a:t>
            </a:r>
          </a:p>
        </p:txBody>
      </p:sp>
      <p:sp>
        <p:nvSpPr>
          <p:cNvPr id="29" name="TextBox 28"/>
          <p:cNvSpPr txBox="1"/>
          <p:nvPr/>
        </p:nvSpPr>
        <p:spPr>
          <a:xfrm>
            <a:off x="7635240"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lexical / embeddings</a:t>
            </a:r>
            <a:br/>
            <a:r>
              <a:t>chunk retrieval</a:t>
            </a:r>
          </a:p>
        </p:txBody>
      </p:sp>
      <p:sp>
        <p:nvSpPr>
          <p:cNvPr id="30" name="Chevron 29"/>
          <p:cNvSpPr/>
          <p:nvPr/>
        </p:nvSpPr>
        <p:spPr>
          <a:xfrm>
            <a:off x="9482328"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838944" y="1444752"/>
            <a:ext cx="1965960" cy="1261872"/>
          </a:xfrm>
          <a:prstGeom prst="roundRect">
            <a:avLst>
              <a:gd name="adj" fmla="val 12000"/>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948672" y="1581912"/>
            <a:ext cx="384048" cy="384048"/>
          </a:xfrm>
          <a:prstGeom prst="ellipse">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48672"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5</a:t>
            </a:r>
          </a:p>
        </p:txBody>
      </p:sp>
      <p:sp>
        <p:nvSpPr>
          <p:cNvPr id="34" name="TextBox 33"/>
          <p:cNvSpPr txBox="1"/>
          <p:nvPr/>
        </p:nvSpPr>
        <p:spPr>
          <a:xfrm>
            <a:off x="10442448"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Verdict</a:t>
            </a:r>
          </a:p>
        </p:txBody>
      </p:sp>
      <p:sp>
        <p:nvSpPr>
          <p:cNvPr id="35" name="TextBox 34"/>
          <p:cNvSpPr txBox="1"/>
          <p:nvPr/>
        </p:nvSpPr>
        <p:spPr>
          <a:xfrm>
            <a:off x="9985248"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heuristic / local /</a:t>
            </a:r>
            <a:br/>
            <a:r>
              <a:t>frontier / LoRA</a:t>
            </a:r>
          </a:p>
        </p:txBody>
      </p:sp>
      <p:sp>
        <p:nvSpPr>
          <p:cNvPr id="36" name="Rounded Rectangle 35"/>
          <p:cNvSpPr/>
          <p:nvPr/>
        </p:nvSpPr>
        <p:spPr>
          <a:xfrm>
            <a:off x="676656" y="3246120"/>
            <a:ext cx="10826496" cy="960120"/>
          </a:xfrm>
          <a:prstGeom prst="roundRect">
            <a:avLst>
              <a:gd name="adj" fmla="val 12000"/>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447288"/>
            <a:ext cx="2057400" cy="320040"/>
          </a:xfrm>
          <a:prstGeom prst="rect">
            <a:avLst/>
          </a:prstGeom>
          <a:noFill/>
        </p:spPr>
        <p:txBody>
          <a:bodyPr wrap="square" lIns="45720" rIns="45720" anchor="t">
            <a:spAutoFit/>
          </a:bodyPr>
          <a:lstStyle/>
          <a:p>
            <a:pPr algn="l">
              <a:defRPr sz="1300" b="1">
                <a:solidFill>
                  <a:srgbClr val="38BDF8"/>
                </a:solidFill>
                <a:latin typeface="Aptos"/>
              </a:defRPr>
            </a:pPr>
            <a:r>
              <a:t>AUDIT RAIL</a:t>
            </a:r>
          </a:p>
        </p:txBody>
      </p:sp>
      <p:sp>
        <p:nvSpPr>
          <p:cNvPr id="38" name="TextBox 37"/>
          <p:cNvSpPr txBox="1"/>
          <p:nvPr/>
        </p:nvSpPr>
        <p:spPr>
          <a:xfrm>
            <a:off x="2788920" y="3429000"/>
            <a:ext cx="8138160" cy="393192"/>
          </a:xfrm>
          <a:prstGeom prst="rect">
            <a:avLst/>
          </a:prstGeom>
          <a:noFill/>
        </p:spPr>
        <p:txBody>
          <a:bodyPr wrap="square" lIns="45720" rIns="45720" anchor="t">
            <a:spAutoFit/>
          </a:bodyPr>
          <a:lstStyle/>
          <a:p>
            <a:pPr algn="l">
              <a:defRPr sz="1500" b="0">
                <a:solidFill>
                  <a:srgbClr val="FFFFFF"/>
                </a:solidFill>
                <a:latin typeface="Aptos"/>
              </a:defRPr>
            </a:pPr>
            <a:r>
              <a:t>evidence • confidence • model ID • latency • token usage • response/request IDs</a:t>
            </a:r>
          </a:p>
        </p:txBody>
      </p:sp>
      <p:sp>
        <p:nvSpPr>
          <p:cNvPr id="39" name="Rounded Rectangle 38"/>
          <p:cNvSpPr/>
          <p:nvPr/>
        </p:nvSpPr>
        <p:spPr>
          <a:xfrm>
            <a:off x="914400" y="4617720"/>
            <a:ext cx="297180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78992" y="4754880"/>
            <a:ext cx="2642616" cy="438912"/>
          </a:xfrm>
          <a:prstGeom prst="rect">
            <a:avLst/>
          </a:prstGeom>
          <a:noFill/>
        </p:spPr>
        <p:txBody>
          <a:bodyPr wrap="square" lIns="45720" rIns="45720" anchor="t">
            <a:spAutoFit/>
          </a:bodyPr>
          <a:lstStyle/>
          <a:p>
            <a:pPr algn="l">
              <a:defRPr sz="2700" b="1">
                <a:solidFill>
                  <a:srgbClr val="10B981"/>
                </a:solidFill>
                <a:latin typeface="Aptos"/>
              </a:defRPr>
            </a:pPr>
            <a:r>
              <a:t>Offline first</a:t>
            </a:r>
          </a:p>
        </p:txBody>
      </p:sp>
      <p:sp>
        <p:nvSpPr>
          <p:cNvPr id="41" name="TextBox 40"/>
          <p:cNvSpPr txBox="1"/>
          <p:nvPr/>
        </p:nvSpPr>
        <p:spPr>
          <a:xfrm>
            <a:off x="1078992" y="5239512"/>
            <a:ext cx="2642616" cy="237744"/>
          </a:xfrm>
          <a:prstGeom prst="rect">
            <a:avLst/>
          </a:prstGeom>
          <a:noFill/>
        </p:spPr>
        <p:txBody>
          <a:bodyPr wrap="square" lIns="45720" rIns="45720" anchor="t">
            <a:spAutoFit/>
          </a:bodyPr>
          <a:lstStyle/>
          <a:p>
            <a:pPr algn="l">
              <a:defRPr sz="1200" b="1">
                <a:solidFill>
                  <a:srgbClr val="182230"/>
                </a:solidFill>
                <a:latin typeface="Aptos"/>
              </a:defRPr>
            </a:pPr>
            <a:r>
              <a:t>Deterministic fallback</a:t>
            </a:r>
          </a:p>
        </p:txBody>
      </p:sp>
      <p:sp>
        <p:nvSpPr>
          <p:cNvPr id="42" name="TextBox 41"/>
          <p:cNvSpPr txBox="1"/>
          <p:nvPr/>
        </p:nvSpPr>
        <p:spPr>
          <a:xfrm>
            <a:off x="1078992" y="5522976"/>
            <a:ext cx="2642616" cy="201168"/>
          </a:xfrm>
          <a:prstGeom prst="rect">
            <a:avLst/>
          </a:prstGeom>
          <a:noFill/>
        </p:spPr>
        <p:txBody>
          <a:bodyPr wrap="square" lIns="45720" rIns="45720" anchor="t">
            <a:spAutoFit/>
          </a:bodyPr>
          <a:lstStyle/>
          <a:p>
            <a:pPr algn="l">
              <a:defRPr sz="900" b="0">
                <a:solidFill>
                  <a:srgbClr val="5D6B7A"/>
                </a:solidFill>
                <a:latin typeface="Aptos"/>
              </a:defRPr>
            </a:pPr>
            <a:r>
              <a:t>Network features are opt-in</a:t>
            </a:r>
          </a:p>
        </p:txBody>
      </p:sp>
      <p:sp>
        <p:nvSpPr>
          <p:cNvPr id="43" name="Rounded Rectangle 42"/>
          <p:cNvSpPr/>
          <p:nvPr/>
        </p:nvSpPr>
        <p:spPr>
          <a:xfrm>
            <a:off x="4599432" y="4617720"/>
            <a:ext cx="297180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64024" y="4754880"/>
            <a:ext cx="2642616" cy="438912"/>
          </a:xfrm>
          <a:prstGeom prst="rect">
            <a:avLst/>
          </a:prstGeom>
          <a:noFill/>
        </p:spPr>
        <p:txBody>
          <a:bodyPr wrap="square" lIns="45720" rIns="45720" anchor="t">
            <a:spAutoFit/>
          </a:bodyPr>
          <a:lstStyle/>
          <a:p>
            <a:pPr algn="l">
              <a:defRPr sz="2700" b="1">
                <a:solidFill>
                  <a:srgbClr val="2563EB"/>
                </a:solidFill>
                <a:latin typeface="Aptos"/>
              </a:defRPr>
            </a:pPr>
            <a:r>
              <a:t>Same schema</a:t>
            </a:r>
          </a:p>
        </p:txBody>
      </p:sp>
      <p:sp>
        <p:nvSpPr>
          <p:cNvPr id="45" name="TextBox 44"/>
          <p:cNvSpPr txBox="1"/>
          <p:nvPr/>
        </p:nvSpPr>
        <p:spPr>
          <a:xfrm>
            <a:off x="4764024" y="5239512"/>
            <a:ext cx="2642616" cy="237744"/>
          </a:xfrm>
          <a:prstGeom prst="rect">
            <a:avLst/>
          </a:prstGeom>
          <a:noFill/>
        </p:spPr>
        <p:txBody>
          <a:bodyPr wrap="square" lIns="45720" rIns="45720" anchor="t">
            <a:spAutoFit/>
          </a:bodyPr>
          <a:lstStyle/>
          <a:p>
            <a:pPr algn="l">
              <a:defRPr sz="1200" b="1">
                <a:solidFill>
                  <a:srgbClr val="182230"/>
                </a:solidFill>
                <a:latin typeface="Aptos"/>
              </a:defRPr>
            </a:pPr>
            <a:r>
              <a:t>Comparable backends</a:t>
            </a:r>
          </a:p>
        </p:txBody>
      </p:sp>
      <p:sp>
        <p:nvSpPr>
          <p:cNvPr id="46" name="TextBox 45"/>
          <p:cNvSpPr txBox="1"/>
          <p:nvPr/>
        </p:nvSpPr>
        <p:spPr>
          <a:xfrm>
            <a:off x="4764024" y="5522976"/>
            <a:ext cx="2642616" cy="201168"/>
          </a:xfrm>
          <a:prstGeom prst="rect">
            <a:avLst/>
          </a:prstGeom>
          <a:noFill/>
        </p:spPr>
        <p:txBody>
          <a:bodyPr wrap="square" lIns="45720" rIns="45720" anchor="t">
            <a:spAutoFit/>
          </a:bodyPr>
          <a:lstStyle/>
          <a:p>
            <a:pPr algn="l">
              <a:defRPr sz="900" b="0">
                <a:solidFill>
                  <a:srgbClr val="5D6B7A"/>
                </a:solidFill>
                <a:latin typeface="Aptos"/>
              </a:defRPr>
            </a:pPr>
            <a:r>
              <a:t>Five support labels</a:t>
            </a:r>
          </a:p>
        </p:txBody>
      </p:sp>
      <p:sp>
        <p:nvSpPr>
          <p:cNvPr id="47" name="Rounded Rectangle 46"/>
          <p:cNvSpPr/>
          <p:nvPr/>
        </p:nvSpPr>
        <p:spPr>
          <a:xfrm>
            <a:off x="8275320" y="4617720"/>
            <a:ext cx="297180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39912" y="4754880"/>
            <a:ext cx="2642616" cy="438912"/>
          </a:xfrm>
          <a:prstGeom prst="rect">
            <a:avLst/>
          </a:prstGeom>
          <a:noFill/>
        </p:spPr>
        <p:txBody>
          <a:bodyPr wrap="square" lIns="45720" rIns="45720" anchor="t">
            <a:spAutoFit/>
          </a:bodyPr>
          <a:lstStyle/>
          <a:p>
            <a:pPr algn="l">
              <a:defRPr sz="2700" b="1">
                <a:solidFill>
                  <a:srgbClr val="F59E0B"/>
                </a:solidFill>
                <a:latin typeface="Aptos"/>
              </a:defRPr>
            </a:pPr>
            <a:r>
              <a:t>Human review</a:t>
            </a:r>
          </a:p>
        </p:txBody>
      </p:sp>
      <p:sp>
        <p:nvSpPr>
          <p:cNvPr id="49" name="TextBox 48"/>
          <p:cNvSpPr txBox="1"/>
          <p:nvPr/>
        </p:nvSpPr>
        <p:spPr>
          <a:xfrm>
            <a:off x="8439912" y="5239512"/>
            <a:ext cx="2642616" cy="237744"/>
          </a:xfrm>
          <a:prstGeom prst="rect">
            <a:avLst/>
          </a:prstGeom>
          <a:noFill/>
        </p:spPr>
        <p:txBody>
          <a:bodyPr wrap="square" lIns="45720" rIns="45720" anchor="t">
            <a:spAutoFit/>
          </a:bodyPr>
          <a:lstStyle/>
          <a:p>
            <a:pPr algn="l">
              <a:defRPr sz="1200" b="1">
                <a:solidFill>
                  <a:srgbClr val="182230"/>
                </a:solidFill>
                <a:latin typeface="Aptos"/>
              </a:defRPr>
            </a:pPr>
            <a:r>
              <a:t>Final decision</a:t>
            </a:r>
          </a:p>
        </p:txBody>
      </p:sp>
      <p:sp>
        <p:nvSpPr>
          <p:cNvPr id="50" name="TextBox 49"/>
          <p:cNvSpPr txBox="1"/>
          <p:nvPr/>
        </p:nvSpPr>
        <p:spPr>
          <a:xfrm>
            <a:off x="8439912" y="5522976"/>
            <a:ext cx="2642616" cy="201168"/>
          </a:xfrm>
          <a:prstGeom prst="rect">
            <a:avLst/>
          </a:prstGeom>
          <a:noFill/>
        </p:spPr>
        <p:txBody>
          <a:bodyPr wrap="square" lIns="45720" rIns="45720" anchor="t">
            <a:spAutoFit/>
          </a:bodyPr>
          <a:lstStyle/>
          <a:p>
            <a:pPr algn="l">
              <a:defRPr sz="900" b="0">
                <a:solidFill>
                  <a:srgbClr val="5D6B7A"/>
                </a:solidFill>
                <a:latin typeface="Aptos"/>
              </a:defRPr>
            </a:pPr>
            <a:r>
              <a:t>No automatic misconduct claim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RUBRIC COVERAGE</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Module coverage: completed and deferred</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05</a:t>
            </a:r>
          </a:p>
        </p:txBody>
      </p:sp>
      <p:sp>
        <p:nvSpPr>
          <p:cNvPr id="7" name="Rounded Rectangle 6"/>
          <p:cNvSpPr/>
          <p:nvPr/>
        </p:nvSpPr>
        <p:spPr>
          <a:xfrm>
            <a:off x="640080" y="1225296"/>
            <a:ext cx="10881360" cy="896112"/>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1408176"/>
            <a:ext cx="129844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417320"/>
            <a:ext cx="1298448" cy="274320"/>
          </a:xfrm>
          <a:prstGeom prst="rect">
            <a:avLst/>
          </a:prstGeom>
          <a:noFill/>
        </p:spPr>
        <p:txBody>
          <a:bodyPr wrap="square" lIns="45720" rIns="45720" anchor="t">
            <a:spAutoFit/>
          </a:bodyPr>
          <a:lstStyle/>
          <a:p>
            <a:pPr algn="ctr">
              <a:defRPr sz="1000" b="1">
                <a:solidFill>
                  <a:srgbClr val="FFFFFF"/>
                </a:solidFill>
                <a:latin typeface="Aptos"/>
              </a:defRPr>
            </a:pPr>
            <a:r>
              <a:t>CORE 1–3</a:t>
            </a:r>
          </a:p>
        </p:txBody>
      </p:sp>
      <p:sp>
        <p:nvSpPr>
          <p:cNvPr id="10" name="TextBox 9"/>
          <p:cNvSpPr txBox="1"/>
          <p:nvPr/>
        </p:nvSpPr>
        <p:spPr>
          <a:xfrm>
            <a:off x="2331720" y="1380744"/>
            <a:ext cx="2606040" cy="347472"/>
          </a:xfrm>
          <a:prstGeom prst="rect">
            <a:avLst/>
          </a:prstGeom>
          <a:noFill/>
        </p:spPr>
        <p:txBody>
          <a:bodyPr wrap="square" lIns="45720" rIns="45720" anchor="t">
            <a:spAutoFit/>
          </a:bodyPr>
          <a:lstStyle/>
          <a:p>
            <a:pPr algn="l">
              <a:defRPr sz="1600" b="1">
                <a:solidFill>
                  <a:srgbClr val="182230"/>
                </a:solidFill>
                <a:latin typeface="Aptos"/>
              </a:defRPr>
            </a:pPr>
            <a:r>
              <a:t>Completed</a:t>
            </a:r>
          </a:p>
        </p:txBody>
      </p:sp>
      <p:sp>
        <p:nvSpPr>
          <p:cNvPr id="11" name="TextBox 10"/>
          <p:cNvSpPr txBox="1"/>
          <p:nvPr/>
        </p:nvSpPr>
        <p:spPr>
          <a:xfrm>
            <a:off x="4956048" y="1353312"/>
            <a:ext cx="4617720" cy="502920"/>
          </a:xfrm>
          <a:prstGeom prst="rect">
            <a:avLst/>
          </a:prstGeom>
          <a:noFill/>
        </p:spPr>
        <p:txBody>
          <a:bodyPr wrap="square" lIns="45720" rIns="45720" anchor="t">
            <a:spAutoFit/>
          </a:bodyPr>
          <a:lstStyle/>
          <a:p>
            <a:pPr algn="l">
              <a:defRPr sz="1250" b="0">
                <a:solidFill>
                  <a:srgbClr val="5D6B7A"/>
                </a:solidFill>
                <a:latin typeface="Aptos"/>
              </a:defRPr>
            </a:pPr>
            <a:r>
              <a:t>Claims/citations, bibliography, and RAG verification; required and evaluated.</a:t>
            </a:r>
          </a:p>
        </p:txBody>
      </p:sp>
      <p:sp>
        <p:nvSpPr>
          <p:cNvPr id="12" name="Rounded Rectangle 11"/>
          <p:cNvSpPr/>
          <p:nvPr/>
        </p:nvSpPr>
        <p:spPr>
          <a:xfrm>
            <a:off x="9857232" y="1517904"/>
            <a:ext cx="1353312"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57232" y="1527048"/>
            <a:ext cx="1353312" cy="274320"/>
          </a:xfrm>
          <a:prstGeom prst="rect">
            <a:avLst/>
          </a:prstGeom>
          <a:noFill/>
        </p:spPr>
        <p:txBody>
          <a:bodyPr wrap="square" lIns="45720" rIns="45720" anchor="t">
            <a:spAutoFit/>
          </a:bodyPr>
          <a:lstStyle/>
          <a:p>
            <a:pPr algn="ctr">
              <a:defRPr sz="1000" b="1">
                <a:solidFill>
                  <a:srgbClr val="FFFFFF"/>
                </a:solidFill>
                <a:latin typeface="Aptos"/>
              </a:defRPr>
            </a:pPr>
            <a:r>
              <a:t>COMPLETE</a:t>
            </a:r>
          </a:p>
        </p:txBody>
      </p:sp>
      <p:sp>
        <p:nvSpPr>
          <p:cNvPr id="14" name="Rounded Rectangle 13"/>
          <p:cNvSpPr/>
          <p:nvPr/>
        </p:nvSpPr>
        <p:spPr>
          <a:xfrm>
            <a:off x="640080" y="2258568"/>
            <a:ext cx="10881360" cy="896112"/>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2960" y="2441448"/>
            <a:ext cx="129844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450591"/>
            <a:ext cx="1298448" cy="274320"/>
          </a:xfrm>
          <a:prstGeom prst="rect">
            <a:avLst/>
          </a:prstGeom>
          <a:noFill/>
        </p:spPr>
        <p:txBody>
          <a:bodyPr wrap="square" lIns="45720" rIns="45720" anchor="t">
            <a:spAutoFit/>
          </a:bodyPr>
          <a:lstStyle/>
          <a:p>
            <a:pPr algn="ctr">
              <a:defRPr sz="1000" b="1">
                <a:solidFill>
                  <a:srgbClr val="FFFFFF"/>
                </a:solidFill>
                <a:latin typeface="Aptos"/>
              </a:defRPr>
            </a:pPr>
            <a:r>
              <a:t>MODULE 5</a:t>
            </a:r>
          </a:p>
        </p:txBody>
      </p:sp>
      <p:sp>
        <p:nvSpPr>
          <p:cNvPr id="17" name="TextBox 16"/>
          <p:cNvSpPr txBox="1"/>
          <p:nvPr/>
        </p:nvSpPr>
        <p:spPr>
          <a:xfrm>
            <a:off x="2331720" y="2414015"/>
            <a:ext cx="2606040" cy="347472"/>
          </a:xfrm>
          <a:prstGeom prst="rect">
            <a:avLst/>
          </a:prstGeom>
          <a:noFill/>
        </p:spPr>
        <p:txBody>
          <a:bodyPr wrap="square" lIns="45720" rIns="45720" anchor="t">
            <a:spAutoFit/>
          </a:bodyPr>
          <a:lstStyle/>
          <a:p>
            <a:pPr algn="l">
              <a:defRPr sz="1600" b="1">
                <a:solidFill>
                  <a:srgbClr val="182230"/>
                </a:solidFill>
                <a:latin typeface="Aptos"/>
              </a:defRPr>
            </a:pPr>
            <a:r>
              <a:t>LoRA completed</a:t>
            </a:r>
          </a:p>
        </p:txBody>
      </p:sp>
      <p:sp>
        <p:nvSpPr>
          <p:cNvPr id="18" name="TextBox 17"/>
          <p:cNvSpPr txBox="1"/>
          <p:nvPr/>
        </p:nvSpPr>
        <p:spPr>
          <a:xfrm>
            <a:off x="4956048" y="2386584"/>
            <a:ext cx="4617720" cy="502920"/>
          </a:xfrm>
          <a:prstGeom prst="rect">
            <a:avLst/>
          </a:prstGeom>
          <a:noFill/>
        </p:spPr>
        <p:txBody>
          <a:bodyPr wrap="square" lIns="45720" rIns="45720" anchor="t">
            <a:spAutoFit/>
          </a:bodyPr>
          <a:lstStyle/>
          <a:p>
            <a:pPr algn="l">
              <a:defRPr sz="1250" b="0">
                <a:solidFill>
                  <a:srgbClr val="5D6B7A"/>
                </a:solidFill>
                <a:latin typeface="Aptos"/>
              </a:defRPr>
            </a:pPr>
            <a:r>
              <a:t>SciFact adapter trained, saved, and compared on aligned and transfer benchmarks.</a:t>
            </a:r>
          </a:p>
        </p:txBody>
      </p:sp>
      <p:sp>
        <p:nvSpPr>
          <p:cNvPr id="19" name="Rounded Rectangle 18"/>
          <p:cNvSpPr/>
          <p:nvPr/>
        </p:nvSpPr>
        <p:spPr>
          <a:xfrm>
            <a:off x="9857232" y="2551175"/>
            <a:ext cx="1353312"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57232" y="2560319"/>
            <a:ext cx="1353312" cy="274320"/>
          </a:xfrm>
          <a:prstGeom prst="rect">
            <a:avLst/>
          </a:prstGeom>
          <a:noFill/>
        </p:spPr>
        <p:txBody>
          <a:bodyPr wrap="square" lIns="45720" rIns="45720" anchor="t">
            <a:spAutoFit/>
          </a:bodyPr>
          <a:lstStyle/>
          <a:p>
            <a:pPr algn="ctr">
              <a:defRPr sz="1000" b="1">
                <a:solidFill>
                  <a:srgbClr val="FFFFFF"/>
                </a:solidFill>
                <a:latin typeface="Aptos"/>
              </a:defRPr>
            </a:pPr>
            <a:r>
              <a:t>COMPLETE</a:t>
            </a:r>
          </a:p>
        </p:txBody>
      </p:sp>
      <p:sp>
        <p:nvSpPr>
          <p:cNvPr id="21" name="Rounded Rectangle 20"/>
          <p:cNvSpPr/>
          <p:nvPr/>
        </p:nvSpPr>
        <p:spPr>
          <a:xfrm>
            <a:off x="640080" y="3291839"/>
            <a:ext cx="10881360" cy="896112"/>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22960" y="3474720"/>
            <a:ext cx="1298448"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483863"/>
            <a:ext cx="1298448" cy="274320"/>
          </a:xfrm>
          <a:prstGeom prst="rect">
            <a:avLst/>
          </a:prstGeom>
          <a:noFill/>
        </p:spPr>
        <p:txBody>
          <a:bodyPr wrap="square" lIns="45720" rIns="45720" anchor="t">
            <a:spAutoFit/>
          </a:bodyPr>
          <a:lstStyle/>
          <a:p>
            <a:pPr algn="ctr">
              <a:defRPr sz="1000" b="1">
                <a:solidFill>
                  <a:srgbClr val="FFFFFF"/>
                </a:solidFill>
                <a:latin typeface="Aptos"/>
              </a:defRPr>
            </a:pPr>
            <a:r>
              <a:t>MODULE 4</a:t>
            </a:r>
          </a:p>
        </p:txBody>
      </p:sp>
      <p:sp>
        <p:nvSpPr>
          <p:cNvPr id="24" name="TextBox 23"/>
          <p:cNvSpPr txBox="1"/>
          <p:nvPr/>
        </p:nvSpPr>
        <p:spPr>
          <a:xfrm>
            <a:off x="2331720" y="3447287"/>
            <a:ext cx="2606040" cy="347472"/>
          </a:xfrm>
          <a:prstGeom prst="rect">
            <a:avLst/>
          </a:prstGeom>
          <a:noFill/>
        </p:spPr>
        <p:txBody>
          <a:bodyPr wrap="square" lIns="45720" rIns="45720" anchor="t">
            <a:spAutoFit/>
          </a:bodyPr>
          <a:lstStyle/>
          <a:p>
            <a:pPr algn="l">
              <a:defRPr sz="1600" b="1">
                <a:solidFill>
                  <a:srgbClr val="182230"/>
                </a:solidFill>
                <a:latin typeface="Aptos"/>
              </a:defRPr>
            </a:pPr>
            <a:r>
              <a:t>Completed via Fast-DetectGPT</a:t>
            </a:r>
          </a:p>
        </p:txBody>
      </p:sp>
      <p:sp>
        <p:nvSpPr>
          <p:cNvPr id="25" name="TextBox 24"/>
          <p:cNvSpPr txBox="1"/>
          <p:nvPr/>
        </p:nvSpPr>
        <p:spPr>
          <a:xfrm>
            <a:off x="4956048" y="3419856"/>
            <a:ext cx="4617720" cy="502920"/>
          </a:xfrm>
          <a:prstGeom prst="rect">
            <a:avLst/>
          </a:prstGeom>
          <a:noFill/>
        </p:spPr>
        <p:txBody>
          <a:bodyPr wrap="square" lIns="45720" rIns="45720" anchor="t">
            <a:spAutoFit/>
          </a:bodyPr>
          <a:lstStyle/>
          <a:p>
            <a:pPr algn="l">
              <a:defRPr sz="1250" b="0">
                <a:solidFill>
                  <a:srgbClr val="5D6B7A"/>
                </a:solidFill>
                <a:latin typeface="Aptos"/>
              </a:defRPr>
            </a:pPr>
            <a:r>
              <a:t>Official API evaluated on N=30; Binoculars' calibrated 14B pair exceeds 8 GB VRAM.</a:t>
            </a:r>
          </a:p>
        </p:txBody>
      </p:sp>
      <p:sp>
        <p:nvSpPr>
          <p:cNvPr id="26" name="Rounded Rectangle 25"/>
          <p:cNvSpPr/>
          <p:nvPr/>
        </p:nvSpPr>
        <p:spPr>
          <a:xfrm>
            <a:off x="9857232" y="3584447"/>
            <a:ext cx="1353312"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57232" y="3593591"/>
            <a:ext cx="1353312" cy="274320"/>
          </a:xfrm>
          <a:prstGeom prst="rect">
            <a:avLst/>
          </a:prstGeom>
          <a:noFill/>
        </p:spPr>
        <p:txBody>
          <a:bodyPr wrap="square" lIns="45720" rIns="45720" anchor="t">
            <a:spAutoFit/>
          </a:bodyPr>
          <a:lstStyle/>
          <a:p>
            <a:pPr algn="ctr">
              <a:defRPr sz="1000" b="1">
                <a:solidFill>
                  <a:srgbClr val="FFFFFF"/>
                </a:solidFill>
                <a:latin typeface="Aptos"/>
              </a:defRPr>
            </a:pPr>
            <a:r>
              <a:t>COMPLETE</a:t>
            </a:r>
          </a:p>
        </p:txBody>
      </p:sp>
      <p:sp>
        <p:nvSpPr>
          <p:cNvPr id="28" name="Rounded Rectangle 27"/>
          <p:cNvSpPr/>
          <p:nvPr/>
        </p:nvSpPr>
        <p:spPr>
          <a:xfrm>
            <a:off x="640080" y="4325112"/>
            <a:ext cx="10881360" cy="896112"/>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22960" y="4507992"/>
            <a:ext cx="1298448" cy="310896"/>
          </a:xfrm>
          <a:prstGeom prst="roundRect">
            <a:avLst>
              <a:gd name="adj" fmla="val 12000"/>
            </a:avLst>
          </a:prstGeom>
          <a:solidFill>
            <a:srgbClr val="EF4444"/>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517136"/>
            <a:ext cx="1298448" cy="274320"/>
          </a:xfrm>
          <a:prstGeom prst="rect">
            <a:avLst/>
          </a:prstGeom>
          <a:noFill/>
        </p:spPr>
        <p:txBody>
          <a:bodyPr wrap="square" lIns="45720" rIns="45720" anchor="t">
            <a:spAutoFit/>
          </a:bodyPr>
          <a:lstStyle/>
          <a:p>
            <a:pPr algn="ctr">
              <a:defRPr sz="1000" b="1">
                <a:solidFill>
                  <a:srgbClr val="FFFFFF"/>
                </a:solidFill>
                <a:latin typeface="Aptos"/>
              </a:defRPr>
            </a:pPr>
            <a:r>
              <a:t>MODULE 6</a:t>
            </a:r>
          </a:p>
        </p:txBody>
      </p:sp>
      <p:sp>
        <p:nvSpPr>
          <p:cNvPr id="31" name="TextBox 30"/>
          <p:cNvSpPr txBox="1"/>
          <p:nvPr/>
        </p:nvSpPr>
        <p:spPr>
          <a:xfrm>
            <a:off x="2331720" y="4480559"/>
            <a:ext cx="2606040" cy="347472"/>
          </a:xfrm>
          <a:prstGeom prst="rect">
            <a:avLst/>
          </a:prstGeom>
          <a:noFill/>
        </p:spPr>
        <p:txBody>
          <a:bodyPr wrap="square" lIns="45720" rIns="45720" anchor="t">
            <a:spAutoFit/>
          </a:bodyPr>
          <a:lstStyle/>
          <a:p>
            <a:pPr algn="l">
              <a:defRPr sz="1600" b="1">
                <a:solidFill>
                  <a:srgbClr val="182230"/>
                </a:solidFill>
                <a:latin typeface="Aptos"/>
              </a:defRPr>
            </a:pPr>
            <a:r>
              <a:t>Comparison scaffold only</a:t>
            </a:r>
          </a:p>
        </p:txBody>
      </p:sp>
      <p:sp>
        <p:nvSpPr>
          <p:cNvPr id="32" name="TextBox 31"/>
          <p:cNvSpPr txBox="1"/>
          <p:nvPr/>
        </p:nvSpPr>
        <p:spPr>
          <a:xfrm>
            <a:off x="4956048" y="4453127"/>
            <a:ext cx="4617720" cy="502920"/>
          </a:xfrm>
          <a:prstGeom prst="rect">
            <a:avLst/>
          </a:prstGeom>
          <a:noFill/>
        </p:spPr>
        <p:txBody>
          <a:bodyPr wrap="square" lIns="45720" rIns="45720" anchor="t">
            <a:spAutoFit/>
          </a:bodyPr>
          <a:lstStyle/>
          <a:p>
            <a:pPr algn="l">
              <a:defRPr sz="1250" b="0">
                <a:solidFill>
                  <a:srgbClr val="5D6B7A"/>
                </a:solidFill>
                <a:latin typeface="Aptos"/>
              </a:defRPr>
            </a:pPr>
            <a:r>
              <a:t>Shared import/evaluation code exists, but no scite/SemanticCite predictions were available.</a:t>
            </a:r>
          </a:p>
        </p:txBody>
      </p:sp>
      <p:sp>
        <p:nvSpPr>
          <p:cNvPr id="33" name="Rounded Rectangle 32"/>
          <p:cNvSpPr/>
          <p:nvPr/>
        </p:nvSpPr>
        <p:spPr>
          <a:xfrm>
            <a:off x="9857232" y="4617720"/>
            <a:ext cx="1353312" cy="310896"/>
          </a:xfrm>
          <a:prstGeom prst="roundRect">
            <a:avLst>
              <a:gd name="adj" fmla="val 12000"/>
            </a:avLst>
          </a:prstGeom>
          <a:solidFill>
            <a:srgbClr val="EF4444"/>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57232" y="4626864"/>
            <a:ext cx="1353312" cy="274320"/>
          </a:xfrm>
          <a:prstGeom prst="rect">
            <a:avLst/>
          </a:prstGeom>
          <a:noFill/>
        </p:spPr>
        <p:txBody>
          <a:bodyPr wrap="square" lIns="45720" rIns="45720" anchor="t">
            <a:spAutoFit/>
          </a:bodyPr>
          <a:lstStyle/>
          <a:p>
            <a:pPr algn="ctr">
              <a:defRPr sz="1000" b="1">
                <a:solidFill>
                  <a:srgbClr val="FFFFFF"/>
                </a:solidFill>
                <a:latin typeface="Aptos"/>
              </a:defRPr>
            </a:pPr>
            <a:r>
              <a:t>FUTURE</a:t>
            </a:r>
          </a:p>
        </p:txBody>
      </p:sp>
      <p:sp>
        <p:nvSpPr>
          <p:cNvPr id="35" name="TextBox 34"/>
          <p:cNvSpPr txBox="1"/>
          <p:nvPr/>
        </p:nvSpPr>
        <p:spPr>
          <a:xfrm>
            <a:off x="841248" y="5513832"/>
            <a:ext cx="10515600" cy="365760"/>
          </a:xfrm>
          <a:prstGeom prst="rect">
            <a:avLst/>
          </a:prstGeom>
          <a:noFill/>
        </p:spPr>
        <p:txBody>
          <a:bodyPr wrap="square" lIns="45720" rIns="45720" anchor="t">
            <a:spAutoFit/>
          </a:bodyPr>
          <a:lstStyle/>
          <a:p>
            <a:pPr algn="ctr">
              <a:defRPr sz="1400" b="1">
                <a:solidFill>
                  <a:srgbClr val="0B132B"/>
                </a:solidFill>
                <a:latin typeface="Aptos"/>
              </a:defRPr>
            </a:pPr>
            <a:r>
              <a:t>Claimed as complete: Core Modules 1–3 + Optional Modules 4 and 5 • Module 6 remains future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TECHNICAL DEPTH</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Technical decisions and trade-offs</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1:00</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06</a:t>
            </a:r>
          </a:p>
        </p:txBody>
      </p:sp>
      <p:sp>
        <p:nvSpPr>
          <p:cNvPr id="7" name="Rounded Rectangle 6"/>
          <p:cNvSpPr/>
          <p:nvPr/>
        </p:nvSpPr>
        <p:spPr>
          <a:xfrm>
            <a:off x="640080" y="1298448"/>
            <a:ext cx="10881360" cy="694944"/>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481328"/>
            <a:ext cx="111556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490472"/>
            <a:ext cx="1115568" cy="274320"/>
          </a:xfrm>
          <a:prstGeom prst="rect">
            <a:avLst/>
          </a:prstGeom>
          <a:noFill/>
        </p:spPr>
        <p:txBody>
          <a:bodyPr wrap="square" lIns="45720" rIns="45720" anchor="t">
            <a:spAutoFit/>
          </a:bodyPr>
          <a:lstStyle/>
          <a:p>
            <a:pPr algn="ctr">
              <a:defRPr sz="1000" b="1">
                <a:solidFill>
                  <a:srgbClr val="FFFFFF"/>
                </a:solidFill>
                <a:latin typeface="Aptos"/>
              </a:defRPr>
            </a:pPr>
            <a:r>
              <a:t>RETRIEVAL</a:t>
            </a:r>
          </a:p>
        </p:txBody>
      </p:sp>
      <p:sp>
        <p:nvSpPr>
          <p:cNvPr id="10" name="TextBox 9"/>
          <p:cNvSpPr txBox="1"/>
          <p:nvPr/>
        </p:nvSpPr>
        <p:spPr>
          <a:xfrm>
            <a:off x="2176272" y="1444751"/>
            <a:ext cx="3017520" cy="365760"/>
          </a:xfrm>
          <a:prstGeom prst="rect">
            <a:avLst/>
          </a:prstGeom>
          <a:noFill/>
        </p:spPr>
        <p:txBody>
          <a:bodyPr wrap="square" lIns="45720" rIns="45720" anchor="t">
            <a:spAutoFit/>
          </a:bodyPr>
          <a:lstStyle/>
          <a:p>
            <a:pPr algn="l">
              <a:defRPr sz="1600" b="1">
                <a:solidFill>
                  <a:srgbClr val="182230"/>
                </a:solidFill>
                <a:latin typeface="Aptos"/>
              </a:defRPr>
            </a:pPr>
            <a:r>
              <a:t>all-MiniLM-L6-v2</a:t>
            </a:r>
          </a:p>
        </p:txBody>
      </p:sp>
      <p:sp>
        <p:nvSpPr>
          <p:cNvPr id="11" name="TextBox 10"/>
          <p:cNvSpPr txBox="1"/>
          <p:nvPr/>
        </p:nvSpPr>
        <p:spPr>
          <a:xfrm>
            <a:off x="5321808" y="1444751"/>
            <a:ext cx="5806440" cy="384048"/>
          </a:xfrm>
          <a:prstGeom prst="rect">
            <a:avLst/>
          </a:prstGeom>
          <a:noFill/>
        </p:spPr>
        <p:txBody>
          <a:bodyPr wrap="square" lIns="45720" rIns="45720" anchor="t">
            <a:spAutoFit/>
          </a:bodyPr>
          <a:lstStyle/>
          <a:p>
            <a:pPr algn="l">
              <a:defRPr sz="1400" b="0">
                <a:solidFill>
                  <a:srgbClr val="5D6B7A"/>
                </a:solidFill>
                <a:latin typeface="Aptos"/>
              </a:defRPr>
            </a:pPr>
            <a:r>
              <a:t>Semantic matching; cosine fallback on Windows</a:t>
            </a:r>
          </a:p>
        </p:txBody>
      </p:sp>
      <p:sp>
        <p:nvSpPr>
          <p:cNvPr id="12" name="Rounded Rectangle 11"/>
          <p:cNvSpPr/>
          <p:nvPr/>
        </p:nvSpPr>
        <p:spPr>
          <a:xfrm>
            <a:off x="640080" y="2194560"/>
            <a:ext cx="10881360" cy="694944"/>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2377440"/>
            <a:ext cx="1115568" cy="310896"/>
          </a:xfrm>
          <a:prstGeom prst="roundRect">
            <a:avLst>
              <a:gd name="adj" fmla="val 12000"/>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2386584"/>
            <a:ext cx="1115568" cy="274320"/>
          </a:xfrm>
          <a:prstGeom prst="rect">
            <a:avLst/>
          </a:prstGeom>
          <a:noFill/>
        </p:spPr>
        <p:txBody>
          <a:bodyPr wrap="square" lIns="45720" rIns="45720" anchor="t">
            <a:spAutoFit/>
          </a:bodyPr>
          <a:lstStyle/>
          <a:p>
            <a:pPr algn="ctr">
              <a:defRPr sz="1000" b="1">
                <a:solidFill>
                  <a:srgbClr val="FFFFFF"/>
                </a:solidFill>
                <a:latin typeface="Aptos"/>
              </a:defRPr>
            </a:pPr>
            <a:r>
              <a:t>METADATA</a:t>
            </a:r>
          </a:p>
        </p:txBody>
      </p:sp>
      <p:sp>
        <p:nvSpPr>
          <p:cNvPr id="15" name="TextBox 14"/>
          <p:cNvSpPr txBox="1"/>
          <p:nvPr/>
        </p:nvSpPr>
        <p:spPr>
          <a:xfrm>
            <a:off x="2176272" y="2340864"/>
            <a:ext cx="3017520" cy="365760"/>
          </a:xfrm>
          <a:prstGeom prst="rect">
            <a:avLst/>
          </a:prstGeom>
          <a:noFill/>
        </p:spPr>
        <p:txBody>
          <a:bodyPr wrap="square" lIns="45720" rIns="45720" anchor="t">
            <a:spAutoFit/>
          </a:bodyPr>
          <a:lstStyle/>
          <a:p>
            <a:pPr algn="l">
              <a:defRPr sz="1600" b="1">
                <a:solidFill>
                  <a:srgbClr val="182230"/>
                </a:solidFill>
                <a:latin typeface="Aptos"/>
              </a:defRPr>
            </a:pPr>
            <a:r>
              <a:t>CrossRef • OpenAlex • S2</a:t>
            </a:r>
          </a:p>
        </p:txBody>
      </p:sp>
      <p:sp>
        <p:nvSpPr>
          <p:cNvPr id="16" name="TextBox 15"/>
          <p:cNvSpPr txBox="1"/>
          <p:nvPr/>
        </p:nvSpPr>
        <p:spPr>
          <a:xfrm>
            <a:off x="5321808" y="2340864"/>
            <a:ext cx="5806440" cy="384048"/>
          </a:xfrm>
          <a:prstGeom prst="rect">
            <a:avLst/>
          </a:prstGeom>
          <a:noFill/>
        </p:spPr>
        <p:txBody>
          <a:bodyPr wrap="square" lIns="45720" rIns="45720" anchor="t">
            <a:spAutoFit/>
          </a:bodyPr>
          <a:lstStyle/>
          <a:p>
            <a:pPr algn="l">
              <a:defRPr sz="1400" b="0">
                <a:solidFill>
                  <a:srgbClr val="5D6B7A"/>
                </a:solidFill>
                <a:latin typeface="Aptos"/>
              </a:defRPr>
            </a:pPr>
            <a:r>
              <a:t>Coverage across DOI, title, authors, OA status</a:t>
            </a:r>
          </a:p>
        </p:txBody>
      </p:sp>
      <p:sp>
        <p:nvSpPr>
          <p:cNvPr id="17" name="Rounded Rectangle 16"/>
          <p:cNvSpPr/>
          <p:nvPr/>
        </p:nvSpPr>
        <p:spPr>
          <a:xfrm>
            <a:off x="640080" y="3090672"/>
            <a:ext cx="10881360" cy="694944"/>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 y="3273552"/>
            <a:ext cx="111556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282696"/>
            <a:ext cx="1115568" cy="274320"/>
          </a:xfrm>
          <a:prstGeom prst="rect">
            <a:avLst/>
          </a:prstGeom>
          <a:noFill/>
        </p:spPr>
        <p:txBody>
          <a:bodyPr wrap="square" lIns="45720" rIns="45720" anchor="t">
            <a:spAutoFit/>
          </a:bodyPr>
          <a:lstStyle/>
          <a:p>
            <a:pPr algn="ctr">
              <a:defRPr sz="1000" b="1">
                <a:solidFill>
                  <a:srgbClr val="FFFFFF"/>
                </a:solidFill>
                <a:latin typeface="Aptos"/>
              </a:defRPr>
            </a:pPr>
            <a:r>
              <a:t>LOCAL MODEL</a:t>
            </a:r>
          </a:p>
        </p:txBody>
      </p:sp>
      <p:sp>
        <p:nvSpPr>
          <p:cNvPr id="20" name="TextBox 19"/>
          <p:cNvSpPr txBox="1"/>
          <p:nvPr/>
        </p:nvSpPr>
        <p:spPr>
          <a:xfrm>
            <a:off x="2176272" y="3236976"/>
            <a:ext cx="3017520" cy="365760"/>
          </a:xfrm>
          <a:prstGeom prst="rect">
            <a:avLst/>
          </a:prstGeom>
          <a:noFill/>
        </p:spPr>
        <p:txBody>
          <a:bodyPr wrap="square" lIns="45720" rIns="45720" anchor="t">
            <a:spAutoFit/>
          </a:bodyPr>
          <a:lstStyle/>
          <a:p>
            <a:pPr algn="l">
              <a:defRPr sz="1600" b="1">
                <a:solidFill>
                  <a:srgbClr val="182230"/>
                </a:solidFill>
                <a:latin typeface="Aptos"/>
              </a:defRPr>
            </a:pPr>
            <a:r>
              <a:t>Ollama / qwen3:1.7b</a:t>
            </a:r>
          </a:p>
        </p:txBody>
      </p:sp>
      <p:sp>
        <p:nvSpPr>
          <p:cNvPr id="21" name="TextBox 20"/>
          <p:cNvSpPr txBox="1"/>
          <p:nvPr/>
        </p:nvSpPr>
        <p:spPr>
          <a:xfrm>
            <a:off x="5321808" y="3236976"/>
            <a:ext cx="5806440" cy="384048"/>
          </a:xfrm>
          <a:prstGeom prst="rect">
            <a:avLst/>
          </a:prstGeom>
          <a:noFill/>
        </p:spPr>
        <p:txBody>
          <a:bodyPr wrap="square" lIns="45720" rIns="45720" anchor="t">
            <a:spAutoFit/>
          </a:bodyPr>
          <a:lstStyle/>
          <a:p>
            <a:pPr algn="l">
              <a:defRPr sz="1400" b="0">
                <a:solidFill>
                  <a:srgbClr val="5D6B7A"/>
                </a:solidFill>
                <a:latin typeface="Aptos"/>
              </a:defRPr>
            </a:pPr>
            <a:r>
              <a:t>Private and offline; slower on this machine</a:t>
            </a:r>
          </a:p>
        </p:txBody>
      </p:sp>
      <p:sp>
        <p:nvSpPr>
          <p:cNvPr id="22" name="Rounded Rectangle 21"/>
          <p:cNvSpPr/>
          <p:nvPr/>
        </p:nvSpPr>
        <p:spPr>
          <a:xfrm>
            <a:off x="640080" y="3986783"/>
            <a:ext cx="10881360" cy="694944"/>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4672" y="4169663"/>
            <a:ext cx="1115568" cy="310896"/>
          </a:xfrm>
          <a:prstGeom prst="roundRect">
            <a:avLst>
              <a:gd name="adj" fmla="val 12000"/>
            </a:avLst>
          </a:prstGeom>
          <a:solidFill>
            <a:srgbClr val="38BDF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78807"/>
            <a:ext cx="1115568" cy="274320"/>
          </a:xfrm>
          <a:prstGeom prst="rect">
            <a:avLst/>
          </a:prstGeom>
          <a:noFill/>
        </p:spPr>
        <p:txBody>
          <a:bodyPr wrap="square" lIns="45720" rIns="45720" anchor="t">
            <a:spAutoFit/>
          </a:bodyPr>
          <a:lstStyle/>
          <a:p>
            <a:pPr algn="ctr">
              <a:defRPr sz="1000" b="1">
                <a:solidFill>
                  <a:srgbClr val="FFFFFF"/>
                </a:solidFill>
                <a:latin typeface="Aptos"/>
              </a:defRPr>
            </a:pPr>
            <a:r>
              <a:t>FRONTIER</a:t>
            </a:r>
          </a:p>
        </p:txBody>
      </p:sp>
      <p:sp>
        <p:nvSpPr>
          <p:cNvPr id="25" name="TextBox 24"/>
          <p:cNvSpPr txBox="1"/>
          <p:nvPr/>
        </p:nvSpPr>
        <p:spPr>
          <a:xfrm>
            <a:off x="2176272" y="4133087"/>
            <a:ext cx="3017520" cy="365760"/>
          </a:xfrm>
          <a:prstGeom prst="rect">
            <a:avLst/>
          </a:prstGeom>
          <a:noFill/>
        </p:spPr>
        <p:txBody>
          <a:bodyPr wrap="square" lIns="45720" rIns="45720" anchor="t">
            <a:spAutoFit/>
          </a:bodyPr>
          <a:lstStyle/>
          <a:p>
            <a:pPr algn="l">
              <a:defRPr sz="1600" b="1">
                <a:solidFill>
                  <a:srgbClr val="182230"/>
                </a:solidFill>
                <a:latin typeface="Aptos"/>
              </a:defRPr>
            </a:pPr>
            <a:r>
              <a:t>OpenAI gpt-5.4-mini</a:t>
            </a:r>
          </a:p>
        </p:txBody>
      </p:sp>
      <p:sp>
        <p:nvSpPr>
          <p:cNvPr id="26" name="TextBox 25"/>
          <p:cNvSpPr txBox="1"/>
          <p:nvPr/>
        </p:nvSpPr>
        <p:spPr>
          <a:xfrm>
            <a:off x="5321808" y="4133087"/>
            <a:ext cx="5806440" cy="384048"/>
          </a:xfrm>
          <a:prstGeom prst="rect">
            <a:avLst/>
          </a:prstGeom>
          <a:noFill/>
        </p:spPr>
        <p:txBody>
          <a:bodyPr wrap="square" lIns="45720" rIns="45720" anchor="t">
            <a:spAutoFit/>
          </a:bodyPr>
          <a:lstStyle/>
          <a:p>
            <a:pPr algn="l">
              <a:defRPr sz="1400" b="0">
                <a:solidFill>
                  <a:srgbClr val="5D6B7A"/>
                </a:solidFill>
                <a:latin typeface="Aptos"/>
              </a:defRPr>
            </a:pPr>
            <a:r>
              <a:t>Fast structured output; paid and external</a:t>
            </a:r>
          </a:p>
        </p:txBody>
      </p:sp>
      <p:sp>
        <p:nvSpPr>
          <p:cNvPr id="27" name="Rounded Rectangle 26"/>
          <p:cNvSpPr/>
          <p:nvPr/>
        </p:nvSpPr>
        <p:spPr>
          <a:xfrm>
            <a:off x="640080" y="4882896"/>
            <a:ext cx="10881360" cy="694944"/>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04672" y="5065776"/>
            <a:ext cx="1115568"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074920"/>
            <a:ext cx="1115568" cy="274320"/>
          </a:xfrm>
          <a:prstGeom prst="rect">
            <a:avLst/>
          </a:prstGeom>
          <a:noFill/>
        </p:spPr>
        <p:txBody>
          <a:bodyPr wrap="square" lIns="45720" rIns="45720" anchor="t">
            <a:spAutoFit/>
          </a:bodyPr>
          <a:lstStyle/>
          <a:p>
            <a:pPr algn="ctr">
              <a:defRPr sz="1000" b="1">
                <a:solidFill>
                  <a:srgbClr val="FFFFFF"/>
                </a:solidFill>
                <a:latin typeface="Aptos"/>
              </a:defRPr>
            </a:pPr>
            <a:r>
              <a:t>FINE-TUNED</a:t>
            </a:r>
          </a:p>
        </p:txBody>
      </p:sp>
      <p:sp>
        <p:nvSpPr>
          <p:cNvPr id="30" name="TextBox 29"/>
          <p:cNvSpPr txBox="1"/>
          <p:nvPr/>
        </p:nvSpPr>
        <p:spPr>
          <a:xfrm>
            <a:off x="2176272" y="5029200"/>
            <a:ext cx="3017520" cy="365760"/>
          </a:xfrm>
          <a:prstGeom prst="rect">
            <a:avLst/>
          </a:prstGeom>
          <a:noFill/>
        </p:spPr>
        <p:txBody>
          <a:bodyPr wrap="square" lIns="45720" rIns="45720" anchor="t">
            <a:spAutoFit/>
          </a:bodyPr>
          <a:lstStyle/>
          <a:p>
            <a:pPr algn="l">
              <a:defRPr sz="1600" b="1">
                <a:solidFill>
                  <a:srgbClr val="182230"/>
                </a:solidFill>
                <a:latin typeface="Aptos"/>
              </a:defRPr>
            </a:pPr>
            <a:r>
              <a:t>SciFact LoRA</a:t>
            </a:r>
          </a:p>
        </p:txBody>
      </p:sp>
      <p:sp>
        <p:nvSpPr>
          <p:cNvPr id="31" name="TextBox 30"/>
          <p:cNvSpPr txBox="1"/>
          <p:nvPr/>
        </p:nvSpPr>
        <p:spPr>
          <a:xfrm>
            <a:off x="5321808" y="5029200"/>
            <a:ext cx="5806440" cy="384048"/>
          </a:xfrm>
          <a:prstGeom prst="rect">
            <a:avLst/>
          </a:prstGeom>
          <a:noFill/>
        </p:spPr>
        <p:txBody>
          <a:bodyPr wrap="square" lIns="45720" rIns="45720" anchor="t">
            <a:spAutoFit/>
          </a:bodyPr>
          <a:lstStyle/>
          <a:p>
            <a:pPr algn="l">
              <a:defRPr sz="1400" b="0">
                <a:solidFill>
                  <a:srgbClr val="5D6B7A"/>
                </a:solidFill>
                <a:latin typeface="Aptos"/>
              </a:defRPr>
            </a:pPr>
            <a:r>
              <a:t>Cheap local inference; three-label taxonomy</a:t>
            </a:r>
          </a:p>
        </p:txBody>
      </p:sp>
      <p:sp>
        <p:nvSpPr>
          <p:cNvPr id="32" name="TextBox 31"/>
          <p:cNvSpPr txBox="1"/>
          <p:nvPr/>
        </p:nvSpPr>
        <p:spPr>
          <a:xfrm>
            <a:off x="822960" y="5879592"/>
            <a:ext cx="10607040" cy="292608"/>
          </a:xfrm>
          <a:prstGeom prst="rect">
            <a:avLst/>
          </a:prstGeom>
          <a:noFill/>
        </p:spPr>
        <p:txBody>
          <a:bodyPr wrap="square" lIns="45720" rIns="45720" anchor="t">
            <a:spAutoFit/>
          </a:bodyPr>
          <a:lstStyle/>
          <a:p>
            <a:pPr algn="ctr">
              <a:defRPr sz="1400" b="1">
                <a:solidFill>
                  <a:srgbClr val="0B132B"/>
                </a:solidFill>
                <a:latin typeface="Aptos"/>
              </a:defRPr>
            </a:pPr>
            <a:r>
              <a:t>Design principle: graceful degradation — APIs or embeddings may fail without stopping the report.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DEMO</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Demo on our real RQ5 report</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1:15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07</a:t>
            </a:r>
          </a:p>
        </p:txBody>
      </p:sp>
      <p:sp>
        <p:nvSpPr>
          <p:cNvPr id="7" name="Rounded Rectangle 6"/>
          <p:cNvSpPr/>
          <p:nvPr/>
        </p:nvSpPr>
        <p:spPr>
          <a:xfrm>
            <a:off x="566928" y="1234440"/>
            <a:ext cx="6492240" cy="1234440"/>
          </a:xfrm>
          <a:prstGeom prst="roundRect">
            <a:avLst>
              <a:gd name="adj" fmla="val 12000"/>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89888"/>
            <a:ext cx="5989320" cy="219456"/>
          </a:xfrm>
          <a:prstGeom prst="rect">
            <a:avLst/>
          </a:prstGeom>
          <a:noFill/>
        </p:spPr>
        <p:txBody>
          <a:bodyPr wrap="square" lIns="45720" rIns="45720" anchor="t">
            <a:spAutoFit/>
          </a:bodyPr>
          <a:lstStyle/>
          <a:p>
            <a:pPr algn="l">
              <a:defRPr sz="1000" b="1">
                <a:solidFill>
                  <a:srgbClr val="38BDF8"/>
                </a:solidFill>
                <a:latin typeface="Consolas"/>
              </a:defRPr>
            </a:pPr>
            <a:r>
              <a:t>POWERSHELL</a:t>
            </a:r>
          </a:p>
        </p:txBody>
      </p:sp>
      <p:sp>
        <p:nvSpPr>
          <p:cNvPr id="9" name="TextBox 8"/>
          <p:cNvSpPr txBox="1"/>
          <p:nvPr/>
        </p:nvSpPr>
        <p:spPr>
          <a:xfrm>
            <a:off x="822960" y="1664208"/>
            <a:ext cx="5989320" cy="621792"/>
          </a:xfrm>
          <a:prstGeom prst="rect">
            <a:avLst/>
          </a:prstGeom>
          <a:noFill/>
        </p:spPr>
        <p:txBody>
          <a:bodyPr wrap="square" lIns="45720" rIns="45720" anchor="t">
            <a:spAutoFit/>
          </a:bodyPr>
          <a:lstStyle/>
          <a:p>
            <a:pPr algn="l">
              <a:defRPr sz="1150" b="0">
                <a:solidFill>
                  <a:srgbClr val="FFFFFF"/>
                </a:solidFill>
                <a:latin typeface="Consolas"/>
              </a:defRPr>
            </a:pPr>
            <a:r>
              <a:t>python -m scripts.run_claimguard `</a:t>
            </a:r>
            <a:br/>
            <a:r>
              <a:t>  --input data/reports/NW2_RQ5_Report.pdf --verifier openai `</a:t>
            </a:r>
            <a:br/>
            <a:r>
              <a:t>  --output outputs/examples/rq5_openai.json --markdown-output outputs/examples/rq5_openai.md</a:t>
            </a:r>
          </a:p>
        </p:txBody>
      </p:sp>
      <p:sp>
        <p:nvSpPr>
          <p:cNvPr id="10" name="Rounded Rectangle 9"/>
          <p:cNvSpPr/>
          <p:nvPr/>
        </p:nvSpPr>
        <p:spPr>
          <a:xfrm>
            <a:off x="7360920" y="1234440"/>
            <a:ext cx="123444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5512" y="1371600"/>
            <a:ext cx="905256" cy="438912"/>
          </a:xfrm>
          <a:prstGeom prst="rect">
            <a:avLst/>
          </a:prstGeom>
          <a:noFill/>
        </p:spPr>
        <p:txBody>
          <a:bodyPr wrap="square" lIns="45720" rIns="45720" anchor="t">
            <a:spAutoFit/>
          </a:bodyPr>
          <a:lstStyle/>
          <a:p>
            <a:pPr algn="l">
              <a:defRPr sz="2700" b="1">
                <a:solidFill>
                  <a:srgbClr val="2563EB"/>
                </a:solidFill>
                <a:latin typeface="Aptos"/>
              </a:defRPr>
            </a:pPr>
            <a:r>
              <a:t>137</a:t>
            </a:r>
          </a:p>
        </p:txBody>
      </p:sp>
      <p:sp>
        <p:nvSpPr>
          <p:cNvPr id="12" name="TextBox 11"/>
          <p:cNvSpPr txBox="1"/>
          <p:nvPr/>
        </p:nvSpPr>
        <p:spPr>
          <a:xfrm>
            <a:off x="7525512" y="1856232"/>
            <a:ext cx="905256" cy="237744"/>
          </a:xfrm>
          <a:prstGeom prst="rect">
            <a:avLst/>
          </a:prstGeom>
          <a:noFill/>
        </p:spPr>
        <p:txBody>
          <a:bodyPr wrap="square" lIns="45720" rIns="45720" anchor="t">
            <a:spAutoFit/>
          </a:bodyPr>
          <a:lstStyle/>
          <a:p>
            <a:pPr algn="l">
              <a:defRPr sz="1200" b="1">
                <a:solidFill>
                  <a:srgbClr val="182230"/>
                </a:solidFill>
                <a:latin typeface="Aptos"/>
              </a:defRPr>
            </a:pPr>
            <a:r>
              <a:t>sentences</a:t>
            </a:r>
          </a:p>
        </p:txBody>
      </p:sp>
      <p:sp>
        <p:nvSpPr>
          <p:cNvPr id="13" name="Rounded Rectangle 12"/>
          <p:cNvSpPr/>
          <p:nvPr/>
        </p:nvSpPr>
        <p:spPr>
          <a:xfrm>
            <a:off x="8750808" y="1234440"/>
            <a:ext cx="123444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1371600"/>
            <a:ext cx="905256" cy="438912"/>
          </a:xfrm>
          <a:prstGeom prst="rect">
            <a:avLst/>
          </a:prstGeom>
          <a:noFill/>
        </p:spPr>
        <p:txBody>
          <a:bodyPr wrap="square" lIns="45720" rIns="45720" anchor="t">
            <a:spAutoFit/>
          </a:bodyPr>
          <a:lstStyle/>
          <a:p>
            <a:pPr algn="l">
              <a:defRPr sz="2700" b="1">
                <a:solidFill>
                  <a:srgbClr val="8B5CF6"/>
                </a:solidFill>
                <a:latin typeface="Aptos"/>
              </a:defRPr>
            </a:pPr>
            <a:r>
              <a:t>65</a:t>
            </a:r>
          </a:p>
        </p:txBody>
      </p:sp>
      <p:sp>
        <p:nvSpPr>
          <p:cNvPr id="15" name="TextBox 14"/>
          <p:cNvSpPr txBox="1"/>
          <p:nvPr/>
        </p:nvSpPr>
        <p:spPr>
          <a:xfrm>
            <a:off x="8915400" y="1856232"/>
            <a:ext cx="905256" cy="237744"/>
          </a:xfrm>
          <a:prstGeom prst="rect">
            <a:avLst/>
          </a:prstGeom>
          <a:noFill/>
        </p:spPr>
        <p:txBody>
          <a:bodyPr wrap="square" lIns="45720" rIns="45720" anchor="t">
            <a:spAutoFit/>
          </a:bodyPr>
          <a:lstStyle/>
          <a:p>
            <a:pPr algn="l">
              <a:defRPr sz="1200" b="1">
                <a:solidFill>
                  <a:srgbClr val="182230"/>
                </a:solidFill>
                <a:latin typeface="Aptos"/>
              </a:defRPr>
            </a:pPr>
            <a:r>
              <a:t>factual claims</a:t>
            </a:r>
          </a:p>
        </p:txBody>
      </p:sp>
      <p:sp>
        <p:nvSpPr>
          <p:cNvPr id="16" name="Rounded Rectangle 15"/>
          <p:cNvSpPr/>
          <p:nvPr/>
        </p:nvSpPr>
        <p:spPr>
          <a:xfrm>
            <a:off x="10140696" y="1234440"/>
            <a:ext cx="123444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05288" y="1371600"/>
            <a:ext cx="905256" cy="438912"/>
          </a:xfrm>
          <a:prstGeom prst="rect">
            <a:avLst/>
          </a:prstGeom>
          <a:noFill/>
        </p:spPr>
        <p:txBody>
          <a:bodyPr wrap="square" lIns="45720" rIns="45720" anchor="t">
            <a:spAutoFit/>
          </a:bodyPr>
          <a:lstStyle/>
          <a:p>
            <a:pPr algn="l">
              <a:defRPr sz="2700" b="1">
                <a:solidFill>
                  <a:srgbClr val="EF4444"/>
                </a:solidFill>
                <a:latin typeface="Aptos"/>
              </a:defRPr>
            </a:pPr>
            <a:r>
              <a:t>21</a:t>
            </a:r>
          </a:p>
        </p:txBody>
      </p:sp>
      <p:sp>
        <p:nvSpPr>
          <p:cNvPr id="18" name="TextBox 17"/>
          <p:cNvSpPr txBox="1"/>
          <p:nvPr/>
        </p:nvSpPr>
        <p:spPr>
          <a:xfrm>
            <a:off x="10305288" y="1856232"/>
            <a:ext cx="905256" cy="237744"/>
          </a:xfrm>
          <a:prstGeom prst="rect">
            <a:avLst/>
          </a:prstGeom>
          <a:noFill/>
        </p:spPr>
        <p:txBody>
          <a:bodyPr wrap="square" lIns="45720" rIns="45720" anchor="t">
            <a:spAutoFit/>
          </a:bodyPr>
          <a:lstStyle/>
          <a:p>
            <a:pPr algn="l">
              <a:defRPr sz="1200" b="1">
                <a:solidFill>
                  <a:srgbClr val="182230"/>
                </a:solidFill>
                <a:latin typeface="Aptos"/>
              </a:defRPr>
            </a:pPr>
            <a:r>
              <a:t>citation flags</a:t>
            </a:r>
          </a:p>
        </p:txBody>
      </p:sp>
      <p:sp>
        <p:nvSpPr>
          <p:cNvPr id="19" name="TextBox 18"/>
          <p:cNvSpPr txBox="1"/>
          <p:nvPr/>
        </p:nvSpPr>
        <p:spPr>
          <a:xfrm>
            <a:off x="658368" y="2816352"/>
            <a:ext cx="4297680" cy="320040"/>
          </a:xfrm>
          <a:prstGeom prst="rect">
            <a:avLst/>
          </a:prstGeom>
          <a:noFill/>
        </p:spPr>
        <p:txBody>
          <a:bodyPr wrap="square" lIns="45720" rIns="45720" anchor="t">
            <a:spAutoFit/>
          </a:bodyPr>
          <a:lstStyle/>
          <a:p>
            <a:pPr algn="l">
              <a:defRPr sz="1200" b="1">
                <a:solidFill>
                  <a:srgbClr val="2563EB"/>
                </a:solidFill>
                <a:latin typeface="Aptos"/>
              </a:defRPr>
            </a:pPr>
            <a:r>
              <a:t>REAL CLAIM FROM SENTENCE 11</a:t>
            </a:r>
          </a:p>
        </p:txBody>
      </p:sp>
      <p:sp>
        <p:nvSpPr>
          <p:cNvPr id="20" name="Rounded Rectangle 19"/>
          <p:cNvSpPr/>
          <p:nvPr/>
        </p:nvSpPr>
        <p:spPr>
          <a:xfrm>
            <a:off x="594360" y="3182112"/>
            <a:ext cx="5166360" cy="224028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3456432"/>
            <a:ext cx="4617720" cy="868680"/>
          </a:xfrm>
          <a:prstGeom prst="rect">
            <a:avLst/>
          </a:prstGeom>
          <a:noFill/>
        </p:spPr>
        <p:txBody>
          <a:bodyPr wrap="square" lIns="45720" rIns="45720" anchor="t">
            <a:spAutoFit/>
          </a:bodyPr>
          <a:lstStyle/>
          <a:p>
            <a:pPr algn="l">
              <a:defRPr sz="1800" b="1">
                <a:solidFill>
                  <a:srgbClr val="182230"/>
                </a:solidFill>
                <a:latin typeface="Aptos"/>
              </a:defRPr>
            </a:pPr>
            <a:r>
              <a:t>“RAG connects a language model to external knowledge without changing model weights.”</a:t>
            </a:r>
          </a:p>
        </p:txBody>
      </p:sp>
      <p:sp>
        <p:nvSpPr>
          <p:cNvPr id="22" name="TextBox 21"/>
          <p:cNvSpPr txBox="1"/>
          <p:nvPr/>
        </p:nvSpPr>
        <p:spPr>
          <a:xfrm>
            <a:off x="841248" y="4645152"/>
            <a:ext cx="4572000" cy="384048"/>
          </a:xfrm>
          <a:prstGeom prst="rect">
            <a:avLst/>
          </a:prstGeom>
          <a:noFill/>
        </p:spPr>
        <p:txBody>
          <a:bodyPr wrap="square" lIns="45720" rIns="45720" anchor="t">
            <a:spAutoFit/>
          </a:bodyPr>
          <a:lstStyle/>
          <a:p>
            <a:pPr algn="l">
              <a:defRPr sz="1200" b="0">
                <a:solidFill>
                  <a:srgbClr val="5D6B7A"/>
                </a:solidFill>
                <a:latin typeface="Aptos"/>
              </a:defRPr>
            </a:pPr>
            <a:r>
              <a:t>Citations detected: [1, 3]  •  Top evidence retained</a:t>
            </a:r>
          </a:p>
        </p:txBody>
      </p:sp>
      <p:sp>
        <p:nvSpPr>
          <p:cNvPr id="23" name="Rounded Rectangle 22"/>
          <p:cNvSpPr/>
          <p:nvPr/>
        </p:nvSpPr>
        <p:spPr>
          <a:xfrm>
            <a:off x="6053328" y="3182112"/>
            <a:ext cx="2487168" cy="2240280"/>
          </a:xfrm>
          <a:prstGeom prst="roundRect">
            <a:avLst>
              <a:gd name="adj" fmla="val 12000"/>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72784" y="3401568"/>
            <a:ext cx="93268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2784" y="3410712"/>
            <a:ext cx="932688" cy="274320"/>
          </a:xfrm>
          <a:prstGeom prst="rect">
            <a:avLst/>
          </a:prstGeom>
          <a:noFill/>
        </p:spPr>
        <p:txBody>
          <a:bodyPr wrap="square" lIns="45720" rIns="45720" anchor="t">
            <a:spAutoFit/>
          </a:bodyPr>
          <a:lstStyle/>
          <a:p>
            <a:pPr algn="ctr">
              <a:defRPr sz="1000" b="1">
                <a:solidFill>
                  <a:srgbClr val="FFFFFF"/>
                </a:solidFill>
                <a:latin typeface="Aptos"/>
              </a:defRPr>
            </a:pPr>
            <a:r>
              <a:t>OPENAI</a:t>
            </a:r>
          </a:p>
        </p:txBody>
      </p:sp>
      <p:sp>
        <p:nvSpPr>
          <p:cNvPr id="26" name="TextBox 25"/>
          <p:cNvSpPr txBox="1"/>
          <p:nvPr/>
        </p:nvSpPr>
        <p:spPr>
          <a:xfrm>
            <a:off x="6272784" y="3913632"/>
            <a:ext cx="2011680" cy="475488"/>
          </a:xfrm>
          <a:prstGeom prst="rect">
            <a:avLst/>
          </a:prstGeom>
          <a:noFill/>
        </p:spPr>
        <p:txBody>
          <a:bodyPr wrap="square" lIns="45720" rIns="45720" anchor="t">
            <a:spAutoFit/>
          </a:bodyPr>
          <a:lstStyle/>
          <a:p>
            <a:pPr algn="l">
              <a:defRPr sz="1800" b="1">
                <a:solidFill>
                  <a:srgbClr val="2563EB"/>
                </a:solidFill>
                <a:latin typeface="Aptos"/>
              </a:defRPr>
            </a:pPr>
            <a:r>
              <a:t>insufficient</a:t>
            </a:r>
            <a:br/>
            <a:r>
              <a:t>evidence</a:t>
            </a:r>
          </a:p>
        </p:txBody>
      </p:sp>
      <p:sp>
        <p:nvSpPr>
          <p:cNvPr id="27" name="TextBox 26"/>
          <p:cNvSpPr txBox="1"/>
          <p:nvPr/>
        </p:nvSpPr>
        <p:spPr>
          <a:xfrm>
            <a:off x="6272784" y="4727448"/>
            <a:ext cx="2011680" cy="320040"/>
          </a:xfrm>
          <a:prstGeom prst="rect">
            <a:avLst/>
          </a:prstGeom>
          <a:noFill/>
        </p:spPr>
        <p:txBody>
          <a:bodyPr wrap="square" lIns="45720" rIns="45720" anchor="t">
            <a:spAutoFit/>
          </a:bodyPr>
          <a:lstStyle/>
          <a:p>
            <a:pPr algn="l">
              <a:defRPr sz="1100" b="0">
                <a:solidFill>
                  <a:srgbClr val="5D6B7A"/>
                </a:solidFill>
                <a:latin typeface="Aptos"/>
              </a:defRPr>
            </a:pPr>
            <a:r>
              <a:t>1.889 s • 506 tokens</a:t>
            </a:r>
          </a:p>
        </p:txBody>
      </p:sp>
      <p:sp>
        <p:nvSpPr>
          <p:cNvPr id="28" name="Rounded Rectangle 27"/>
          <p:cNvSpPr/>
          <p:nvPr/>
        </p:nvSpPr>
        <p:spPr>
          <a:xfrm>
            <a:off x="8796528" y="3182112"/>
            <a:ext cx="2487168" cy="2240280"/>
          </a:xfrm>
          <a:prstGeom prst="roundRect">
            <a:avLst>
              <a:gd name="adj" fmla="val 12000"/>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15984" y="3401568"/>
            <a:ext cx="93268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15984" y="3410712"/>
            <a:ext cx="932688" cy="274320"/>
          </a:xfrm>
          <a:prstGeom prst="rect">
            <a:avLst/>
          </a:prstGeom>
          <a:noFill/>
        </p:spPr>
        <p:txBody>
          <a:bodyPr wrap="square" lIns="45720" rIns="45720" anchor="t">
            <a:spAutoFit/>
          </a:bodyPr>
          <a:lstStyle/>
          <a:p>
            <a:pPr algn="ctr">
              <a:defRPr sz="1000" b="1">
                <a:solidFill>
                  <a:srgbClr val="FFFFFF"/>
                </a:solidFill>
                <a:latin typeface="Aptos"/>
              </a:defRPr>
            </a:pPr>
            <a:r>
              <a:t>OLLAMA</a:t>
            </a:r>
          </a:p>
        </p:txBody>
      </p:sp>
      <p:sp>
        <p:nvSpPr>
          <p:cNvPr id="31" name="TextBox 30"/>
          <p:cNvSpPr txBox="1"/>
          <p:nvPr/>
        </p:nvSpPr>
        <p:spPr>
          <a:xfrm>
            <a:off x="9015984" y="3977639"/>
            <a:ext cx="2011680" cy="320040"/>
          </a:xfrm>
          <a:prstGeom prst="rect">
            <a:avLst/>
          </a:prstGeom>
          <a:noFill/>
        </p:spPr>
        <p:txBody>
          <a:bodyPr wrap="square" lIns="45720" rIns="45720" anchor="t">
            <a:spAutoFit/>
          </a:bodyPr>
          <a:lstStyle/>
          <a:p>
            <a:pPr algn="l">
              <a:defRPr sz="2000" b="1">
                <a:solidFill>
                  <a:srgbClr val="10B981"/>
                </a:solidFill>
                <a:latin typeface="Aptos"/>
              </a:defRPr>
            </a:pPr>
            <a:r>
              <a:t>supported</a:t>
            </a:r>
          </a:p>
        </p:txBody>
      </p:sp>
      <p:sp>
        <p:nvSpPr>
          <p:cNvPr id="32" name="TextBox 31"/>
          <p:cNvSpPr txBox="1"/>
          <p:nvPr/>
        </p:nvSpPr>
        <p:spPr>
          <a:xfrm>
            <a:off x="9015984" y="4727448"/>
            <a:ext cx="2011680" cy="320040"/>
          </a:xfrm>
          <a:prstGeom prst="rect">
            <a:avLst/>
          </a:prstGeom>
          <a:noFill/>
        </p:spPr>
        <p:txBody>
          <a:bodyPr wrap="square" lIns="45720" rIns="45720" anchor="t">
            <a:spAutoFit/>
          </a:bodyPr>
          <a:lstStyle/>
          <a:p>
            <a:pPr algn="l">
              <a:defRPr sz="1100" b="0">
                <a:solidFill>
                  <a:srgbClr val="5D6B7A"/>
                </a:solidFill>
                <a:latin typeface="Aptos"/>
              </a:defRPr>
            </a:pPr>
            <a:r>
              <a:t>40.902 s • local</a:t>
            </a:r>
          </a:p>
        </p:txBody>
      </p:sp>
      <p:sp>
        <p:nvSpPr>
          <p:cNvPr id="33" name="TextBox 32"/>
          <p:cNvSpPr txBox="1"/>
          <p:nvPr/>
        </p:nvSpPr>
        <p:spPr>
          <a:xfrm>
            <a:off x="749808" y="5733288"/>
            <a:ext cx="10652760" cy="338328"/>
          </a:xfrm>
          <a:prstGeom prst="rect">
            <a:avLst/>
          </a:prstGeom>
          <a:noFill/>
        </p:spPr>
        <p:txBody>
          <a:bodyPr wrap="square" lIns="45720" rIns="45720" anchor="t">
            <a:spAutoFit/>
          </a:bodyPr>
          <a:lstStyle/>
          <a:p>
            <a:pPr algn="ctr">
              <a:defRPr sz="1500" b="1">
                <a:solidFill>
                  <a:srgbClr val="0B132B"/>
                </a:solidFill>
                <a:latin typeface="Aptos"/>
              </a:defRPr>
            </a:pPr>
            <a:r>
              <a:t>Demo message: the evidence is visible — disagreement becomes reviewable instead of hidden.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EVALUATION</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Key results: controlled tests vs. real reports</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1:15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08</a:t>
            </a:r>
          </a:p>
        </p:txBody>
      </p:sp>
      <p:graphicFrame>
        <p:nvGraphicFramePr>
          <p:cNvPr id="7" name="Chart 6"/>
          <p:cNvGraphicFramePr>
            <a:graphicFrameLocks noGrp="1"/>
          </p:cNvGraphicFramePr>
          <p:nvPr/>
        </p:nvGraphicFramePr>
        <p:xfrm>
          <a:off x="658368" y="1298448"/>
          <a:ext cx="6492240" cy="4370832"/>
        </p:xfrm>
        <a:graphic>
          <a:graphicData uri="http://schemas.openxmlformats.org/drawingml/2006/chart">
            <c:chart xmlns:c="http://schemas.openxmlformats.org/drawingml/2006/chart" r:id="rId2"/>
          </a:graphicData>
        </a:graphic>
      </p:graphicFrame>
      <p:sp>
        <p:nvSpPr>
          <p:cNvPr id="8" name="Rounded Rectangle 7"/>
          <p:cNvSpPr/>
          <p:nvPr/>
        </p:nvSpPr>
        <p:spPr>
          <a:xfrm>
            <a:off x="7543800" y="1389888"/>
            <a:ext cx="3584448"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08392" y="1527048"/>
            <a:ext cx="3255264" cy="438912"/>
          </a:xfrm>
          <a:prstGeom prst="rect">
            <a:avLst/>
          </a:prstGeom>
          <a:noFill/>
        </p:spPr>
        <p:txBody>
          <a:bodyPr wrap="square" lIns="45720" rIns="45720" anchor="t">
            <a:spAutoFit/>
          </a:bodyPr>
          <a:lstStyle/>
          <a:p>
            <a:pPr algn="l">
              <a:defRPr sz="2700" b="1">
                <a:solidFill>
                  <a:srgbClr val="10B981"/>
                </a:solidFill>
                <a:latin typeface="Aptos"/>
              </a:defRPr>
            </a:pPr>
            <a:r>
              <a:t>1.000</a:t>
            </a:r>
          </a:p>
        </p:txBody>
      </p:sp>
      <p:sp>
        <p:nvSpPr>
          <p:cNvPr id="10" name="TextBox 9"/>
          <p:cNvSpPr txBox="1"/>
          <p:nvPr/>
        </p:nvSpPr>
        <p:spPr>
          <a:xfrm>
            <a:off x="7708392" y="2011680"/>
            <a:ext cx="3255264" cy="237744"/>
          </a:xfrm>
          <a:prstGeom prst="rect">
            <a:avLst/>
          </a:prstGeom>
          <a:noFill/>
        </p:spPr>
        <p:txBody>
          <a:bodyPr wrap="square" lIns="45720" rIns="45720" anchor="t">
            <a:spAutoFit/>
          </a:bodyPr>
          <a:lstStyle/>
          <a:p>
            <a:pPr algn="l">
              <a:defRPr sz="1200" b="1">
                <a:solidFill>
                  <a:srgbClr val="182230"/>
                </a:solidFill>
                <a:latin typeface="Aptos"/>
              </a:defRPr>
            </a:pPr>
            <a:r>
              <a:t>Reference parse rate</a:t>
            </a:r>
          </a:p>
        </p:txBody>
      </p:sp>
      <p:sp>
        <p:nvSpPr>
          <p:cNvPr id="11" name="TextBox 10"/>
          <p:cNvSpPr txBox="1"/>
          <p:nvPr/>
        </p:nvSpPr>
        <p:spPr>
          <a:xfrm>
            <a:off x="7708392" y="2295144"/>
            <a:ext cx="3255264" cy="201168"/>
          </a:xfrm>
          <a:prstGeom prst="rect">
            <a:avLst/>
          </a:prstGeom>
          <a:noFill/>
        </p:spPr>
        <p:txBody>
          <a:bodyPr wrap="square" lIns="45720" rIns="45720" anchor="t">
            <a:spAutoFit/>
          </a:bodyPr>
          <a:lstStyle/>
          <a:p>
            <a:pPr algn="l">
              <a:defRPr sz="900" b="0">
                <a:solidFill>
                  <a:srgbClr val="5D6B7A"/>
                </a:solidFill>
                <a:latin typeface="Aptos"/>
              </a:defRPr>
            </a:pPr>
            <a:r>
              <a:t>30 authentic + controlled cases</a:t>
            </a:r>
          </a:p>
        </p:txBody>
      </p:sp>
      <p:sp>
        <p:nvSpPr>
          <p:cNvPr id="12" name="Rounded Rectangle 11"/>
          <p:cNvSpPr/>
          <p:nvPr/>
        </p:nvSpPr>
        <p:spPr>
          <a:xfrm>
            <a:off x="7543800" y="2816352"/>
            <a:ext cx="3584448"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53512"/>
            <a:ext cx="3255264" cy="438912"/>
          </a:xfrm>
          <a:prstGeom prst="rect">
            <a:avLst/>
          </a:prstGeom>
          <a:noFill/>
        </p:spPr>
        <p:txBody>
          <a:bodyPr wrap="square" lIns="45720" rIns="45720" anchor="t">
            <a:spAutoFit/>
          </a:bodyPr>
          <a:lstStyle/>
          <a:p>
            <a:pPr algn="l">
              <a:defRPr sz="2700" b="1">
                <a:solidFill>
                  <a:srgbClr val="EF4444"/>
                </a:solidFill>
                <a:latin typeface="Aptos"/>
              </a:defRPr>
            </a:pPr>
            <a:r>
              <a:t>0.267</a:t>
            </a:r>
          </a:p>
        </p:txBody>
      </p:sp>
      <p:sp>
        <p:nvSpPr>
          <p:cNvPr id="14" name="TextBox 13"/>
          <p:cNvSpPr txBox="1"/>
          <p:nvPr/>
        </p:nvSpPr>
        <p:spPr>
          <a:xfrm>
            <a:off x="7708392" y="3438144"/>
            <a:ext cx="3255264" cy="237744"/>
          </a:xfrm>
          <a:prstGeom prst="rect">
            <a:avLst/>
          </a:prstGeom>
          <a:noFill/>
        </p:spPr>
        <p:txBody>
          <a:bodyPr wrap="square" lIns="45720" rIns="45720" anchor="t">
            <a:spAutoFit/>
          </a:bodyPr>
          <a:lstStyle/>
          <a:p>
            <a:pPr algn="l">
              <a:defRPr sz="1200" b="1">
                <a:solidFill>
                  <a:srgbClr val="182230"/>
                </a:solidFill>
                <a:latin typeface="Aptos"/>
              </a:defRPr>
            </a:pPr>
            <a:r>
              <a:t>Citation-needed F1</a:t>
            </a:r>
          </a:p>
        </p:txBody>
      </p:sp>
      <p:sp>
        <p:nvSpPr>
          <p:cNvPr id="15" name="TextBox 14"/>
          <p:cNvSpPr txBox="1"/>
          <p:nvPr/>
        </p:nvSpPr>
        <p:spPr>
          <a:xfrm>
            <a:off x="7708392" y="3721608"/>
            <a:ext cx="3255264" cy="201168"/>
          </a:xfrm>
          <a:prstGeom prst="rect">
            <a:avLst/>
          </a:prstGeom>
          <a:noFill/>
        </p:spPr>
        <p:txBody>
          <a:bodyPr wrap="square" lIns="45720" rIns="45720" anchor="t">
            <a:spAutoFit/>
          </a:bodyPr>
          <a:lstStyle/>
          <a:p>
            <a:pPr algn="l">
              <a:defRPr sz="900" b="0">
                <a:solidFill>
                  <a:srgbClr val="5D6B7A"/>
                </a:solidFill>
                <a:latin typeface="Aptos"/>
              </a:defRPr>
            </a:pPr>
            <a:r>
              <a:t>50 manually labeled RQ sentences</a:t>
            </a:r>
          </a:p>
        </p:txBody>
      </p:sp>
      <p:sp>
        <p:nvSpPr>
          <p:cNvPr id="16" name="Rounded Rectangle 15"/>
          <p:cNvSpPr/>
          <p:nvPr/>
        </p:nvSpPr>
        <p:spPr>
          <a:xfrm>
            <a:off x="7543800" y="4242816"/>
            <a:ext cx="3584448"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08392" y="4379976"/>
            <a:ext cx="3255264" cy="438912"/>
          </a:xfrm>
          <a:prstGeom prst="rect">
            <a:avLst/>
          </a:prstGeom>
          <a:noFill/>
        </p:spPr>
        <p:txBody>
          <a:bodyPr wrap="square" lIns="45720" rIns="45720" anchor="t">
            <a:spAutoFit/>
          </a:bodyPr>
          <a:lstStyle/>
          <a:p>
            <a:pPr algn="l">
              <a:defRPr sz="2700" b="1">
                <a:solidFill>
                  <a:srgbClr val="F59E0B"/>
                </a:solidFill>
                <a:latin typeface="Aptos"/>
              </a:defRPr>
            </a:pPr>
            <a:r>
              <a:t>0.924</a:t>
            </a:r>
          </a:p>
        </p:txBody>
      </p:sp>
      <p:sp>
        <p:nvSpPr>
          <p:cNvPr id="18" name="TextBox 17"/>
          <p:cNvSpPr txBox="1"/>
          <p:nvPr/>
        </p:nvSpPr>
        <p:spPr>
          <a:xfrm>
            <a:off x="7708392" y="4864607"/>
            <a:ext cx="3255264" cy="237744"/>
          </a:xfrm>
          <a:prstGeom prst="rect">
            <a:avLst/>
          </a:prstGeom>
          <a:noFill/>
        </p:spPr>
        <p:txBody>
          <a:bodyPr wrap="square" lIns="45720" rIns="45720" anchor="t">
            <a:spAutoFit/>
          </a:bodyPr>
          <a:lstStyle/>
          <a:p>
            <a:pPr algn="l">
              <a:defRPr sz="1200" b="1">
                <a:solidFill>
                  <a:srgbClr val="182230"/>
                </a:solidFill>
                <a:latin typeface="Aptos"/>
              </a:defRPr>
            </a:pPr>
            <a:r>
              <a:t>Fast-DetectGPT AUROC</a:t>
            </a:r>
          </a:p>
        </p:txBody>
      </p:sp>
      <p:sp>
        <p:nvSpPr>
          <p:cNvPr id="19" name="TextBox 18"/>
          <p:cNvSpPr txBox="1"/>
          <p:nvPr/>
        </p:nvSpPr>
        <p:spPr>
          <a:xfrm>
            <a:off x="7708392" y="5148072"/>
            <a:ext cx="3255264" cy="201168"/>
          </a:xfrm>
          <a:prstGeom prst="rect">
            <a:avLst/>
          </a:prstGeom>
          <a:noFill/>
        </p:spPr>
        <p:txBody>
          <a:bodyPr wrap="square" lIns="45720" rIns="45720" anchor="t">
            <a:spAutoFit/>
          </a:bodyPr>
          <a:lstStyle/>
          <a:p>
            <a:pPr algn="l">
              <a:defRPr sz="900" b="0">
                <a:solidFill>
                  <a:srgbClr val="5D6B7A"/>
                </a:solidFill>
                <a:latin typeface="Aptos"/>
              </a:defRPr>
            </a:pPr>
            <a:r>
              <a:t>15 human + 15 GPT-4 passages</a:t>
            </a:r>
          </a:p>
        </p:txBody>
      </p:sp>
      <p:sp>
        <p:nvSpPr>
          <p:cNvPr id="20" name="TextBox 19"/>
          <p:cNvSpPr txBox="1"/>
          <p:nvPr/>
        </p:nvSpPr>
        <p:spPr>
          <a:xfrm>
            <a:off x="804672" y="5824728"/>
            <a:ext cx="10378440" cy="310896"/>
          </a:xfrm>
          <a:prstGeom prst="rect">
            <a:avLst/>
          </a:prstGeom>
          <a:noFill/>
        </p:spPr>
        <p:txBody>
          <a:bodyPr wrap="square" lIns="45720" rIns="45720" anchor="t">
            <a:spAutoFit/>
          </a:bodyPr>
          <a:lstStyle/>
          <a:p>
            <a:pPr algn="ctr">
              <a:defRPr sz="1500" b="1">
                <a:solidFill>
                  <a:srgbClr val="0B132B"/>
                </a:solidFill>
                <a:latin typeface="Aptos"/>
              </a:defRPr>
            </a:pPr>
            <a:r>
              <a:t>Main finding: synthetic benchmarks overestimate how well simple rules transfer to authentic PDFs.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LOCAL VS. FRONTIER</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Model comparison: speed, control, and taxonomy</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1:15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09</a:t>
            </a:r>
          </a:p>
        </p:txBody>
      </p:sp>
      <p:sp>
        <p:nvSpPr>
          <p:cNvPr id="7" name="Rectangle 6"/>
          <p:cNvSpPr/>
          <p:nvPr/>
        </p:nvSpPr>
        <p:spPr>
          <a:xfrm>
            <a:off x="621792" y="1280160"/>
            <a:ext cx="150876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1399032"/>
            <a:ext cx="1399031" cy="228600"/>
          </a:xfrm>
          <a:prstGeom prst="rect">
            <a:avLst/>
          </a:prstGeom>
          <a:noFill/>
        </p:spPr>
        <p:txBody>
          <a:bodyPr wrap="square" lIns="45720" rIns="45720" anchor="t">
            <a:spAutoFit/>
          </a:bodyPr>
          <a:lstStyle/>
          <a:p>
            <a:pPr algn="ctr">
              <a:defRPr sz="1100" b="1">
                <a:solidFill>
                  <a:srgbClr val="FFFFFF"/>
                </a:solidFill>
                <a:latin typeface="Aptos"/>
              </a:defRPr>
            </a:pPr>
            <a:r>
              <a:t>Backend</a:t>
            </a:r>
          </a:p>
        </p:txBody>
      </p:sp>
      <p:sp>
        <p:nvSpPr>
          <p:cNvPr id="9" name="Rectangle 8"/>
          <p:cNvSpPr/>
          <p:nvPr/>
        </p:nvSpPr>
        <p:spPr>
          <a:xfrm>
            <a:off x="2130552" y="1280160"/>
            <a:ext cx="205740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85416" y="1399032"/>
            <a:ext cx="1947672" cy="228600"/>
          </a:xfrm>
          <a:prstGeom prst="rect">
            <a:avLst/>
          </a:prstGeom>
          <a:noFill/>
        </p:spPr>
        <p:txBody>
          <a:bodyPr wrap="square" lIns="45720" rIns="45720" anchor="t">
            <a:spAutoFit/>
          </a:bodyPr>
          <a:lstStyle/>
          <a:p>
            <a:pPr algn="ctr">
              <a:defRPr sz="1100" b="1">
                <a:solidFill>
                  <a:srgbClr val="FFFFFF"/>
                </a:solidFill>
                <a:latin typeface="Aptos"/>
              </a:defRPr>
            </a:pPr>
            <a:r>
              <a:t>Observed result</a:t>
            </a:r>
          </a:p>
        </p:txBody>
      </p:sp>
      <p:sp>
        <p:nvSpPr>
          <p:cNvPr id="11" name="Rectangle 10"/>
          <p:cNvSpPr/>
          <p:nvPr/>
        </p:nvSpPr>
        <p:spPr>
          <a:xfrm>
            <a:off x="4187952" y="1280160"/>
            <a:ext cx="132588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2816" y="1399032"/>
            <a:ext cx="1216152" cy="228600"/>
          </a:xfrm>
          <a:prstGeom prst="rect">
            <a:avLst/>
          </a:prstGeom>
          <a:noFill/>
        </p:spPr>
        <p:txBody>
          <a:bodyPr wrap="square" lIns="45720" rIns="45720" anchor="t">
            <a:spAutoFit/>
          </a:bodyPr>
          <a:lstStyle/>
          <a:p>
            <a:pPr algn="ctr">
              <a:defRPr sz="1100" b="1">
                <a:solidFill>
                  <a:srgbClr val="FFFFFF"/>
                </a:solidFill>
                <a:latin typeface="Aptos"/>
              </a:defRPr>
            </a:pPr>
            <a:r>
              <a:t>Latency</a:t>
            </a:r>
          </a:p>
        </p:txBody>
      </p:sp>
      <p:sp>
        <p:nvSpPr>
          <p:cNvPr id="13" name="Rectangle 12"/>
          <p:cNvSpPr/>
          <p:nvPr/>
        </p:nvSpPr>
        <p:spPr>
          <a:xfrm>
            <a:off x="5513832" y="1280160"/>
            <a:ext cx="233172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68696" y="1399032"/>
            <a:ext cx="2221991" cy="228600"/>
          </a:xfrm>
          <a:prstGeom prst="rect">
            <a:avLst/>
          </a:prstGeom>
          <a:noFill/>
        </p:spPr>
        <p:txBody>
          <a:bodyPr wrap="square" lIns="45720" rIns="45720" anchor="t">
            <a:spAutoFit/>
          </a:bodyPr>
          <a:lstStyle/>
          <a:p>
            <a:pPr algn="ctr">
              <a:defRPr sz="1100" b="1">
                <a:solidFill>
                  <a:srgbClr val="FFFFFF"/>
                </a:solidFill>
                <a:latin typeface="Aptos"/>
              </a:defRPr>
            </a:pPr>
            <a:r>
              <a:t>Best use</a:t>
            </a:r>
          </a:p>
        </p:txBody>
      </p:sp>
      <p:sp>
        <p:nvSpPr>
          <p:cNvPr id="15" name="Rectangle 14"/>
          <p:cNvSpPr/>
          <p:nvPr/>
        </p:nvSpPr>
        <p:spPr>
          <a:xfrm>
            <a:off x="7845552" y="1280160"/>
            <a:ext cx="324612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416" y="1399032"/>
            <a:ext cx="3136391" cy="228600"/>
          </a:xfrm>
          <a:prstGeom prst="rect">
            <a:avLst/>
          </a:prstGeom>
          <a:noFill/>
        </p:spPr>
        <p:txBody>
          <a:bodyPr wrap="square" lIns="45720" rIns="45720" anchor="t">
            <a:spAutoFit/>
          </a:bodyPr>
          <a:lstStyle/>
          <a:p>
            <a:pPr algn="ctr">
              <a:defRPr sz="1100" b="1">
                <a:solidFill>
                  <a:srgbClr val="FFFFFF"/>
                </a:solidFill>
                <a:latin typeface="Aptos"/>
              </a:defRPr>
            </a:pPr>
            <a:r>
              <a:t>Limitation</a:t>
            </a:r>
          </a:p>
        </p:txBody>
      </p:sp>
      <p:sp>
        <p:nvSpPr>
          <p:cNvPr id="17" name="Rectangle 16"/>
          <p:cNvSpPr/>
          <p:nvPr/>
        </p:nvSpPr>
        <p:spPr>
          <a:xfrm>
            <a:off x="621792" y="1783080"/>
            <a:ext cx="150876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4944" y="1947672"/>
            <a:ext cx="1362456" cy="393192"/>
          </a:xfrm>
          <a:prstGeom prst="rect">
            <a:avLst/>
          </a:prstGeom>
          <a:noFill/>
        </p:spPr>
        <p:txBody>
          <a:bodyPr wrap="square" lIns="45720" rIns="45720" anchor="t">
            <a:spAutoFit/>
          </a:bodyPr>
          <a:lstStyle/>
          <a:p>
            <a:pPr algn="ctr">
              <a:defRPr sz="1350" b="1">
                <a:solidFill>
                  <a:srgbClr val="2563EB"/>
                </a:solidFill>
                <a:latin typeface="Aptos"/>
              </a:defRPr>
            </a:pPr>
            <a:r>
              <a:t>Heuristic</a:t>
            </a:r>
          </a:p>
        </p:txBody>
      </p:sp>
      <p:sp>
        <p:nvSpPr>
          <p:cNvPr id="19" name="Rectangle 18"/>
          <p:cNvSpPr/>
          <p:nvPr/>
        </p:nvSpPr>
        <p:spPr>
          <a:xfrm>
            <a:off x="2130552" y="1783080"/>
            <a:ext cx="205740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03704" y="1947672"/>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0.868 Macro-F1</a:t>
            </a:r>
          </a:p>
        </p:txBody>
      </p:sp>
      <p:sp>
        <p:nvSpPr>
          <p:cNvPr id="21" name="Rectangle 20"/>
          <p:cNvSpPr/>
          <p:nvPr/>
        </p:nvSpPr>
        <p:spPr>
          <a:xfrm>
            <a:off x="4187952" y="1783080"/>
            <a:ext cx="132588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61104" y="1947672"/>
            <a:ext cx="1179576" cy="393192"/>
          </a:xfrm>
          <a:prstGeom prst="rect">
            <a:avLst/>
          </a:prstGeom>
          <a:noFill/>
        </p:spPr>
        <p:txBody>
          <a:bodyPr wrap="square" lIns="45720" rIns="45720" anchor="t">
            <a:spAutoFit/>
          </a:bodyPr>
          <a:lstStyle/>
          <a:p>
            <a:pPr algn="ctr">
              <a:defRPr sz="1250" b="0">
                <a:solidFill>
                  <a:srgbClr val="182230"/>
                </a:solidFill>
                <a:latin typeface="Aptos"/>
              </a:defRPr>
            </a:pPr>
            <a:r>
              <a:t>~0 ms</a:t>
            </a:r>
          </a:p>
        </p:txBody>
      </p:sp>
      <p:sp>
        <p:nvSpPr>
          <p:cNvPr id="23" name="Rectangle 22"/>
          <p:cNvSpPr/>
          <p:nvPr/>
        </p:nvSpPr>
        <p:spPr>
          <a:xfrm>
            <a:off x="5513832" y="1783080"/>
            <a:ext cx="23317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6984" y="1947672"/>
            <a:ext cx="2185415" cy="393192"/>
          </a:xfrm>
          <a:prstGeom prst="rect">
            <a:avLst/>
          </a:prstGeom>
          <a:noFill/>
        </p:spPr>
        <p:txBody>
          <a:bodyPr wrap="square" lIns="45720" rIns="45720" anchor="t">
            <a:spAutoFit/>
          </a:bodyPr>
          <a:lstStyle/>
          <a:p>
            <a:pPr algn="ctr">
              <a:defRPr sz="1250" b="0">
                <a:solidFill>
                  <a:srgbClr val="182230"/>
                </a:solidFill>
                <a:latin typeface="Aptos"/>
              </a:defRPr>
            </a:pPr>
            <a:r>
              <a:t>Transparent baseline</a:t>
            </a:r>
          </a:p>
        </p:txBody>
      </p:sp>
      <p:sp>
        <p:nvSpPr>
          <p:cNvPr id="25" name="Rectangle 24"/>
          <p:cNvSpPr/>
          <p:nvPr/>
        </p:nvSpPr>
        <p:spPr>
          <a:xfrm>
            <a:off x="7845552" y="1783080"/>
            <a:ext cx="32461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18704" y="1947672"/>
            <a:ext cx="3099815" cy="393192"/>
          </a:xfrm>
          <a:prstGeom prst="rect">
            <a:avLst/>
          </a:prstGeom>
          <a:noFill/>
        </p:spPr>
        <p:txBody>
          <a:bodyPr wrap="square" lIns="45720" rIns="45720" anchor="t">
            <a:spAutoFit/>
          </a:bodyPr>
          <a:lstStyle/>
          <a:p>
            <a:pPr algn="ctr">
              <a:defRPr sz="1250" b="0">
                <a:solidFill>
                  <a:srgbClr val="182230"/>
                </a:solidFill>
                <a:latin typeface="Aptos"/>
              </a:defRPr>
            </a:pPr>
            <a:r>
              <a:t>Relies on surface patterns</a:t>
            </a:r>
          </a:p>
        </p:txBody>
      </p:sp>
      <p:sp>
        <p:nvSpPr>
          <p:cNvPr id="27" name="Rectangle 26"/>
          <p:cNvSpPr/>
          <p:nvPr/>
        </p:nvSpPr>
        <p:spPr>
          <a:xfrm>
            <a:off x="621792" y="2642615"/>
            <a:ext cx="150876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4944" y="2807208"/>
            <a:ext cx="1362456" cy="393192"/>
          </a:xfrm>
          <a:prstGeom prst="rect">
            <a:avLst/>
          </a:prstGeom>
          <a:noFill/>
        </p:spPr>
        <p:txBody>
          <a:bodyPr wrap="square" lIns="45720" rIns="45720" anchor="t">
            <a:spAutoFit/>
          </a:bodyPr>
          <a:lstStyle/>
          <a:p>
            <a:pPr algn="ctr">
              <a:defRPr sz="1350" b="1">
                <a:solidFill>
                  <a:srgbClr val="F59E0B"/>
                </a:solidFill>
                <a:latin typeface="Aptos"/>
              </a:defRPr>
            </a:pPr>
            <a:r>
              <a:t>LoRA</a:t>
            </a:r>
          </a:p>
        </p:txBody>
      </p:sp>
      <p:sp>
        <p:nvSpPr>
          <p:cNvPr id="29" name="Rectangle 28"/>
          <p:cNvSpPr/>
          <p:nvPr/>
        </p:nvSpPr>
        <p:spPr>
          <a:xfrm>
            <a:off x="2130552" y="2642615"/>
            <a:ext cx="205740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03704" y="2807208"/>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0.172 Macro-F1</a:t>
            </a:r>
          </a:p>
        </p:txBody>
      </p:sp>
      <p:sp>
        <p:nvSpPr>
          <p:cNvPr id="31" name="Rectangle 30"/>
          <p:cNvSpPr/>
          <p:nvPr/>
        </p:nvSpPr>
        <p:spPr>
          <a:xfrm>
            <a:off x="4187952" y="2642615"/>
            <a:ext cx="132588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61104" y="2807208"/>
            <a:ext cx="1179576" cy="393192"/>
          </a:xfrm>
          <a:prstGeom prst="rect">
            <a:avLst/>
          </a:prstGeom>
          <a:noFill/>
        </p:spPr>
        <p:txBody>
          <a:bodyPr wrap="square" lIns="45720" rIns="45720" anchor="t">
            <a:spAutoFit/>
          </a:bodyPr>
          <a:lstStyle/>
          <a:p>
            <a:pPr algn="ctr">
              <a:defRPr sz="1250" b="0">
                <a:solidFill>
                  <a:srgbClr val="182230"/>
                </a:solidFill>
                <a:latin typeface="Aptos"/>
              </a:defRPr>
            </a:pPr>
            <a:r>
              <a:t>6 ms</a:t>
            </a:r>
          </a:p>
        </p:txBody>
      </p:sp>
      <p:sp>
        <p:nvSpPr>
          <p:cNvPr id="33" name="Rectangle 32"/>
          <p:cNvSpPr/>
          <p:nvPr/>
        </p:nvSpPr>
        <p:spPr>
          <a:xfrm>
            <a:off x="5513832" y="2642615"/>
            <a:ext cx="23317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586984" y="2807208"/>
            <a:ext cx="2185415" cy="393192"/>
          </a:xfrm>
          <a:prstGeom prst="rect">
            <a:avLst/>
          </a:prstGeom>
          <a:noFill/>
        </p:spPr>
        <p:txBody>
          <a:bodyPr wrap="square" lIns="45720" rIns="45720" anchor="t">
            <a:spAutoFit/>
          </a:bodyPr>
          <a:lstStyle/>
          <a:p>
            <a:pPr algn="ctr">
              <a:defRPr sz="1250" b="0">
                <a:solidFill>
                  <a:srgbClr val="182230"/>
                </a:solidFill>
                <a:latin typeface="Aptos"/>
              </a:defRPr>
            </a:pPr>
            <a:r>
              <a:t>Cheap local inference</a:t>
            </a:r>
          </a:p>
        </p:txBody>
      </p:sp>
      <p:sp>
        <p:nvSpPr>
          <p:cNvPr id="35" name="Rectangle 34"/>
          <p:cNvSpPr/>
          <p:nvPr/>
        </p:nvSpPr>
        <p:spPr>
          <a:xfrm>
            <a:off x="7845552" y="2642615"/>
            <a:ext cx="32461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18704" y="2807208"/>
            <a:ext cx="3099815" cy="393192"/>
          </a:xfrm>
          <a:prstGeom prst="rect">
            <a:avLst/>
          </a:prstGeom>
          <a:noFill/>
        </p:spPr>
        <p:txBody>
          <a:bodyPr wrap="square" lIns="45720" rIns="45720" anchor="t">
            <a:spAutoFit/>
          </a:bodyPr>
          <a:lstStyle/>
          <a:p>
            <a:pPr algn="ctr">
              <a:defRPr sz="1250" b="0">
                <a:solidFill>
                  <a:srgbClr val="182230"/>
                </a:solidFill>
                <a:latin typeface="Aptos"/>
              </a:defRPr>
            </a:pPr>
            <a:r>
              <a:t>SciFact has 3 vs. 5 labels</a:t>
            </a:r>
          </a:p>
        </p:txBody>
      </p:sp>
      <p:sp>
        <p:nvSpPr>
          <p:cNvPr id="37" name="Rectangle 36"/>
          <p:cNvSpPr/>
          <p:nvPr/>
        </p:nvSpPr>
        <p:spPr>
          <a:xfrm>
            <a:off x="621792" y="3502152"/>
            <a:ext cx="150876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944" y="3666744"/>
            <a:ext cx="1362456" cy="393192"/>
          </a:xfrm>
          <a:prstGeom prst="rect">
            <a:avLst/>
          </a:prstGeom>
          <a:noFill/>
        </p:spPr>
        <p:txBody>
          <a:bodyPr wrap="square" lIns="45720" rIns="45720" anchor="t">
            <a:spAutoFit/>
          </a:bodyPr>
          <a:lstStyle/>
          <a:p>
            <a:pPr algn="ctr">
              <a:defRPr sz="1350" b="1">
                <a:solidFill>
                  <a:srgbClr val="10B981"/>
                </a:solidFill>
                <a:latin typeface="Aptos"/>
              </a:defRPr>
            </a:pPr>
            <a:r>
              <a:t>Ollama</a:t>
            </a:r>
          </a:p>
        </p:txBody>
      </p:sp>
      <p:sp>
        <p:nvSpPr>
          <p:cNvPr id="39" name="Rectangle 38"/>
          <p:cNvSpPr/>
          <p:nvPr/>
        </p:nvSpPr>
        <p:spPr>
          <a:xfrm>
            <a:off x="2130552" y="3502152"/>
            <a:ext cx="205740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03704" y="3666744"/>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0.728 Macro-F1</a:t>
            </a:r>
          </a:p>
        </p:txBody>
      </p:sp>
      <p:sp>
        <p:nvSpPr>
          <p:cNvPr id="41" name="Rectangle 40"/>
          <p:cNvSpPr/>
          <p:nvPr/>
        </p:nvSpPr>
        <p:spPr>
          <a:xfrm>
            <a:off x="4187952" y="3502152"/>
            <a:ext cx="132588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61104" y="3666744"/>
            <a:ext cx="1179576" cy="393192"/>
          </a:xfrm>
          <a:prstGeom prst="rect">
            <a:avLst/>
          </a:prstGeom>
          <a:noFill/>
        </p:spPr>
        <p:txBody>
          <a:bodyPr wrap="square" lIns="45720" rIns="45720" anchor="t">
            <a:spAutoFit/>
          </a:bodyPr>
          <a:lstStyle/>
          <a:p>
            <a:pPr algn="ctr">
              <a:defRPr sz="1250" b="0">
                <a:solidFill>
                  <a:srgbClr val="182230"/>
                </a:solidFill>
                <a:latin typeface="Aptos"/>
              </a:defRPr>
            </a:pPr>
            <a:r>
              <a:t>2.74 s</a:t>
            </a:r>
          </a:p>
        </p:txBody>
      </p:sp>
      <p:sp>
        <p:nvSpPr>
          <p:cNvPr id="43" name="Rectangle 42"/>
          <p:cNvSpPr/>
          <p:nvPr/>
        </p:nvSpPr>
        <p:spPr>
          <a:xfrm>
            <a:off x="5513832" y="3502152"/>
            <a:ext cx="23317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586984" y="3666744"/>
            <a:ext cx="2185415" cy="393192"/>
          </a:xfrm>
          <a:prstGeom prst="rect">
            <a:avLst/>
          </a:prstGeom>
          <a:noFill/>
        </p:spPr>
        <p:txBody>
          <a:bodyPr wrap="square" lIns="45720" rIns="45720" anchor="t">
            <a:spAutoFit/>
          </a:bodyPr>
          <a:lstStyle/>
          <a:p>
            <a:pPr algn="ctr">
              <a:defRPr sz="1250" b="0">
                <a:solidFill>
                  <a:srgbClr val="182230"/>
                </a:solidFill>
                <a:latin typeface="Aptos"/>
              </a:defRPr>
            </a:pPr>
            <a:r>
              <a:t>Private local review</a:t>
            </a:r>
          </a:p>
        </p:txBody>
      </p:sp>
      <p:sp>
        <p:nvSpPr>
          <p:cNvPr id="45" name="Rectangle 44"/>
          <p:cNvSpPr/>
          <p:nvPr/>
        </p:nvSpPr>
        <p:spPr>
          <a:xfrm>
            <a:off x="7845552" y="3502152"/>
            <a:ext cx="32461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18704" y="3666744"/>
            <a:ext cx="3099815" cy="393192"/>
          </a:xfrm>
          <a:prstGeom prst="rect">
            <a:avLst/>
          </a:prstGeom>
          <a:noFill/>
        </p:spPr>
        <p:txBody>
          <a:bodyPr wrap="square" lIns="45720" rIns="45720" anchor="t">
            <a:spAutoFit/>
          </a:bodyPr>
          <a:lstStyle/>
          <a:p>
            <a:pPr algn="ctr">
              <a:defRPr sz="1250" b="0">
                <a:solidFill>
                  <a:srgbClr val="182230"/>
                </a:solidFill>
                <a:latin typeface="Aptos"/>
              </a:defRPr>
            </a:pPr>
            <a:r>
              <a:t>Over-predicts full support</a:t>
            </a:r>
          </a:p>
        </p:txBody>
      </p:sp>
      <p:sp>
        <p:nvSpPr>
          <p:cNvPr id="47" name="Rectangle 46"/>
          <p:cNvSpPr/>
          <p:nvPr/>
        </p:nvSpPr>
        <p:spPr>
          <a:xfrm>
            <a:off x="621792" y="4361688"/>
            <a:ext cx="150876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526279"/>
            <a:ext cx="1362456" cy="393192"/>
          </a:xfrm>
          <a:prstGeom prst="rect">
            <a:avLst/>
          </a:prstGeom>
          <a:noFill/>
        </p:spPr>
        <p:txBody>
          <a:bodyPr wrap="square" lIns="45720" rIns="45720" anchor="t">
            <a:spAutoFit/>
          </a:bodyPr>
          <a:lstStyle/>
          <a:p>
            <a:pPr algn="ctr">
              <a:defRPr sz="1350" b="1">
                <a:solidFill>
                  <a:srgbClr val="8B5CF6"/>
                </a:solidFill>
                <a:latin typeface="Aptos"/>
              </a:defRPr>
            </a:pPr>
            <a:r>
              <a:t>OpenAI</a:t>
            </a:r>
          </a:p>
        </p:txBody>
      </p:sp>
      <p:sp>
        <p:nvSpPr>
          <p:cNvPr id="49" name="Rectangle 48"/>
          <p:cNvSpPr/>
          <p:nvPr/>
        </p:nvSpPr>
        <p:spPr>
          <a:xfrm>
            <a:off x="2130552" y="4361688"/>
            <a:ext cx="205740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03704" y="4526279"/>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0.518 Macro-F1</a:t>
            </a:r>
          </a:p>
        </p:txBody>
      </p:sp>
      <p:sp>
        <p:nvSpPr>
          <p:cNvPr id="51" name="Rectangle 50"/>
          <p:cNvSpPr/>
          <p:nvPr/>
        </p:nvSpPr>
        <p:spPr>
          <a:xfrm>
            <a:off x="4187952" y="4361688"/>
            <a:ext cx="132588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261104" y="4526279"/>
            <a:ext cx="1179576" cy="393192"/>
          </a:xfrm>
          <a:prstGeom prst="rect">
            <a:avLst/>
          </a:prstGeom>
          <a:noFill/>
        </p:spPr>
        <p:txBody>
          <a:bodyPr wrap="square" lIns="45720" rIns="45720" anchor="t">
            <a:spAutoFit/>
          </a:bodyPr>
          <a:lstStyle/>
          <a:p>
            <a:pPr algn="ctr">
              <a:defRPr sz="1250" b="0">
                <a:solidFill>
                  <a:srgbClr val="182230"/>
                </a:solidFill>
                <a:latin typeface="Aptos"/>
              </a:defRPr>
            </a:pPr>
            <a:r>
              <a:t>1.42 s</a:t>
            </a:r>
          </a:p>
        </p:txBody>
      </p:sp>
      <p:sp>
        <p:nvSpPr>
          <p:cNvPr id="53" name="Rectangle 52"/>
          <p:cNvSpPr/>
          <p:nvPr/>
        </p:nvSpPr>
        <p:spPr>
          <a:xfrm>
            <a:off x="5513832" y="4361688"/>
            <a:ext cx="23317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86984" y="4526279"/>
            <a:ext cx="2185415" cy="393192"/>
          </a:xfrm>
          <a:prstGeom prst="rect">
            <a:avLst/>
          </a:prstGeom>
          <a:noFill/>
        </p:spPr>
        <p:txBody>
          <a:bodyPr wrap="square" lIns="45720" rIns="45720" anchor="t">
            <a:spAutoFit/>
          </a:bodyPr>
          <a:lstStyle/>
          <a:p>
            <a:pPr algn="ctr">
              <a:defRPr sz="1250" b="0">
                <a:solidFill>
                  <a:srgbClr val="182230"/>
                </a:solidFill>
                <a:latin typeface="Aptos"/>
              </a:defRPr>
            </a:pPr>
            <a:r>
              <a:t>Structured frontier review</a:t>
            </a:r>
          </a:p>
        </p:txBody>
      </p:sp>
      <p:sp>
        <p:nvSpPr>
          <p:cNvPr id="55" name="Rectangle 54"/>
          <p:cNvSpPr/>
          <p:nvPr/>
        </p:nvSpPr>
        <p:spPr>
          <a:xfrm>
            <a:off x="7845552" y="4361688"/>
            <a:ext cx="32461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18704" y="4526279"/>
            <a:ext cx="3099815" cy="393192"/>
          </a:xfrm>
          <a:prstGeom prst="rect">
            <a:avLst/>
          </a:prstGeom>
          <a:noFill/>
        </p:spPr>
        <p:txBody>
          <a:bodyPr wrap="square" lIns="45720" rIns="45720" anchor="t">
            <a:spAutoFit/>
          </a:bodyPr>
          <a:lstStyle/>
          <a:p>
            <a:pPr algn="ctr">
              <a:defRPr sz="1250" b="0">
                <a:solidFill>
                  <a:srgbClr val="182230"/>
                </a:solidFill>
                <a:latin typeface="Aptos"/>
              </a:defRPr>
            </a:pPr>
            <a:r>
              <a:t>Paid/external; cost not logged</a:t>
            </a:r>
          </a:p>
        </p:txBody>
      </p:sp>
      <p:sp>
        <p:nvSpPr>
          <p:cNvPr id="57" name="Rounded Rectangle 56"/>
          <p:cNvSpPr/>
          <p:nvPr/>
        </p:nvSpPr>
        <p:spPr>
          <a:xfrm>
            <a:off x="685800" y="5440680"/>
            <a:ext cx="10835640" cy="621792"/>
          </a:xfrm>
          <a:prstGeom prst="roundRect">
            <a:avLst>
              <a:gd name="adj" fmla="val 12000"/>
            </a:avLst>
          </a:prstGeom>
          <a:solidFill>
            <a:srgbClr val="FFF7ED"/>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96112" y="5596128"/>
            <a:ext cx="10378440" cy="274320"/>
          </a:xfrm>
          <a:prstGeom prst="rect">
            <a:avLst/>
          </a:prstGeom>
          <a:noFill/>
        </p:spPr>
        <p:txBody>
          <a:bodyPr wrap="square" lIns="45720" rIns="45720" anchor="t">
            <a:spAutoFit/>
          </a:bodyPr>
          <a:lstStyle/>
          <a:p>
            <a:pPr algn="ctr">
              <a:defRPr sz="1250" b="1">
                <a:solidFill>
                  <a:srgbClr val="92400E"/>
                </a:solidFill>
                <a:latin typeface="Aptos"/>
              </a:defRPr>
            </a:pPr>
            <a:r>
              <a:t>Same 30 gold-labeled cases and identical retrieved evidence • 3 no-evidence abstentions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LIMITS</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What works — and where it breaks</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10</a:t>
            </a:r>
          </a:p>
        </p:txBody>
      </p:sp>
      <p:sp>
        <p:nvSpPr>
          <p:cNvPr id="7" name="Rounded Rectangle 6"/>
          <p:cNvSpPr/>
          <p:nvPr/>
        </p:nvSpPr>
        <p:spPr>
          <a:xfrm>
            <a:off x="621792" y="1298448"/>
            <a:ext cx="5303520" cy="4526280"/>
          </a:xfrm>
          <a:prstGeom prst="roundRect">
            <a:avLst>
              <a:gd name="adj" fmla="val 12000"/>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77824" y="1572768"/>
            <a:ext cx="1353312"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581912"/>
            <a:ext cx="1353312" cy="274320"/>
          </a:xfrm>
          <a:prstGeom prst="rect">
            <a:avLst/>
          </a:prstGeom>
          <a:noFill/>
        </p:spPr>
        <p:txBody>
          <a:bodyPr wrap="square" lIns="45720" rIns="45720" anchor="t">
            <a:spAutoFit/>
          </a:bodyPr>
          <a:lstStyle/>
          <a:p>
            <a:pPr algn="ctr">
              <a:defRPr sz="1000" b="1">
                <a:solidFill>
                  <a:srgbClr val="FFFFFF"/>
                </a:solidFill>
                <a:latin typeface="Aptos"/>
              </a:defRPr>
            </a:pPr>
            <a:r>
              <a:t>WORKS WELL</a:t>
            </a:r>
          </a:p>
        </p:txBody>
      </p:sp>
      <p:sp>
        <p:nvSpPr>
          <p:cNvPr id="10" name="TextBox 9"/>
          <p:cNvSpPr txBox="1"/>
          <p:nvPr/>
        </p:nvSpPr>
        <p:spPr>
          <a:xfrm>
            <a:off x="932688" y="2148840"/>
            <a:ext cx="4526280" cy="2971800"/>
          </a:xfrm>
          <a:prstGeom prst="rect">
            <a:avLst/>
          </a:prstGeom>
          <a:noFill/>
        </p:spPr>
        <p:txBody>
          <a:bodyPr wrap="square" lIns="0" rIns="0" tIns="0" bIns="0">
            <a:spAutoFit/>
          </a:bodyPr>
          <a:lstStyle/>
          <a:p>
            <a:pPr>
              <a:lnSpc>
                <a:spcPct val="105000"/>
              </a:lnSpc>
              <a:spcAft>
                <a:spcPts val="1600"/>
              </a:spcAft>
              <a:defRPr sz="1600">
                <a:solidFill>
                  <a:srgbClr val="182230"/>
                </a:solidFill>
                <a:latin typeface="Aptos"/>
              </a:defRPr>
            </a:pPr>
            <a:r>
              <a:t>•  End-to-end PDF → Markdown/JSON workflow</a:t>
            </a:r>
          </a:p>
          <a:p>
            <a:pPr>
              <a:lnSpc>
                <a:spcPct val="105000"/>
              </a:lnSpc>
              <a:spcAft>
                <a:spcPts val="1600"/>
              </a:spcAft>
              <a:defRPr sz="1600">
                <a:solidFill>
                  <a:srgbClr val="182230"/>
                </a:solidFill>
                <a:latin typeface="Aptos"/>
              </a:defRPr>
            </a:pPr>
            <a:r>
              <a:t>•  Traceable evidence and backend metadata</a:t>
            </a:r>
          </a:p>
          <a:p>
            <a:pPr>
              <a:lnSpc>
                <a:spcPct val="105000"/>
              </a:lnSpc>
              <a:spcAft>
                <a:spcPts val="1600"/>
              </a:spcAft>
              <a:defRPr sz="1600">
                <a:solidFill>
                  <a:srgbClr val="182230"/>
                </a:solidFill>
                <a:latin typeface="Aptos"/>
              </a:defRPr>
            </a:pPr>
            <a:r>
              <a:t>•  Robust IEEE parsing for Report 5</a:t>
            </a:r>
          </a:p>
          <a:p>
            <a:pPr>
              <a:lnSpc>
                <a:spcPct val="105000"/>
              </a:lnSpc>
              <a:spcAft>
                <a:spcPts val="1600"/>
              </a:spcAft>
              <a:defRPr sz="1600">
                <a:solidFill>
                  <a:srgbClr val="182230"/>
                </a:solidFill>
                <a:latin typeface="Aptos"/>
              </a:defRPr>
            </a:pPr>
            <a:r>
              <a:t>•  LoRA and Fast-DetectGPT evaluated reproducibly</a:t>
            </a:r>
          </a:p>
        </p:txBody>
      </p:sp>
      <p:sp>
        <p:nvSpPr>
          <p:cNvPr id="11" name="Rounded Rectangle 10"/>
          <p:cNvSpPr/>
          <p:nvPr/>
        </p:nvSpPr>
        <p:spPr>
          <a:xfrm>
            <a:off x="6254496" y="1298448"/>
            <a:ext cx="5303520" cy="4526280"/>
          </a:xfrm>
          <a:prstGeom prst="roundRect">
            <a:avLst>
              <a:gd name="adj" fmla="val 12000"/>
            </a:avLst>
          </a:prstGeom>
          <a:solidFill>
            <a:srgbClr val="FEF2F2"/>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10528" y="1572768"/>
            <a:ext cx="1389888" cy="310896"/>
          </a:xfrm>
          <a:prstGeom prst="roundRect">
            <a:avLst>
              <a:gd name="adj" fmla="val 12000"/>
            </a:avLst>
          </a:prstGeom>
          <a:solidFill>
            <a:srgbClr val="EF4444"/>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0528" y="1581912"/>
            <a:ext cx="1389888" cy="274320"/>
          </a:xfrm>
          <a:prstGeom prst="rect">
            <a:avLst/>
          </a:prstGeom>
          <a:noFill/>
        </p:spPr>
        <p:txBody>
          <a:bodyPr wrap="square" lIns="45720" rIns="45720" anchor="t">
            <a:spAutoFit/>
          </a:bodyPr>
          <a:lstStyle/>
          <a:p>
            <a:pPr algn="ctr">
              <a:defRPr sz="1000" b="1">
                <a:solidFill>
                  <a:srgbClr val="FFFFFF"/>
                </a:solidFill>
                <a:latin typeface="Aptos"/>
              </a:defRPr>
            </a:pPr>
            <a:r>
              <a:t>LIMITATIONS</a:t>
            </a:r>
          </a:p>
        </p:txBody>
      </p:sp>
      <p:sp>
        <p:nvSpPr>
          <p:cNvPr id="14" name="TextBox 13"/>
          <p:cNvSpPr txBox="1"/>
          <p:nvPr/>
        </p:nvSpPr>
        <p:spPr>
          <a:xfrm>
            <a:off x="6565392" y="2148840"/>
            <a:ext cx="4526280" cy="2971800"/>
          </a:xfrm>
          <a:prstGeom prst="rect">
            <a:avLst/>
          </a:prstGeom>
          <a:noFill/>
        </p:spPr>
        <p:txBody>
          <a:bodyPr wrap="square" lIns="0" rIns="0" tIns="0" bIns="0">
            <a:spAutoFit/>
          </a:bodyPr>
          <a:lstStyle/>
          <a:p>
            <a:pPr>
              <a:lnSpc>
                <a:spcPct val="105000"/>
              </a:lnSpc>
              <a:spcAft>
                <a:spcPts val="1600"/>
              </a:spcAft>
              <a:defRPr sz="1600">
                <a:solidFill>
                  <a:srgbClr val="182230"/>
                </a:solidFill>
                <a:latin typeface="Aptos"/>
              </a:defRPr>
            </a:pPr>
            <a:r>
              <a:t>•  PDF extraction introduces spacing/heading noise</a:t>
            </a:r>
          </a:p>
          <a:p>
            <a:pPr>
              <a:lnSpc>
                <a:spcPct val="105000"/>
              </a:lnSpc>
              <a:spcAft>
                <a:spcPts val="1600"/>
              </a:spcAft>
              <a:defRPr sz="1600">
                <a:solidFill>
                  <a:srgbClr val="182230"/>
                </a:solidFill>
                <a:latin typeface="Aptos"/>
              </a:defRPr>
            </a:pPr>
            <a:r>
              <a:t>•  Real claim detection generalizes poorly</a:t>
            </a:r>
          </a:p>
          <a:p>
            <a:pPr>
              <a:lnSpc>
                <a:spcPct val="105000"/>
              </a:lnSpc>
              <a:spcAft>
                <a:spcPts val="1600"/>
              </a:spcAft>
              <a:defRPr sz="1600">
                <a:solidFill>
                  <a:srgbClr val="182230"/>
                </a:solidFill>
                <a:latin typeface="Aptos"/>
              </a:defRPr>
            </a:pPr>
            <a:r>
              <a:t>•  Repeated S2/OpenAlex HTTP 429 in manual runs</a:t>
            </a:r>
          </a:p>
          <a:p>
            <a:pPr>
              <a:lnSpc>
                <a:spcPct val="105000"/>
              </a:lnSpc>
              <a:spcAft>
                <a:spcPts val="1600"/>
              </a:spcAft>
              <a:defRPr sz="1600">
                <a:solidFill>
                  <a:srgbClr val="182230"/>
                </a:solidFill>
                <a:latin typeface="Aptos"/>
              </a:defRPr>
            </a:pPr>
            <a:r>
              <a:t>•  Fast-DetectGPT missed 7/15 generated passages</a:t>
            </a:r>
          </a:p>
        </p:txBody>
      </p:sp>
      <p:sp>
        <p:nvSpPr>
          <p:cNvPr id="15" name="TextBox 14"/>
          <p:cNvSpPr txBox="1"/>
          <p:nvPr/>
        </p:nvSpPr>
        <p:spPr>
          <a:xfrm>
            <a:off x="1143000" y="5989320"/>
            <a:ext cx="9921240" cy="274320"/>
          </a:xfrm>
          <a:prstGeom prst="rect">
            <a:avLst/>
          </a:prstGeom>
          <a:noFill/>
        </p:spPr>
        <p:txBody>
          <a:bodyPr wrap="square" lIns="45720" rIns="45720" anchor="t">
            <a:spAutoFit/>
          </a:bodyPr>
          <a:lstStyle/>
          <a:p>
            <a:pPr algn="ctr">
              <a:defRPr sz="1450" b="1">
                <a:solidFill>
                  <a:srgbClr val="0B132B"/>
                </a:solidFill>
                <a:latin typeface="Aptos"/>
              </a:defRPr>
            </a:pPr>
            <a:r>
              <a:t>Ethical boundary: a flag prioritizes human review; it never proves misconduct or AI authorship.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CONCLUSION</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Takeaways</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Nils  •  0:35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11</a:t>
            </a:r>
          </a:p>
        </p:txBody>
      </p:sp>
      <p:sp>
        <p:nvSpPr>
          <p:cNvPr id="7" name="Rectangle 6"/>
          <p:cNvSpPr/>
          <p:nvPr/>
        </p:nvSpPr>
        <p:spPr>
          <a:xfrm>
            <a:off x="0" y="0"/>
            <a:ext cx="12191695" cy="6858000"/>
          </a:xfrm>
          <a:prstGeom prst="rect">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30352"/>
            <a:ext cx="3657600" cy="320040"/>
          </a:xfrm>
          <a:prstGeom prst="rect">
            <a:avLst/>
          </a:prstGeom>
          <a:noFill/>
        </p:spPr>
        <p:txBody>
          <a:bodyPr wrap="square" lIns="45720" rIns="45720" anchor="t">
            <a:spAutoFit/>
          </a:bodyPr>
          <a:lstStyle/>
          <a:p>
            <a:pPr algn="l">
              <a:defRPr sz="1100" b="1">
                <a:solidFill>
                  <a:srgbClr val="38BDF8"/>
                </a:solidFill>
                <a:latin typeface="Aptos"/>
              </a:defRPr>
            </a:pPr>
            <a:r>
              <a:t>CONCLUSION</a:t>
            </a:r>
          </a:p>
        </p:txBody>
      </p:sp>
      <p:sp>
        <p:nvSpPr>
          <p:cNvPr id="9" name="TextBox 8"/>
          <p:cNvSpPr txBox="1"/>
          <p:nvPr/>
        </p:nvSpPr>
        <p:spPr>
          <a:xfrm>
            <a:off x="731520" y="1005840"/>
            <a:ext cx="10515600" cy="640080"/>
          </a:xfrm>
          <a:prstGeom prst="rect">
            <a:avLst/>
          </a:prstGeom>
          <a:noFill/>
        </p:spPr>
        <p:txBody>
          <a:bodyPr wrap="square" lIns="45720" rIns="45720" anchor="t">
            <a:spAutoFit/>
          </a:bodyPr>
          <a:lstStyle/>
          <a:p>
            <a:pPr algn="l">
              <a:defRPr sz="3400" b="1">
                <a:solidFill>
                  <a:srgbClr val="FFFFFF"/>
                </a:solidFill>
                <a:latin typeface="Aptos"/>
              </a:defRPr>
            </a:pPr>
            <a:r>
              <a:t>ClaimGuard makes integrity review auditable.</a:t>
            </a:r>
          </a:p>
        </p:txBody>
      </p:sp>
      <p:sp>
        <p:nvSpPr>
          <p:cNvPr id="10" name="Rounded Rectangle 9"/>
          <p:cNvSpPr/>
          <p:nvPr/>
        </p:nvSpPr>
        <p:spPr>
          <a:xfrm>
            <a:off x="731520" y="2148840"/>
            <a:ext cx="3337560" cy="2084831"/>
          </a:xfrm>
          <a:prstGeom prst="roundRect">
            <a:avLst>
              <a:gd name="adj" fmla="val 12000"/>
            </a:avLst>
          </a:prstGeom>
          <a:solidFill>
            <a:srgbClr val="16213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32688" y="2386584"/>
            <a:ext cx="6400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395727"/>
            <a:ext cx="640080" cy="274320"/>
          </a:xfrm>
          <a:prstGeom prst="rect">
            <a:avLst/>
          </a:prstGeom>
          <a:noFill/>
        </p:spPr>
        <p:txBody>
          <a:bodyPr wrap="square" lIns="45720" rIns="45720" anchor="t">
            <a:spAutoFit/>
          </a:bodyPr>
          <a:lstStyle/>
          <a:p>
            <a:pPr algn="ctr">
              <a:defRPr sz="1000" b="1">
                <a:solidFill>
                  <a:srgbClr val="FFFFFF"/>
                </a:solidFill>
                <a:latin typeface="Aptos"/>
              </a:defRPr>
            </a:pPr>
            <a:r>
              <a:t>01</a:t>
            </a:r>
          </a:p>
        </p:txBody>
      </p:sp>
      <p:sp>
        <p:nvSpPr>
          <p:cNvPr id="13" name="TextBox 12"/>
          <p:cNvSpPr txBox="1"/>
          <p:nvPr/>
        </p:nvSpPr>
        <p:spPr>
          <a:xfrm>
            <a:off x="932688" y="2880360"/>
            <a:ext cx="2834640" cy="320040"/>
          </a:xfrm>
          <a:prstGeom prst="rect">
            <a:avLst/>
          </a:prstGeom>
          <a:noFill/>
        </p:spPr>
        <p:txBody>
          <a:bodyPr wrap="square" lIns="45720" rIns="45720" anchor="t">
            <a:spAutoFit/>
          </a:bodyPr>
          <a:lstStyle/>
          <a:p>
            <a:pPr algn="l">
              <a:defRPr sz="1800" b="1">
                <a:solidFill>
                  <a:srgbClr val="38BDF8"/>
                </a:solidFill>
                <a:latin typeface="Aptos"/>
              </a:defRPr>
            </a:pPr>
            <a:r>
              <a:t>Pipeline</a:t>
            </a:r>
          </a:p>
        </p:txBody>
      </p:sp>
      <p:sp>
        <p:nvSpPr>
          <p:cNvPr id="14" name="TextBox 13"/>
          <p:cNvSpPr txBox="1"/>
          <p:nvPr/>
        </p:nvSpPr>
        <p:spPr>
          <a:xfrm>
            <a:off x="932688" y="3328416"/>
            <a:ext cx="2852928" cy="566928"/>
          </a:xfrm>
          <a:prstGeom prst="rect">
            <a:avLst/>
          </a:prstGeom>
          <a:noFill/>
        </p:spPr>
        <p:txBody>
          <a:bodyPr wrap="square" lIns="45720" rIns="45720" anchor="t">
            <a:spAutoFit/>
          </a:bodyPr>
          <a:lstStyle/>
          <a:p>
            <a:pPr algn="l">
              <a:defRPr sz="1300" b="0">
                <a:solidFill>
                  <a:srgbClr val="CBD5E1"/>
                </a:solidFill>
                <a:latin typeface="Aptos"/>
              </a:defRPr>
            </a:pPr>
            <a:r>
              <a:t>Claims, references, evidence, and verdicts in one workflow.</a:t>
            </a:r>
          </a:p>
        </p:txBody>
      </p:sp>
      <p:sp>
        <p:nvSpPr>
          <p:cNvPr id="15" name="Rounded Rectangle 14"/>
          <p:cNvSpPr/>
          <p:nvPr/>
        </p:nvSpPr>
        <p:spPr>
          <a:xfrm>
            <a:off x="4480559" y="2148840"/>
            <a:ext cx="3337560" cy="2084831"/>
          </a:xfrm>
          <a:prstGeom prst="roundRect">
            <a:avLst>
              <a:gd name="adj" fmla="val 12000"/>
            </a:avLst>
          </a:prstGeom>
          <a:solidFill>
            <a:srgbClr val="16213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1727" y="2386584"/>
            <a:ext cx="6400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1727" y="2395727"/>
            <a:ext cx="640080" cy="274320"/>
          </a:xfrm>
          <a:prstGeom prst="rect">
            <a:avLst/>
          </a:prstGeom>
          <a:noFill/>
        </p:spPr>
        <p:txBody>
          <a:bodyPr wrap="square" lIns="45720" rIns="45720" anchor="t">
            <a:spAutoFit/>
          </a:bodyPr>
          <a:lstStyle/>
          <a:p>
            <a:pPr algn="ctr">
              <a:defRPr sz="1000" b="1">
                <a:solidFill>
                  <a:srgbClr val="FFFFFF"/>
                </a:solidFill>
                <a:latin typeface="Aptos"/>
              </a:defRPr>
            </a:pPr>
            <a:r>
              <a:t>02</a:t>
            </a:r>
          </a:p>
        </p:txBody>
      </p:sp>
      <p:sp>
        <p:nvSpPr>
          <p:cNvPr id="18" name="TextBox 17"/>
          <p:cNvSpPr txBox="1"/>
          <p:nvPr/>
        </p:nvSpPr>
        <p:spPr>
          <a:xfrm>
            <a:off x="4681727" y="2880360"/>
            <a:ext cx="2834640" cy="320040"/>
          </a:xfrm>
          <a:prstGeom prst="rect">
            <a:avLst/>
          </a:prstGeom>
          <a:noFill/>
        </p:spPr>
        <p:txBody>
          <a:bodyPr wrap="square" lIns="45720" rIns="45720" anchor="t">
            <a:spAutoFit/>
          </a:bodyPr>
          <a:lstStyle/>
          <a:p>
            <a:pPr algn="l">
              <a:defRPr sz="1800" b="1">
                <a:solidFill>
                  <a:srgbClr val="38BDF8"/>
                </a:solidFill>
                <a:latin typeface="Aptos"/>
              </a:defRPr>
            </a:pPr>
            <a:r>
              <a:t>Evidence</a:t>
            </a:r>
          </a:p>
        </p:txBody>
      </p:sp>
      <p:sp>
        <p:nvSpPr>
          <p:cNvPr id="19" name="TextBox 18"/>
          <p:cNvSpPr txBox="1"/>
          <p:nvPr/>
        </p:nvSpPr>
        <p:spPr>
          <a:xfrm>
            <a:off x="4681727" y="3328416"/>
            <a:ext cx="2852928" cy="566928"/>
          </a:xfrm>
          <a:prstGeom prst="rect">
            <a:avLst/>
          </a:prstGeom>
          <a:noFill/>
        </p:spPr>
        <p:txBody>
          <a:bodyPr wrap="square" lIns="45720" rIns="45720" anchor="t">
            <a:spAutoFit/>
          </a:bodyPr>
          <a:lstStyle/>
          <a:p>
            <a:pPr algn="l">
              <a:defRPr sz="1300" b="0">
                <a:solidFill>
                  <a:srgbClr val="CBD5E1"/>
                </a:solidFill>
                <a:latin typeface="Aptos"/>
              </a:defRPr>
            </a:pPr>
            <a:r>
              <a:t>Real-report evaluation exposes where synthetic scores mislead.</a:t>
            </a:r>
          </a:p>
        </p:txBody>
      </p:sp>
      <p:sp>
        <p:nvSpPr>
          <p:cNvPr id="20" name="Rounded Rectangle 19"/>
          <p:cNvSpPr/>
          <p:nvPr/>
        </p:nvSpPr>
        <p:spPr>
          <a:xfrm>
            <a:off x="8229600" y="2148840"/>
            <a:ext cx="3337560" cy="2084831"/>
          </a:xfrm>
          <a:prstGeom prst="roundRect">
            <a:avLst>
              <a:gd name="adj" fmla="val 12000"/>
            </a:avLst>
          </a:prstGeom>
          <a:solidFill>
            <a:srgbClr val="16213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430768" y="2386584"/>
            <a:ext cx="6400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0768" y="2395727"/>
            <a:ext cx="640080" cy="274320"/>
          </a:xfrm>
          <a:prstGeom prst="rect">
            <a:avLst/>
          </a:prstGeom>
          <a:noFill/>
        </p:spPr>
        <p:txBody>
          <a:bodyPr wrap="square" lIns="45720" rIns="45720" anchor="t">
            <a:spAutoFit/>
          </a:bodyPr>
          <a:lstStyle/>
          <a:p>
            <a:pPr algn="ctr">
              <a:defRPr sz="1000" b="1">
                <a:solidFill>
                  <a:srgbClr val="FFFFFF"/>
                </a:solidFill>
                <a:latin typeface="Aptos"/>
              </a:defRPr>
            </a:pPr>
            <a:r>
              <a:t>03</a:t>
            </a:r>
          </a:p>
        </p:txBody>
      </p:sp>
      <p:sp>
        <p:nvSpPr>
          <p:cNvPr id="23" name="TextBox 22"/>
          <p:cNvSpPr txBox="1"/>
          <p:nvPr/>
        </p:nvSpPr>
        <p:spPr>
          <a:xfrm>
            <a:off x="8430768" y="2880360"/>
            <a:ext cx="2834640" cy="320040"/>
          </a:xfrm>
          <a:prstGeom prst="rect">
            <a:avLst/>
          </a:prstGeom>
          <a:noFill/>
        </p:spPr>
        <p:txBody>
          <a:bodyPr wrap="square" lIns="45720" rIns="45720" anchor="t">
            <a:spAutoFit/>
          </a:bodyPr>
          <a:lstStyle/>
          <a:p>
            <a:pPr algn="l">
              <a:defRPr sz="1800" b="1">
                <a:solidFill>
                  <a:srgbClr val="38BDF8"/>
                </a:solidFill>
                <a:latin typeface="Aptos"/>
              </a:defRPr>
            </a:pPr>
            <a:r>
              <a:t>Responsibility</a:t>
            </a:r>
          </a:p>
        </p:txBody>
      </p:sp>
      <p:sp>
        <p:nvSpPr>
          <p:cNvPr id="24" name="TextBox 23"/>
          <p:cNvSpPr txBox="1"/>
          <p:nvPr/>
        </p:nvSpPr>
        <p:spPr>
          <a:xfrm>
            <a:off x="8430768" y="3328416"/>
            <a:ext cx="2852928" cy="566928"/>
          </a:xfrm>
          <a:prstGeom prst="rect">
            <a:avLst/>
          </a:prstGeom>
          <a:noFill/>
        </p:spPr>
        <p:txBody>
          <a:bodyPr wrap="square" lIns="45720" rIns="45720" anchor="t">
            <a:spAutoFit/>
          </a:bodyPr>
          <a:lstStyle/>
          <a:p>
            <a:pPr algn="l">
              <a:defRPr sz="1300" b="0">
                <a:solidFill>
                  <a:srgbClr val="CBD5E1"/>
                </a:solidFill>
                <a:latin typeface="Aptos"/>
              </a:defRPr>
            </a:pPr>
            <a:r>
              <a:t>Use automation to focus human attention — not replace judgment.</a:t>
            </a:r>
          </a:p>
        </p:txBody>
      </p:sp>
      <p:sp>
        <p:nvSpPr>
          <p:cNvPr id="25" name="TextBox 24"/>
          <p:cNvSpPr txBox="1"/>
          <p:nvPr/>
        </p:nvSpPr>
        <p:spPr>
          <a:xfrm>
            <a:off x="749808" y="5074920"/>
            <a:ext cx="10515600" cy="411480"/>
          </a:xfrm>
          <a:prstGeom prst="rect">
            <a:avLst/>
          </a:prstGeom>
          <a:noFill/>
        </p:spPr>
        <p:txBody>
          <a:bodyPr wrap="square" lIns="45720" rIns="45720" anchor="t">
            <a:spAutoFit/>
          </a:bodyPr>
          <a:lstStyle/>
          <a:p>
            <a:pPr algn="ctr">
              <a:defRPr sz="1700" b="1">
                <a:solidFill>
                  <a:srgbClr val="FFFFFF"/>
                </a:solidFill>
                <a:latin typeface="Aptos"/>
              </a:defRPr>
            </a:pPr>
            <a:r>
              <a:t>Next: double annotation, external-tool benchmark, and consented citation-pattern study.</a:t>
            </a:r>
          </a:p>
        </p:txBody>
      </p:sp>
      <p:sp>
        <p:nvSpPr>
          <p:cNvPr id="26" name="TextBox 25"/>
          <p:cNvSpPr txBox="1"/>
          <p:nvPr/>
        </p:nvSpPr>
        <p:spPr>
          <a:xfrm>
            <a:off x="749808" y="6172200"/>
            <a:ext cx="4572000" cy="228600"/>
          </a:xfrm>
          <a:prstGeom prst="rect">
            <a:avLst/>
          </a:prstGeom>
          <a:noFill/>
        </p:spPr>
        <p:txBody>
          <a:bodyPr wrap="square" lIns="45720" rIns="45720" anchor="t">
            <a:spAutoFit/>
          </a:bodyPr>
          <a:lstStyle/>
          <a:p>
            <a:pPr algn="l">
              <a:defRPr sz="900" b="0">
                <a:solidFill>
                  <a:srgbClr val="94A3B8"/>
                </a:solidFill>
                <a:latin typeface="Aptos"/>
              </a:defRPr>
            </a:pPr>
            <a:r>
              <a:t>Nick closes • Nils transitions to Q&amp;A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Oval 1"/>
          <p:cNvSpPr/>
          <p:nvPr/>
        </p:nvSpPr>
        <p:spPr>
          <a:xfrm>
            <a:off x="5239512" y="804672"/>
            <a:ext cx="1664208" cy="1664208"/>
          </a:xfrm>
          <a:prstGeom prst="ellipse">
            <a:avLst/>
          </a:prstGeom>
          <a:solidFill>
            <a:srgbClr val="2563EB"/>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239512" y="1170432"/>
            <a:ext cx="1664208" cy="658368"/>
          </a:xfrm>
          <a:prstGeom prst="rect">
            <a:avLst/>
          </a:prstGeom>
          <a:noFill/>
        </p:spPr>
        <p:txBody>
          <a:bodyPr wrap="square" lIns="45720" rIns="45720" anchor="t">
            <a:spAutoFit/>
          </a:bodyPr>
          <a:lstStyle/>
          <a:p>
            <a:pPr algn="ctr">
              <a:defRPr sz="4200" b="1">
                <a:solidFill>
                  <a:srgbClr val="FFFFFF"/>
                </a:solidFill>
                <a:latin typeface="Aptos"/>
              </a:defRPr>
            </a:pPr>
            <a:r>
              <a:t>?</a:t>
            </a:r>
          </a:p>
        </p:txBody>
      </p:sp>
      <p:sp>
        <p:nvSpPr>
          <p:cNvPr id="4" name="TextBox 3"/>
          <p:cNvSpPr txBox="1"/>
          <p:nvPr/>
        </p:nvSpPr>
        <p:spPr>
          <a:xfrm>
            <a:off x="1097280" y="2788920"/>
            <a:ext cx="9966960" cy="713232"/>
          </a:xfrm>
          <a:prstGeom prst="rect">
            <a:avLst/>
          </a:prstGeom>
          <a:noFill/>
        </p:spPr>
        <p:txBody>
          <a:bodyPr wrap="square" lIns="45720" rIns="45720" anchor="t">
            <a:spAutoFit/>
          </a:bodyPr>
          <a:lstStyle/>
          <a:p>
            <a:pPr algn="ctr">
              <a:defRPr sz="3700" b="1">
                <a:solidFill>
                  <a:srgbClr val="FFFFFF"/>
                </a:solidFill>
                <a:latin typeface="Aptos"/>
              </a:defRPr>
            </a:pPr>
            <a:r>
              <a:t>Questions &amp; discussion</a:t>
            </a:r>
          </a:p>
        </p:txBody>
      </p:sp>
      <p:sp>
        <p:nvSpPr>
          <p:cNvPr id="5" name="TextBox 4"/>
          <p:cNvSpPr txBox="1"/>
          <p:nvPr/>
        </p:nvSpPr>
        <p:spPr>
          <a:xfrm>
            <a:off x="1965960" y="3703320"/>
            <a:ext cx="8229600" cy="411480"/>
          </a:xfrm>
          <a:prstGeom prst="rect">
            <a:avLst/>
          </a:prstGeom>
          <a:noFill/>
        </p:spPr>
        <p:txBody>
          <a:bodyPr wrap="square" lIns="45720" rIns="45720" anchor="t">
            <a:spAutoFit/>
          </a:bodyPr>
          <a:lstStyle/>
          <a:p>
            <a:pPr algn="ctr">
              <a:defRPr sz="2000" b="1">
                <a:solidFill>
                  <a:srgbClr val="38BDF8"/>
                </a:solidFill>
                <a:latin typeface="Aptos"/>
              </a:defRPr>
            </a:pPr>
            <a:r>
              <a:t>5 minutes</a:t>
            </a:r>
          </a:p>
        </p:txBody>
      </p:sp>
      <p:sp>
        <p:nvSpPr>
          <p:cNvPr id="6" name="TextBox 5"/>
          <p:cNvSpPr txBox="1"/>
          <p:nvPr/>
        </p:nvSpPr>
        <p:spPr>
          <a:xfrm>
            <a:off x="1828800" y="4754880"/>
            <a:ext cx="8503920" cy="502920"/>
          </a:xfrm>
          <a:prstGeom prst="rect">
            <a:avLst/>
          </a:prstGeom>
          <a:noFill/>
        </p:spPr>
        <p:txBody>
          <a:bodyPr wrap="square" lIns="45720" rIns="45720" anchor="t">
            <a:spAutoFit/>
          </a:bodyPr>
          <a:lstStyle/>
          <a:p>
            <a:pPr algn="ctr">
              <a:defRPr sz="1500" b="0">
                <a:solidFill>
                  <a:srgbClr val="CBD5E1"/>
                </a:solidFill>
                <a:latin typeface="Aptos"/>
              </a:defRPr>
            </a:pPr>
            <a:r>
              <a:t>Architecture  •  Evaluation  •  Model trade-offs  •  Ethics</a:t>
            </a:r>
          </a:p>
        </p:txBody>
      </p:sp>
      <p:sp>
        <p:nvSpPr>
          <p:cNvPr id="7" name="TextBox 6"/>
          <p:cNvSpPr txBox="1"/>
          <p:nvPr/>
        </p:nvSpPr>
        <p:spPr>
          <a:xfrm>
            <a:off x="685800" y="6236208"/>
            <a:ext cx="4114800" cy="228600"/>
          </a:xfrm>
          <a:prstGeom prst="rect">
            <a:avLst/>
          </a:prstGeom>
          <a:noFill/>
        </p:spPr>
        <p:txBody>
          <a:bodyPr wrap="square" lIns="45720" rIns="45720" anchor="t">
            <a:spAutoFit/>
          </a:bodyPr>
          <a:lstStyle/>
          <a:p>
            <a:pPr algn="l">
              <a:defRPr sz="1000" b="0">
                <a:solidFill>
                  <a:srgbClr val="94A3B8"/>
                </a:solidFill>
                <a:latin typeface="Aptos"/>
              </a:defRPr>
            </a:pPr>
            <a:r>
              <a:t>Nils Wagner • Nick Wenzel</a:t>
            </a:r>
          </a:p>
        </p:txBody>
      </p:sp>
      <p:sp>
        <p:nvSpPr>
          <p:cNvPr id="8" name="TextBox 7"/>
          <p:cNvSpPr txBox="1"/>
          <p:nvPr/>
        </p:nvSpPr>
        <p:spPr>
          <a:xfrm>
            <a:off x="9875520" y="6236208"/>
            <a:ext cx="1554480" cy="228600"/>
          </a:xfrm>
          <a:prstGeom prst="rect">
            <a:avLst/>
          </a:prstGeom>
          <a:noFill/>
        </p:spPr>
        <p:txBody>
          <a:bodyPr wrap="square" lIns="45720" rIns="45720" anchor="t">
            <a:spAutoFit/>
          </a:bodyPr>
          <a:lstStyle/>
          <a:p>
            <a:pPr algn="r">
              <a:defRPr sz="1000" b="0">
                <a:solidFill>
                  <a:srgbClr val="94A3B8"/>
                </a:solidFill>
                <a:latin typeface="Aptos"/>
              </a:defRPr>
            </a:pPr>
            <a:r>
              <a:t>05:00 Q&amp;A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ClaimGuard — Academic Integrity Checking</dc:title>
  <dc:subject>MWI Deep Learning Capstone presentation</dc:subject>
  <dc:creator>Nils Wagner &amp; Nick Wenzel</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