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Macro-F1</c:v>
                </c:pt>
              </c:strCache>
            </c:strRef>
          </c:tx>
          <c:spPr>
            <a:solidFill>
              <a:srgbClr val="2563EB"/>
            </a:solidFill>
          </c:spPr>
          <c:dLbls>
            <c:numFmt formatCode="0.000" sourceLinked="0"/>
            <c:txPr>
              <a:bodyPr/>
              <a:lstStyle/>
              <a:p>
                <a:pPr>
                  <a:defRPr sz="1100" b="1"/>
                </a:pPr>
              </a:p>
            </c:txPr>
            <c:dLblPos val="outEnd"/>
            <c:showLegendKey val="0"/>
            <c:showVal val="0"/>
            <c:showCatName val="0"/>
            <c:showSerName val="0"/>
            <c:showPercent val="0"/>
            <c:showBubbleSize val="0"/>
            <c:showLeaderLines val="1"/>
          </c:dLbls>
          <c:cat>
            <c:strRef>
              <c:f>Sheet1!$A$2:$A$5</c:f>
              <c:strCache>
                <c:ptCount val="4"/>
                <c:pt idx="0">
                  <c:v>Real RQ
claims</c:v>
                </c:pt>
                <c:pt idx="1">
                  <c:v>Lexical
verifier</c:v>
                </c:pt>
                <c:pt idx="2">
                  <c:v>Embedding
verifier</c:v>
                </c:pt>
                <c:pt idx="3">
                  <c:v>LoRA
transfer</c:v>
                </c:pt>
              </c:strCache>
            </c:strRef>
          </c:cat>
          <c:val>
            <c:numRef>
              <c:f>Sheet1!$B$2:$B$5</c:f>
              <c:numCache>
                <c:formatCode>General</c:formatCode>
                <c:ptCount val="4"/>
                <c:pt idx="0">
                  <c:v>0.437</c:v>
                </c:pt>
                <c:pt idx="1">
                  <c:v>0.9</c:v>
                </c:pt>
                <c:pt idx="2">
                  <c:v>0.868</c:v>
                </c:pt>
                <c:pt idx="3">
                  <c:v>0.172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min val="0.0"/>
        </c:scaling>
        <c:delete val="0"/>
        <c:axPos val="l"/>
        <c:majorGridlines/>
        <c:majorTickMark val="out"/>
        <c:minorTickMark val="none"/>
        <c:tickLblPos val="nextTo"/>
        <c:txPr>
          <a:bodyPr/>
          <a:lstStyle/>
          <a:p>
            <a:pPr>
              <a:defRPr sz="1000"/>
            </a:pPr>
          </a:p>
        </c:txPr>
        <c:crossAx val="-2068027336"/>
        <c:crosses val="autoZero"/>
        <c:majorUnit val="0.2"/>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20 seconds</a:t>
            </a:r>
          </a:p>
          <a:p>
            <a:r>
              <a:t>Open with one sentence: ClaimGuard does not decide misconduct; it organizes evidence so a human can review it. Introduce both presenters and the three-part question: claim, reference, support.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seconds</a:t>
            </a:r>
          </a:p>
          <a:p>
            <a:r>
              <a:t>Use the contrast on the left. Explain that plagiarism, fabricated references, and unsupported citation use are distinct. ClaimGuard focuses on citation integrity and evidence support. Stress that the system is decision support, not an accusation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45 seconds</a:t>
            </a:r>
          </a:p>
          <a:p>
            <a:r>
              <a:t>Walk left to right. These checks map directly to the three core modules. Mention that every decision remains traceable in JSON, while Markdown is the reviewer-facing 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70 seconds</a:t>
            </a:r>
          </a:p>
          <a:p>
            <a:r>
              <a:t>Follow the five numbered boxes. Explain that references constrain evidence retrieval; the verifier never receives the whole internet. Point out the audit rail: this is what makes the output reproducible. Hand over to Nick for implementation choices.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75 seconds</a:t>
            </a:r>
          </a:p>
          <a:p>
            <a:r>
              <a:t>Explain why there is no single best backend. The APIs validate bibliography, not source support. The retriever can use embeddings but falls back to lexical search. Mention store=false for OpenAI and that local models keep text on-device.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90 seconds</a:t>
            </a:r>
          </a:p>
          <a:p>
            <a:r>
              <a:t>If live: run the prepared command, then open rq5_openai.md. If offline: use this slide. Read only the shortened claim. Point to citations and top evidence. Compare the two verdicts, then emphasize that disagreement is exactly why evidence and rationale must be shown.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75 seconds</a:t>
            </a:r>
          </a:p>
          <a:p>
            <a:r>
              <a:t>Start with the 0.900 lexical verifier result, then contrast it with real claim classification at 0.437 Macro-F1. Explain that embeddings did not help this small direct-evidence benchmark. Mention the parser result cautiously: only five cases. The takeaway is the synthetic-to-real gap.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75 seconds</a:t>
            </a:r>
          </a:p>
          <a:p>
            <a:r>
              <a:t>Separate gold-benchmark results from the dagger-marked one-claim diagnostic. The heuristic wins this small synthetic benchmark because the cases reward direct lexical patterns. LoRA is fast but cannot emit two of ClaimGuard's five labels. OpenAI is much faster than the small Ollama run here, but a full gold comparison is still pending.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seconds</a:t>
            </a:r>
          </a:p>
          <a:p>
            <a:r>
              <a:t>Give two concrete successes and two concrete failures. Do not apologize for limitations; frame them as measured engineering evidence. Mention Binoculars only as implemented but not executable with the calibrated models on 8 GB VRAM.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20 seconds; Nils — 15 seconds</a:t>
            </a:r>
          </a:p>
          <a:p>
            <a:r>
              <a:t>Nick summarizes pipeline and evidence. Nils closes with the ethical boundary and invites questions. Transition immediately to the Q&amp;A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5 minutes</a:t>
            </a:r>
          </a:p>
          <a:p>
            <a:r>
              <a:t>Suggested ownership: Nils answers architecture/evaluation; Nick answers model/API/demo questions. If asked about the low real-claim score, lead with the measured domain shift and single-annotator limitation.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749808" y="731520"/>
            <a:ext cx="694944" cy="694944"/>
          </a:xfrm>
          <a:prstGeom prst="hexagon">
            <a:avLst/>
          </a:prstGeom>
          <a:solidFill>
            <a:srgbClr val="2563E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914400"/>
            <a:ext cx="694944" cy="274320"/>
          </a:xfrm>
          <a:prstGeom prst="rect">
            <a:avLst/>
          </a:prstGeom>
          <a:noFill/>
        </p:spPr>
        <p:txBody>
          <a:bodyPr wrap="square" lIns="45720" rIns="45720" anchor="t">
            <a:spAutoFit/>
          </a:bodyPr>
          <a:lstStyle/>
          <a:p>
            <a:pPr algn="ctr">
              <a:defRPr sz="1700" b="1">
                <a:solidFill>
                  <a:srgbClr val="FFFFFF"/>
                </a:solidFill>
                <a:latin typeface="Aptos"/>
              </a:defRPr>
            </a:pPr>
            <a:r>
              <a:t>CG</a:t>
            </a:r>
          </a:p>
        </p:txBody>
      </p:sp>
      <p:sp>
        <p:nvSpPr>
          <p:cNvPr id="5" name="Rounded Rectangle 4"/>
          <p:cNvSpPr/>
          <p:nvPr/>
        </p:nvSpPr>
        <p:spPr>
          <a:xfrm>
            <a:off x="9098280" y="658368"/>
            <a:ext cx="22402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667512"/>
            <a:ext cx="2240280" cy="274320"/>
          </a:xfrm>
          <a:prstGeom prst="rect">
            <a:avLst/>
          </a:prstGeom>
          <a:noFill/>
        </p:spPr>
        <p:txBody>
          <a:bodyPr wrap="square" lIns="45720" rIns="45720" anchor="t">
            <a:spAutoFit/>
          </a:bodyPr>
          <a:lstStyle/>
          <a:p>
            <a:pPr algn="ctr">
              <a:defRPr sz="1000" b="1">
                <a:solidFill>
                  <a:srgbClr val="FFFFFF"/>
                </a:solidFill>
                <a:latin typeface="Aptos"/>
              </a:defRPr>
            </a:pPr>
            <a:r>
              <a:t>15 MIN • TEAM PRESENTATION</a:t>
            </a:r>
          </a:p>
        </p:txBody>
      </p:sp>
      <p:sp>
        <p:nvSpPr>
          <p:cNvPr id="7" name="TextBox 6"/>
          <p:cNvSpPr txBox="1"/>
          <p:nvPr/>
        </p:nvSpPr>
        <p:spPr>
          <a:xfrm>
            <a:off x="749808" y="1874519"/>
            <a:ext cx="10241280" cy="731520"/>
          </a:xfrm>
          <a:prstGeom prst="rect">
            <a:avLst/>
          </a:prstGeom>
          <a:noFill/>
        </p:spPr>
        <p:txBody>
          <a:bodyPr wrap="square" lIns="45720" rIns="45720" anchor="t">
            <a:spAutoFit/>
          </a:bodyPr>
          <a:lstStyle/>
          <a:p>
            <a:pPr algn="l">
              <a:defRPr sz="4400" b="1">
                <a:solidFill>
                  <a:srgbClr val="FFFFFF"/>
                </a:solidFill>
                <a:latin typeface="Aptos"/>
              </a:defRPr>
            </a:pPr>
            <a:r>
              <a:t>ClaimGuard</a:t>
            </a:r>
          </a:p>
        </p:txBody>
      </p:sp>
      <p:sp>
        <p:nvSpPr>
          <p:cNvPr id="8" name="TextBox 7"/>
          <p:cNvSpPr txBox="1"/>
          <p:nvPr/>
        </p:nvSpPr>
        <p:spPr>
          <a:xfrm>
            <a:off x="749808" y="2633472"/>
            <a:ext cx="9966960" cy="731520"/>
          </a:xfrm>
          <a:prstGeom prst="rect">
            <a:avLst/>
          </a:prstGeom>
          <a:noFill/>
        </p:spPr>
        <p:txBody>
          <a:bodyPr wrap="square" lIns="45720" rIns="45720" anchor="t">
            <a:spAutoFit/>
          </a:bodyPr>
          <a:lstStyle/>
          <a:p>
            <a:pPr algn="l">
              <a:defRPr sz="2500" b="1">
                <a:solidFill>
                  <a:srgbClr val="38BDF8"/>
                </a:solidFill>
                <a:latin typeface="Aptos"/>
              </a:defRPr>
            </a:pPr>
            <a:r>
              <a:t>Evidence-backed academic integrity checking</a:t>
            </a:r>
          </a:p>
        </p:txBody>
      </p:sp>
      <p:sp>
        <p:nvSpPr>
          <p:cNvPr id="9" name="TextBox 8"/>
          <p:cNvSpPr txBox="1"/>
          <p:nvPr/>
        </p:nvSpPr>
        <p:spPr>
          <a:xfrm>
            <a:off x="768096" y="3547872"/>
            <a:ext cx="8961120" cy="658368"/>
          </a:xfrm>
          <a:prstGeom prst="rect">
            <a:avLst/>
          </a:prstGeom>
          <a:noFill/>
        </p:spPr>
        <p:txBody>
          <a:bodyPr wrap="square" lIns="45720" rIns="45720" anchor="t">
            <a:spAutoFit/>
          </a:bodyPr>
          <a:lstStyle/>
          <a:p>
            <a:pPr algn="l">
              <a:defRPr sz="1800" b="0">
                <a:solidFill>
                  <a:srgbClr val="CBD5E1"/>
                </a:solidFill>
                <a:latin typeface="Aptos"/>
              </a:defRPr>
            </a:pPr>
            <a:r>
              <a:t>From PDF claims to reference validation and source-support verdicts</a:t>
            </a:r>
          </a:p>
        </p:txBody>
      </p:sp>
      <p:sp>
        <p:nvSpPr>
          <p:cNvPr id="10" name="TextBox 9"/>
          <p:cNvSpPr txBox="1"/>
          <p:nvPr/>
        </p:nvSpPr>
        <p:spPr>
          <a:xfrm>
            <a:off x="768096" y="5047488"/>
            <a:ext cx="4572000" cy="274320"/>
          </a:xfrm>
          <a:prstGeom prst="rect">
            <a:avLst/>
          </a:prstGeom>
          <a:noFill/>
        </p:spPr>
        <p:txBody>
          <a:bodyPr wrap="square" lIns="45720" rIns="45720" anchor="t">
            <a:spAutoFit/>
          </a:bodyPr>
          <a:lstStyle/>
          <a:p>
            <a:pPr algn="l">
              <a:defRPr sz="1500" b="1">
                <a:solidFill>
                  <a:srgbClr val="FFFFFF"/>
                </a:solidFill>
                <a:latin typeface="Aptos"/>
              </a:defRPr>
            </a:pPr>
            <a:r>
              <a:t>Nils Wagner  •  Nick Wenzel</a:t>
            </a:r>
          </a:p>
        </p:txBody>
      </p:sp>
      <p:sp>
        <p:nvSpPr>
          <p:cNvPr id="11" name="TextBox 10"/>
          <p:cNvSpPr txBox="1"/>
          <p:nvPr/>
        </p:nvSpPr>
        <p:spPr>
          <a:xfrm>
            <a:off x="768096" y="5422392"/>
            <a:ext cx="6217920" cy="274320"/>
          </a:xfrm>
          <a:prstGeom prst="rect">
            <a:avLst/>
          </a:prstGeom>
          <a:noFill/>
        </p:spPr>
        <p:txBody>
          <a:bodyPr wrap="square" lIns="45720" rIns="45720" anchor="t">
            <a:spAutoFit/>
          </a:bodyPr>
          <a:lstStyle/>
          <a:p>
            <a:pPr algn="l">
              <a:defRPr sz="1200" b="0">
                <a:solidFill>
                  <a:srgbClr val="94A3B8"/>
                </a:solidFill>
                <a:latin typeface="Aptos"/>
              </a:defRPr>
            </a:pPr>
            <a:r>
              <a:t>MWI Deep Learning Capstone  •  2 July 2026</a:t>
            </a:r>
          </a:p>
        </p:txBody>
      </p:sp>
      <p:sp>
        <p:nvSpPr>
          <p:cNvPr id="12" name="TextBox 11"/>
          <p:cNvSpPr txBox="1"/>
          <p:nvPr/>
        </p:nvSpPr>
        <p:spPr>
          <a:xfrm>
            <a:off x="9966960" y="6263640"/>
            <a:ext cx="1371600" cy="228600"/>
          </a:xfrm>
          <a:prstGeom prst="rect">
            <a:avLst/>
          </a:prstGeom>
          <a:noFill/>
        </p:spPr>
        <p:txBody>
          <a:bodyPr wrap="square" lIns="45720" rIns="45720" anchor="t">
            <a:spAutoFit/>
          </a:bodyPr>
          <a:lstStyle/>
          <a:p>
            <a:pPr algn="r">
              <a:defRPr sz="900" b="0">
                <a:solidFill>
                  <a:srgbClr val="94A3B8"/>
                </a:solidFill>
                <a:latin typeface="Aptos"/>
              </a:defRPr>
            </a:pPr>
            <a:r>
              <a:t>NILS • 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 MOTIVATION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Why academic integrity checking matters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02</a:t>
            </a:r>
          </a:p>
        </p:txBody>
      </p:sp>
      <p:sp>
        <p:nvSpPr>
          <p:cNvPr id="7" name="Rounded Rectangle 6"/>
          <p:cNvSpPr/>
          <p:nvPr/>
        </p:nvSpPr>
        <p:spPr>
          <a:xfrm>
            <a:off x="566928" y="1234440"/>
            <a:ext cx="4709160" cy="44348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4069080" cy="292608"/>
          </a:xfrm>
          <a:prstGeom prst="rect">
            <a:avLst/>
          </a:prstGeom>
          <a:noFill/>
        </p:spPr>
        <p:txBody>
          <a:bodyPr wrap="square" lIns="45720" rIns="45720" anchor="t">
            <a:spAutoFit/>
          </a:bodyPr>
          <a:lstStyle/>
          <a:p>
            <a:pPr algn="l">
              <a:defRPr sz="2100" b="1">
                <a:solidFill>
                  <a:srgbClr val="38BDF8"/>
                </a:solidFill>
                <a:latin typeface="Aptos"/>
              </a:defRPr>
            </a:pPr>
            <a:r>
              <a:t>A citation can be real…</a:t>
            </a:r>
          </a:p>
        </p:txBody>
      </p:sp>
      <p:sp>
        <p:nvSpPr>
          <p:cNvPr id="9" name="TextBox 8"/>
          <p:cNvSpPr txBox="1"/>
          <p:nvPr/>
        </p:nvSpPr>
        <p:spPr>
          <a:xfrm>
            <a:off x="868680" y="2084831"/>
            <a:ext cx="4069080" cy="1115568"/>
          </a:xfrm>
          <a:prstGeom prst="rect">
            <a:avLst/>
          </a:prstGeom>
          <a:noFill/>
        </p:spPr>
        <p:txBody>
          <a:bodyPr wrap="square" lIns="45720" rIns="45720" anchor="t">
            <a:spAutoFit/>
          </a:bodyPr>
          <a:lstStyle/>
          <a:p>
            <a:pPr algn="l">
              <a:defRPr sz="2900" b="1">
                <a:solidFill>
                  <a:srgbClr val="FFFFFF"/>
                </a:solidFill>
                <a:latin typeface="Aptos"/>
              </a:defRPr>
            </a:pPr>
            <a:r>
              <a:t>…and still not support the sentence that cites it.</a:t>
            </a:r>
          </a:p>
        </p:txBody>
      </p:sp>
      <p:sp>
        <p:nvSpPr>
          <p:cNvPr id="10" name="TextBox 9"/>
          <p:cNvSpPr txBox="1"/>
          <p:nvPr/>
        </p:nvSpPr>
        <p:spPr>
          <a:xfrm>
            <a:off x="868680" y="3730752"/>
            <a:ext cx="3931920" cy="731520"/>
          </a:xfrm>
          <a:prstGeom prst="rect">
            <a:avLst/>
          </a:prstGeom>
          <a:noFill/>
        </p:spPr>
        <p:txBody>
          <a:bodyPr wrap="square" lIns="45720" rIns="45720" anchor="t">
            <a:spAutoFit/>
          </a:bodyPr>
          <a:lstStyle/>
          <a:p>
            <a:pPr algn="l">
              <a:defRPr sz="1600" b="0">
                <a:solidFill>
                  <a:srgbClr val="CBD5E1"/>
                </a:solidFill>
                <a:latin typeface="Aptos"/>
              </a:defRPr>
            </a:pPr>
            <a:r>
              <a:t>Manual review is slow; naive automation creates false accusations.</a:t>
            </a:r>
          </a:p>
        </p:txBody>
      </p:sp>
      <p:sp>
        <p:nvSpPr>
          <p:cNvPr id="11" name="Rounded Rectangle 10"/>
          <p:cNvSpPr/>
          <p:nvPr/>
        </p:nvSpPr>
        <p:spPr>
          <a:xfrm>
            <a:off x="868680" y="4956048"/>
            <a:ext cx="217627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65192"/>
            <a:ext cx="2176272" cy="274320"/>
          </a:xfrm>
          <a:prstGeom prst="rect">
            <a:avLst/>
          </a:prstGeom>
          <a:noFill/>
        </p:spPr>
        <p:txBody>
          <a:bodyPr wrap="square" lIns="45720" rIns="45720" anchor="t">
            <a:spAutoFit/>
          </a:bodyPr>
          <a:lstStyle/>
          <a:p>
            <a:pPr algn="ctr">
              <a:defRPr sz="1000" b="1">
                <a:solidFill>
                  <a:srgbClr val="0B132B"/>
                </a:solidFill>
                <a:latin typeface="Aptos"/>
              </a:defRPr>
            </a:pPr>
            <a:r>
              <a:t>TRIAGE, NOT A VERDICT</a:t>
            </a:r>
          </a:p>
        </p:txBody>
      </p:sp>
      <p:sp>
        <p:nvSpPr>
          <p:cNvPr id="13" name="TextBox 12"/>
          <p:cNvSpPr txBox="1"/>
          <p:nvPr/>
        </p:nvSpPr>
        <p:spPr>
          <a:xfrm>
            <a:off x="5715000" y="1444752"/>
            <a:ext cx="5669280" cy="3566160"/>
          </a:xfrm>
          <a:prstGeom prst="rect">
            <a:avLst/>
          </a:prstGeom>
          <a:noFill/>
        </p:spPr>
        <p:txBody>
          <a:bodyPr wrap="square" lIns="0" rIns="0" tIns="0" bIns="0">
            <a:spAutoFit/>
          </a:bodyPr>
          <a:lstStyle/>
          <a:p>
            <a:pPr>
              <a:lnSpc>
                <a:spcPct val="105000"/>
              </a:lnSpc>
              <a:spcAft>
                <a:spcPts val="1500"/>
              </a:spcAft>
              <a:defRPr sz="1700">
                <a:solidFill>
                  <a:srgbClr val="182230"/>
                </a:solidFill>
                <a:latin typeface="Aptos"/>
              </a:defRPr>
            </a:pPr>
            <a:r>
              <a:rPr b="1"/>
              <a:t>•  Scale  Long reports contain dozens of checkable claims.</a:t>
            </a:r>
          </a:p>
          <a:p>
            <a:pPr>
              <a:lnSpc>
                <a:spcPct val="105000"/>
              </a:lnSpc>
              <a:spcAft>
                <a:spcPts val="1500"/>
              </a:spcAft>
              <a:defRPr sz="1700">
                <a:solidFill>
                  <a:srgbClr val="182230"/>
                </a:solidFill>
                <a:latin typeface="Aptos"/>
              </a:defRPr>
            </a:pPr>
            <a:r>
              <a:rPr b="1"/>
              <a:t>•  Subtlety  Existence, relevance, and factual support are different questions.</a:t>
            </a:r>
          </a:p>
          <a:p>
            <a:pPr>
              <a:lnSpc>
                <a:spcPct val="105000"/>
              </a:lnSpc>
              <a:spcAft>
                <a:spcPts val="1500"/>
              </a:spcAft>
              <a:defRPr sz="1700">
                <a:solidFill>
                  <a:srgbClr val="182230"/>
                </a:solidFill>
                <a:latin typeface="Aptos"/>
              </a:defRPr>
            </a:pPr>
            <a:r>
              <a:rPr b="1"/>
              <a:t>•  Risk  False positives can unfairly damage students or researchers.</a:t>
            </a:r>
          </a:p>
          <a:p>
            <a:pPr>
              <a:lnSpc>
                <a:spcPct val="105000"/>
              </a:lnSpc>
              <a:spcAft>
                <a:spcPts val="1500"/>
              </a:spcAft>
              <a:defRPr sz="1700">
                <a:solidFill>
                  <a:srgbClr val="182230"/>
                </a:solidFill>
                <a:latin typeface="Aptos"/>
              </a:defRPr>
            </a:pPr>
            <a:r>
              <a:rPr b="1"/>
              <a:t>•  Need  Reviewers require traceable evidence, not a black-box score.</a:t>
            </a:r>
          </a:p>
        </p:txBody>
      </p:sp>
      <p:sp>
        <p:nvSpPr>
          <p:cNvPr id="14" name="TextBox 13"/>
          <p:cNvSpPr txBox="1"/>
          <p:nvPr/>
        </p:nvSpPr>
        <p:spPr>
          <a:xfrm>
            <a:off x="5742432" y="5193792"/>
            <a:ext cx="5303520" cy="384048"/>
          </a:xfrm>
          <a:prstGeom prst="rect">
            <a:avLst/>
          </a:prstGeom>
          <a:noFill/>
        </p:spPr>
        <p:txBody>
          <a:bodyPr wrap="square" lIns="45720" rIns="45720" anchor="t">
            <a:spAutoFit/>
          </a:bodyPr>
          <a:lstStyle/>
          <a:p>
            <a:pPr algn="l">
              <a:defRPr sz="1600" b="1">
                <a:solidFill>
                  <a:srgbClr val="2563EB"/>
                </a:solidFill>
                <a:latin typeface="Aptos"/>
              </a:defRPr>
            </a:pPr>
            <a:r>
              <a:t>Goal: make suspicious passages faster to inspect and easier to explain.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 FRAMING</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Three checks — one auditable report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0:45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03</a:t>
            </a:r>
          </a:p>
        </p:txBody>
      </p:sp>
      <p:sp>
        <p:nvSpPr>
          <p:cNvPr id="7" name="Rounded Rectangle 6"/>
          <p:cNvSpPr/>
          <p:nvPr/>
        </p:nvSpPr>
        <p:spPr>
          <a:xfrm>
            <a:off x="658368" y="1417320"/>
            <a:ext cx="3401568" cy="3493008"/>
          </a:xfrm>
          <a:prstGeom prst="roundRect">
            <a:avLst>
              <a:gd name="adj" fmla="val 12000"/>
            </a:avLst>
          </a:prstGeom>
          <a:solidFill>
            <a:srgbClr val="F3F6FA"/>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1645920"/>
            <a:ext cx="6583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0" name="TextBox 9"/>
          <p:cNvSpPr txBox="1"/>
          <p:nvPr/>
        </p:nvSpPr>
        <p:spPr>
          <a:xfrm>
            <a:off x="859536"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Does this need a citation?</a:t>
            </a:r>
          </a:p>
        </p:txBody>
      </p:sp>
      <p:sp>
        <p:nvSpPr>
          <p:cNvPr id="11" name="TextBox 10"/>
          <p:cNvSpPr txBox="1"/>
          <p:nvPr/>
        </p:nvSpPr>
        <p:spPr>
          <a:xfrm>
            <a:off x="859536"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Claim type, section, citation marker, severity</a:t>
            </a:r>
          </a:p>
        </p:txBody>
      </p:sp>
      <p:sp>
        <p:nvSpPr>
          <p:cNvPr id="12" name="Rounded Rectangle 11"/>
          <p:cNvSpPr/>
          <p:nvPr/>
        </p:nvSpPr>
        <p:spPr>
          <a:xfrm>
            <a:off x="4480559" y="1417320"/>
            <a:ext cx="3401568" cy="3493008"/>
          </a:xfrm>
          <a:prstGeom prst="roundRect">
            <a:avLst>
              <a:gd name="adj" fmla="val 12000"/>
            </a:avLst>
          </a:prstGeom>
          <a:solidFill>
            <a:srgbClr val="F3F6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81727" y="1645920"/>
            <a:ext cx="6583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5" name="TextBox 14"/>
          <p:cNvSpPr txBox="1"/>
          <p:nvPr/>
        </p:nvSpPr>
        <p:spPr>
          <a:xfrm>
            <a:off x="4681727"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Does the source exist?</a:t>
            </a:r>
          </a:p>
        </p:txBody>
      </p:sp>
      <p:sp>
        <p:nvSpPr>
          <p:cNvPr id="16" name="TextBox 15"/>
          <p:cNvSpPr txBox="1"/>
          <p:nvPr/>
        </p:nvSpPr>
        <p:spPr>
          <a:xfrm>
            <a:off x="4681727"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IEEE parsing plus scholarly metadata APIs</a:t>
            </a:r>
          </a:p>
        </p:txBody>
      </p:sp>
      <p:sp>
        <p:nvSpPr>
          <p:cNvPr id="17" name="Rounded Rectangle 16"/>
          <p:cNvSpPr/>
          <p:nvPr/>
        </p:nvSpPr>
        <p:spPr>
          <a:xfrm>
            <a:off x="8302752" y="1417320"/>
            <a:ext cx="3401568" cy="3493008"/>
          </a:xfrm>
          <a:prstGeom prst="roundRect">
            <a:avLst>
              <a:gd name="adj" fmla="val 12000"/>
            </a:avLst>
          </a:prstGeom>
          <a:solidFill>
            <a:srgbClr val="F3F6F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03920" y="1645920"/>
            <a:ext cx="6583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0" name="TextBox 19"/>
          <p:cNvSpPr txBox="1"/>
          <p:nvPr/>
        </p:nvSpPr>
        <p:spPr>
          <a:xfrm>
            <a:off x="8503920"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Does the source support it?</a:t>
            </a:r>
          </a:p>
        </p:txBody>
      </p:sp>
      <p:sp>
        <p:nvSpPr>
          <p:cNvPr id="21" name="TextBox 20"/>
          <p:cNvSpPr txBox="1"/>
          <p:nvPr/>
        </p:nvSpPr>
        <p:spPr>
          <a:xfrm>
            <a:off x="8503920"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Evidence retrieval plus five-way verification</a:t>
            </a:r>
          </a:p>
        </p:txBody>
      </p:sp>
      <p:sp>
        <p:nvSpPr>
          <p:cNvPr id="22" name="TextBox 21"/>
          <p:cNvSpPr txBox="1"/>
          <p:nvPr/>
        </p:nvSpPr>
        <p:spPr>
          <a:xfrm>
            <a:off x="960120" y="5330952"/>
            <a:ext cx="10241280" cy="384048"/>
          </a:xfrm>
          <a:prstGeom prst="rect">
            <a:avLst/>
          </a:prstGeom>
          <a:noFill/>
        </p:spPr>
        <p:txBody>
          <a:bodyPr wrap="square" lIns="45720" rIns="45720" anchor="t">
            <a:spAutoFit/>
          </a:bodyPr>
          <a:lstStyle/>
          <a:p>
            <a:pPr algn="ctr">
              <a:defRPr sz="1600" b="1">
                <a:solidFill>
                  <a:srgbClr val="0B132B"/>
                </a:solidFill>
                <a:latin typeface="Aptos"/>
              </a:defRPr>
            </a:pPr>
            <a:r>
              <a:t>Output: human-readable Markdown + complete JSON provenance for evaluation and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SYSTEM ARCHITECTURE</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Pipeline architecture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1:10</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04</a:t>
            </a:r>
          </a:p>
        </p:txBody>
      </p:sp>
      <p:sp>
        <p:nvSpPr>
          <p:cNvPr id="7" name="Rounded Rectangle 6"/>
          <p:cNvSpPr/>
          <p:nvPr/>
        </p:nvSpPr>
        <p:spPr>
          <a:xfrm>
            <a:off x="438912" y="1444752"/>
            <a:ext cx="1965960" cy="1261872"/>
          </a:xfrm>
          <a:prstGeom prst="roundRect">
            <a:avLst>
              <a:gd name="adj" fmla="val 12000"/>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581912"/>
            <a:ext cx="384048" cy="384048"/>
          </a:xfrm>
          <a:prstGeom prst="ellipse">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1</a:t>
            </a:r>
          </a:p>
        </p:txBody>
      </p:sp>
      <p:sp>
        <p:nvSpPr>
          <p:cNvPr id="10" name="TextBox 9"/>
          <p:cNvSpPr txBox="1"/>
          <p:nvPr/>
        </p:nvSpPr>
        <p:spPr>
          <a:xfrm>
            <a:off x="1042416"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Ingest</a:t>
            </a:r>
          </a:p>
        </p:txBody>
      </p:sp>
      <p:sp>
        <p:nvSpPr>
          <p:cNvPr id="11" name="TextBox 10"/>
          <p:cNvSpPr txBox="1"/>
          <p:nvPr/>
        </p:nvSpPr>
        <p:spPr>
          <a:xfrm>
            <a:off x="585216"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PDF/TXT extraction</a:t>
            </a:r>
            <a:br/>
            <a:r>
              <a:t>section cleanup</a:t>
            </a:r>
          </a:p>
        </p:txBody>
      </p:sp>
      <p:sp>
        <p:nvSpPr>
          <p:cNvPr id="12" name="Chevron 11"/>
          <p:cNvSpPr/>
          <p:nvPr/>
        </p:nvSpPr>
        <p:spPr>
          <a:xfrm>
            <a:off x="2432304"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8920" y="1444752"/>
            <a:ext cx="1965960" cy="1261872"/>
          </a:xfrm>
          <a:prstGeom prst="roundRect">
            <a:avLst>
              <a:gd name="adj" fmla="val 12000"/>
            </a:avLst>
          </a:prstGeom>
          <a:solidFill>
            <a:srgbClr val="FFFF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98648" y="1581912"/>
            <a:ext cx="384048" cy="384048"/>
          </a:xfrm>
          <a:prstGeom prst="ellipse">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2</a:t>
            </a:r>
          </a:p>
        </p:txBody>
      </p:sp>
      <p:sp>
        <p:nvSpPr>
          <p:cNvPr id="16" name="TextBox 15"/>
          <p:cNvSpPr txBox="1"/>
          <p:nvPr/>
        </p:nvSpPr>
        <p:spPr>
          <a:xfrm>
            <a:off x="3392424"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Claims</a:t>
            </a:r>
          </a:p>
        </p:txBody>
      </p:sp>
      <p:sp>
        <p:nvSpPr>
          <p:cNvPr id="17" name="TextBox 16"/>
          <p:cNvSpPr txBox="1"/>
          <p:nvPr/>
        </p:nvSpPr>
        <p:spPr>
          <a:xfrm>
            <a:off x="2935224"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type + citation need</a:t>
            </a:r>
            <a:br/>
            <a:r>
              <a:t>context linking</a:t>
            </a:r>
          </a:p>
        </p:txBody>
      </p:sp>
      <p:sp>
        <p:nvSpPr>
          <p:cNvPr id="18" name="Chevron 17"/>
          <p:cNvSpPr/>
          <p:nvPr/>
        </p:nvSpPr>
        <p:spPr>
          <a:xfrm>
            <a:off x="4782312"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38927" y="1444752"/>
            <a:ext cx="1965960" cy="1261872"/>
          </a:xfrm>
          <a:prstGeom prst="roundRect">
            <a:avLst>
              <a:gd name="adj" fmla="val 12000"/>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48655" y="1581912"/>
            <a:ext cx="384048" cy="38404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5"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3</a:t>
            </a:r>
          </a:p>
        </p:txBody>
      </p:sp>
      <p:sp>
        <p:nvSpPr>
          <p:cNvPr id="22" name="TextBox 21"/>
          <p:cNvSpPr txBox="1"/>
          <p:nvPr/>
        </p:nvSpPr>
        <p:spPr>
          <a:xfrm>
            <a:off x="5742431"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References</a:t>
            </a:r>
          </a:p>
        </p:txBody>
      </p:sp>
      <p:sp>
        <p:nvSpPr>
          <p:cNvPr id="23" name="TextBox 22"/>
          <p:cNvSpPr txBox="1"/>
          <p:nvPr/>
        </p:nvSpPr>
        <p:spPr>
          <a:xfrm>
            <a:off x="5285231"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IEEE parsing</a:t>
            </a:r>
            <a:br/>
            <a:r>
              <a:t>metadata validation</a:t>
            </a:r>
          </a:p>
        </p:txBody>
      </p:sp>
      <p:sp>
        <p:nvSpPr>
          <p:cNvPr id="24" name="Chevron 23"/>
          <p:cNvSpPr/>
          <p:nvPr/>
        </p:nvSpPr>
        <p:spPr>
          <a:xfrm>
            <a:off x="7132319"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88936" y="1444752"/>
            <a:ext cx="1965960" cy="1261872"/>
          </a:xfrm>
          <a:prstGeom prst="roundRect">
            <a:avLst>
              <a:gd name="adj" fmla="val 12000"/>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98663" y="1581912"/>
            <a:ext cx="384048" cy="384048"/>
          </a:xfrm>
          <a:prstGeom prst="ellipse">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98663"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4</a:t>
            </a:r>
          </a:p>
        </p:txBody>
      </p:sp>
      <p:sp>
        <p:nvSpPr>
          <p:cNvPr id="28" name="TextBox 27"/>
          <p:cNvSpPr txBox="1"/>
          <p:nvPr/>
        </p:nvSpPr>
        <p:spPr>
          <a:xfrm>
            <a:off x="8092440"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Evidence</a:t>
            </a:r>
          </a:p>
        </p:txBody>
      </p:sp>
      <p:sp>
        <p:nvSpPr>
          <p:cNvPr id="29" name="TextBox 28"/>
          <p:cNvSpPr txBox="1"/>
          <p:nvPr/>
        </p:nvSpPr>
        <p:spPr>
          <a:xfrm>
            <a:off x="7635240"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lexical / embeddings</a:t>
            </a:r>
            <a:br/>
            <a:r>
              <a:t>chunk retrieval</a:t>
            </a:r>
          </a:p>
        </p:txBody>
      </p:sp>
      <p:sp>
        <p:nvSpPr>
          <p:cNvPr id="30" name="Chevron 29"/>
          <p:cNvSpPr/>
          <p:nvPr/>
        </p:nvSpPr>
        <p:spPr>
          <a:xfrm>
            <a:off x="9482328"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38944" y="1444752"/>
            <a:ext cx="1965960" cy="1261872"/>
          </a:xfrm>
          <a:prstGeom prst="roundRect">
            <a:avLst>
              <a:gd name="adj" fmla="val 12000"/>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48672" y="1581912"/>
            <a:ext cx="384048" cy="384048"/>
          </a:xfrm>
          <a:prstGeom prst="ellipse">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48672"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5</a:t>
            </a:r>
          </a:p>
        </p:txBody>
      </p:sp>
      <p:sp>
        <p:nvSpPr>
          <p:cNvPr id="34" name="TextBox 33"/>
          <p:cNvSpPr txBox="1"/>
          <p:nvPr/>
        </p:nvSpPr>
        <p:spPr>
          <a:xfrm>
            <a:off x="10442448"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Verdict</a:t>
            </a:r>
          </a:p>
        </p:txBody>
      </p:sp>
      <p:sp>
        <p:nvSpPr>
          <p:cNvPr id="35" name="TextBox 34"/>
          <p:cNvSpPr txBox="1"/>
          <p:nvPr/>
        </p:nvSpPr>
        <p:spPr>
          <a:xfrm>
            <a:off x="9985248"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heuristic / local /</a:t>
            </a:r>
            <a:br/>
            <a:r>
              <a:t>frontier / LoRA</a:t>
            </a:r>
          </a:p>
        </p:txBody>
      </p:sp>
      <p:sp>
        <p:nvSpPr>
          <p:cNvPr id="36" name="Rounded Rectangle 35"/>
          <p:cNvSpPr/>
          <p:nvPr/>
        </p:nvSpPr>
        <p:spPr>
          <a:xfrm>
            <a:off x="676656" y="3246120"/>
            <a:ext cx="10826496" cy="96012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447288"/>
            <a:ext cx="2057400" cy="320040"/>
          </a:xfrm>
          <a:prstGeom prst="rect">
            <a:avLst/>
          </a:prstGeom>
          <a:noFill/>
        </p:spPr>
        <p:txBody>
          <a:bodyPr wrap="square" lIns="45720" rIns="45720" anchor="t">
            <a:spAutoFit/>
          </a:bodyPr>
          <a:lstStyle/>
          <a:p>
            <a:pPr algn="l">
              <a:defRPr sz="1300" b="1">
                <a:solidFill>
                  <a:srgbClr val="38BDF8"/>
                </a:solidFill>
                <a:latin typeface="Aptos"/>
              </a:defRPr>
            </a:pPr>
            <a:r>
              <a:t>AUDIT RAIL</a:t>
            </a:r>
          </a:p>
        </p:txBody>
      </p:sp>
      <p:sp>
        <p:nvSpPr>
          <p:cNvPr id="38" name="TextBox 37"/>
          <p:cNvSpPr txBox="1"/>
          <p:nvPr/>
        </p:nvSpPr>
        <p:spPr>
          <a:xfrm>
            <a:off x="2788920" y="3429000"/>
            <a:ext cx="8138160" cy="393192"/>
          </a:xfrm>
          <a:prstGeom prst="rect">
            <a:avLst/>
          </a:prstGeom>
          <a:noFill/>
        </p:spPr>
        <p:txBody>
          <a:bodyPr wrap="square" lIns="45720" rIns="45720" anchor="t">
            <a:spAutoFit/>
          </a:bodyPr>
          <a:lstStyle/>
          <a:p>
            <a:pPr algn="l">
              <a:defRPr sz="1500" b="0">
                <a:solidFill>
                  <a:srgbClr val="FFFFFF"/>
                </a:solidFill>
                <a:latin typeface="Aptos"/>
              </a:defRPr>
            </a:pPr>
            <a:r>
              <a:t>evidence • confidence • model ID • latency • token usage • response/request IDs</a:t>
            </a:r>
          </a:p>
        </p:txBody>
      </p:sp>
      <p:sp>
        <p:nvSpPr>
          <p:cNvPr id="39" name="Rounded Rectangle 38"/>
          <p:cNvSpPr/>
          <p:nvPr/>
        </p:nvSpPr>
        <p:spPr>
          <a:xfrm>
            <a:off x="91440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78992" y="4754880"/>
            <a:ext cx="2642616" cy="438912"/>
          </a:xfrm>
          <a:prstGeom prst="rect">
            <a:avLst/>
          </a:prstGeom>
          <a:noFill/>
        </p:spPr>
        <p:txBody>
          <a:bodyPr wrap="square" lIns="45720" rIns="45720" anchor="t">
            <a:spAutoFit/>
          </a:bodyPr>
          <a:lstStyle/>
          <a:p>
            <a:pPr algn="l">
              <a:defRPr sz="2700" b="1">
                <a:solidFill>
                  <a:srgbClr val="10B981"/>
                </a:solidFill>
                <a:latin typeface="Aptos"/>
              </a:defRPr>
            </a:pPr>
            <a:r>
              <a:t>Offline first</a:t>
            </a:r>
          </a:p>
        </p:txBody>
      </p:sp>
      <p:sp>
        <p:nvSpPr>
          <p:cNvPr id="41" name="TextBox 40"/>
          <p:cNvSpPr txBox="1"/>
          <p:nvPr/>
        </p:nvSpPr>
        <p:spPr>
          <a:xfrm>
            <a:off x="107899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Deterministic fallback</a:t>
            </a:r>
          </a:p>
        </p:txBody>
      </p:sp>
      <p:sp>
        <p:nvSpPr>
          <p:cNvPr id="42" name="TextBox 41"/>
          <p:cNvSpPr txBox="1"/>
          <p:nvPr/>
        </p:nvSpPr>
        <p:spPr>
          <a:xfrm>
            <a:off x="107899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Network features are opt-in</a:t>
            </a:r>
          </a:p>
        </p:txBody>
      </p:sp>
      <p:sp>
        <p:nvSpPr>
          <p:cNvPr id="43" name="Rounded Rectangle 42"/>
          <p:cNvSpPr/>
          <p:nvPr/>
        </p:nvSpPr>
        <p:spPr>
          <a:xfrm>
            <a:off x="4599432"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64024" y="4754880"/>
            <a:ext cx="2642616" cy="438912"/>
          </a:xfrm>
          <a:prstGeom prst="rect">
            <a:avLst/>
          </a:prstGeom>
          <a:noFill/>
        </p:spPr>
        <p:txBody>
          <a:bodyPr wrap="square" lIns="45720" rIns="45720" anchor="t">
            <a:spAutoFit/>
          </a:bodyPr>
          <a:lstStyle/>
          <a:p>
            <a:pPr algn="l">
              <a:defRPr sz="2700" b="1">
                <a:solidFill>
                  <a:srgbClr val="2563EB"/>
                </a:solidFill>
                <a:latin typeface="Aptos"/>
              </a:defRPr>
            </a:pPr>
            <a:r>
              <a:t>Same schema</a:t>
            </a:r>
          </a:p>
        </p:txBody>
      </p:sp>
      <p:sp>
        <p:nvSpPr>
          <p:cNvPr id="45" name="TextBox 44"/>
          <p:cNvSpPr txBox="1"/>
          <p:nvPr/>
        </p:nvSpPr>
        <p:spPr>
          <a:xfrm>
            <a:off x="4764024"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Comparable backends</a:t>
            </a:r>
          </a:p>
        </p:txBody>
      </p:sp>
      <p:sp>
        <p:nvSpPr>
          <p:cNvPr id="46" name="TextBox 45"/>
          <p:cNvSpPr txBox="1"/>
          <p:nvPr/>
        </p:nvSpPr>
        <p:spPr>
          <a:xfrm>
            <a:off x="4764024"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Five support labels</a:t>
            </a:r>
          </a:p>
        </p:txBody>
      </p:sp>
      <p:sp>
        <p:nvSpPr>
          <p:cNvPr id="47" name="Rounded Rectangle 46"/>
          <p:cNvSpPr/>
          <p:nvPr/>
        </p:nvSpPr>
        <p:spPr>
          <a:xfrm>
            <a:off x="827532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39912" y="4754880"/>
            <a:ext cx="2642616" cy="438912"/>
          </a:xfrm>
          <a:prstGeom prst="rect">
            <a:avLst/>
          </a:prstGeom>
          <a:noFill/>
        </p:spPr>
        <p:txBody>
          <a:bodyPr wrap="square" lIns="45720" rIns="45720" anchor="t">
            <a:spAutoFit/>
          </a:bodyPr>
          <a:lstStyle/>
          <a:p>
            <a:pPr algn="l">
              <a:defRPr sz="2700" b="1">
                <a:solidFill>
                  <a:srgbClr val="F59E0B"/>
                </a:solidFill>
                <a:latin typeface="Aptos"/>
              </a:defRPr>
            </a:pPr>
            <a:r>
              <a:t>Human review</a:t>
            </a:r>
          </a:p>
        </p:txBody>
      </p:sp>
      <p:sp>
        <p:nvSpPr>
          <p:cNvPr id="49" name="TextBox 48"/>
          <p:cNvSpPr txBox="1"/>
          <p:nvPr/>
        </p:nvSpPr>
        <p:spPr>
          <a:xfrm>
            <a:off x="843991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Final decision</a:t>
            </a:r>
          </a:p>
        </p:txBody>
      </p:sp>
      <p:sp>
        <p:nvSpPr>
          <p:cNvPr id="50" name="TextBox 49"/>
          <p:cNvSpPr txBox="1"/>
          <p:nvPr/>
        </p:nvSpPr>
        <p:spPr>
          <a:xfrm>
            <a:off x="843991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No automatic misconduct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TECHNICAL DEPTH</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Technical decisions and trade-offs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05</a:t>
            </a:r>
          </a:p>
        </p:txBody>
      </p:sp>
      <p:sp>
        <p:nvSpPr>
          <p:cNvPr id="7" name="Rounded Rectangle 6"/>
          <p:cNvSpPr/>
          <p:nvPr/>
        </p:nvSpPr>
        <p:spPr>
          <a:xfrm>
            <a:off x="640080" y="1298448"/>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481328"/>
            <a:ext cx="11155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490472"/>
            <a:ext cx="1115568" cy="274320"/>
          </a:xfrm>
          <a:prstGeom prst="rect">
            <a:avLst/>
          </a:prstGeom>
          <a:noFill/>
        </p:spPr>
        <p:txBody>
          <a:bodyPr wrap="square" lIns="45720" rIns="45720" anchor="t">
            <a:spAutoFit/>
          </a:bodyPr>
          <a:lstStyle/>
          <a:p>
            <a:pPr algn="ctr">
              <a:defRPr sz="1000" b="1">
                <a:solidFill>
                  <a:srgbClr val="FFFFFF"/>
                </a:solidFill>
                <a:latin typeface="Aptos"/>
              </a:defRPr>
            </a:pPr>
            <a:r>
              <a:t>RETRIEVAL</a:t>
            </a:r>
          </a:p>
        </p:txBody>
      </p:sp>
      <p:sp>
        <p:nvSpPr>
          <p:cNvPr id="10" name="TextBox 9"/>
          <p:cNvSpPr txBox="1"/>
          <p:nvPr/>
        </p:nvSpPr>
        <p:spPr>
          <a:xfrm>
            <a:off x="2176272" y="1444751"/>
            <a:ext cx="3017520" cy="365760"/>
          </a:xfrm>
          <a:prstGeom prst="rect">
            <a:avLst/>
          </a:prstGeom>
          <a:noFill/>
        </p:spPr>
        <p:txBody>
          <a:bodyPr wrap="square" lIns="45720" rIns="45720" anchor="t">
            <a:spAutoFit/>
          </a:bodyPr>
          <a:lstStyle/>
          <a:p>
            <a:pPr algn="l">
              <a:defRPr sz="1600" b="1">
                <a:solidFill>
                  <a:srgbClr val="182230"/>
                </a:solidFill>
                <a:latin typeface="Aptos"/>
              </a:defRPr>
            </a:pPr>
            <a:r>
              <a:t>all-MiniLM-L6-v2</a:t>
            </a:r>
          </a:p>
        </p:txBody>
      </p:sp>
      <p:sp>
        <p:nvSpPr>
          <p:cNvPr id="11" name="TextBox 10"/>
          <p:cNvSpPr txBox="1"/>
          <p:nvPr/>
        </p:nvSpPr>
        <p:spPr>
          <a:xfrm>
            <a:off x="5321808" y="1444751"/>
            <a:ext cx="5806440" cy="384048"/>
          </a:xfrm>
          <a:prstGeom prst="rect">
            <a:avLst/>
          </a:prstGeom>
          <a:noFill/>
        </p:spPr>
        <p:txBody>
          <a:bodyPr wrap="square" lIns="45720" rIns="45720" anchor="t">
            <a:spAutoFit/>
          </a:bodyPr>
          <a:lstStyle/>
          <a:p>
            <a:pPr algn="l">
              <a:defRPr sz="1400" b="0">
                <a:solidFill>
                  <a:srgbClr val="5D6B7A"/>
                </a:solidFill>
                <a:latin typeface="Aptos"/>
              </a:defRPr>
            </a:pPr>
            <a:r>
              <a:t>Semantic matching; cosine fallback on Windows</a:t>
            </a:r>
          </a:p>
        </p:txBody>
      </p:sp>
      <p:sp>
        <p:nvSpPr>
          <p:cNvPr id="12" name="Rounded Rectangle 11"/>
          <p:cNvSpPr/>
          <p:nvPr/>
        </p:nvSpPr>
        <p:spPr>
          <a:xfrm>
            <a:off x="640080" y="2194560"/>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 y="2377440"/>
            <a:ext cx="11155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386584"/>
            <a:ext cx="1115568" cy="274320"/>
          </a:xfrm>
          <a:prstGeom prst="rect">
            <a:avLst/>
          </a:prstGeom>
          <a:noFill/>
        </p:spPr>
        <p:txBody>
          <a:bodyPr wrap="square" lIns="45720" rIns="45720" anchor="t">
            <a:spAutoFit/>
          </a:bodyPr>
          <a:lstStyle/>
          <a:p>
            <a:pPr algn="ctr">
              <a:defRPr sz="1000" b="1">
                <a:solidFill>
                  <a:srgbClr val="FFFFFF"/>
                </a:solidFill>
                <a:latin typeface="Aptos"/>
              </a:defRPr>
            </a:pPr>
            <a:r>
              <a:t>METADATA</a:t>
            </a:r>
          </a:p>
        </p:txBody>
      </p:sp>
      <p:sp>
        <p:nvSpPr>
          <p:cNvPr id="15" name="TextBox 14"/>
          <p:cNvSpPr txBox="1"/>
          <p:nvPr/>
        </p:nvSpPr>
        <p:spPr>
          <a:xfrm>
            <a:off x="2176272" y="2340864"/>
            <a:ext cx="3017520" cy="365760"/>
          </a:xfrm>
          <a:prstGeom prst="rect">
            <a:avLst/>
          </a:prstGeom>
          <a:noFill/>
        </p:spPr>
        <p:txBody>
          <a:bodyPr wrap="square" lIns="45720" rIns="45720" anchor="t">
            <a:spAutoFit/>
          </a:bodyPr>
          <a:lstStyle/>
          <a:p>
            <a:pPr algn="l">
              <a:defRPr sz="1600" b="1">
                <a:solidFill>
                  <a:srgbClr val="182230"/>
                </a:solidFill>
                <a:latin typeface="Aptos"/>
              </a:defRPr>
            </a:pPr>
            <a:r>
              <a:t>CrossRef • OpenAlex • S2</a:t>
            </a:r>
          </a:p>
        </p:txBody>
      </p:sp>
      <p:sp>
        <p:nvSpPr>
          <p:cNvPr id="16" name="TextBox 15"/>
          <p:cNvSpPr txBox="1"/>
          <p:nvPr/>
        </p:nvSpPr>
        <p:spPr>
          <a:xfrm>
            <a:off x="5321808" y="2340864"/>
            <a:ext cx="5806440" cy="384048"/>
          </a:xfrm>
          <a:prstGeom prst="rect">
            <a:avLst/>
          </a:prstGeom>
          <a:noFill/>
        </p:spPr>
        <p:txBody>
          <a:bodyPr wrap="square" lIns="45720" rIns="45720" anchor="t">
            <a:spAutoFit/>
          </a:bodyPr>
          <a:lstStyle/>
          <a:p>
            <a:pPr algn="l">
              <a:defRPr sz="1400" b="0">
                <a:solidFill>
                  <a:srgbClr val="5D6B7A"/>
                </a:solidFill>
                <a:latin typeface="Aptos"/>
              </a:defRPr>
            </a:pPr>
            <a:r>
              <a:t>Coverage across DOI, title, authors, OA status</a:t>
            </a:r>
          </a:p>
        </p:txBody>
      </p:sp>
      <p:sp>
        <p:nvSpPr>
          <p:cNvPr id="17" name="Rounded Rectangle 16"/>
          <p:cNvSpPr/>
          <p:nvPr/>
        </p:nvSpPr>
        <p:spPr>
          <a:xfrm>
            <a:off x="640080" y="3090672"/>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3273552"/>
            <a:ext cx="11155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282696"/>
            <a:ext cx="1115568" cy="274320"/>
          </a:xfrm>
          <a:prstGeom prst="rect">
            <a:avLst/>
          </a:prstGeom>
          <a:noFill/>
        </p:spPr>
        <p:txBody>
          <a:bodyPr wrap="square" lIns="45720" rIns="45720" anchor="t">
            <a:spAutoFit/>
          </a:bodyPr>
          <a:lstStyle/>
          <a:p>
            <a:pPr algn="ctr">
              <a:defRPr sz="1000" b="1">
                <a:solidFill>
                  <a:srgbClr val="FFFFFF"/>
                </a:solidFill>
                <a:latin typeface="Aptos"/>
              </a:defRPr>
            </a:pPr>
            <a:r>
              <a:t>LOCAL MODEL</a:t>
            </a:r>
          </a:p>
        </p:txBody>
      </p:sp>
      <p:sp>
        <p:nvSpPr>
          <p:cNvPr id="20" name="TextBox 19"/>
          <p:cNvSpPr txBox="1"/>
          <p:nvPr/>
        </p:nvSpPr>
        <p:spPr>
          <a:xfrm>
            <a:off x="2176272" y="3236976"/>
            <a:ext cx="3017520" cy="365760"/>
          </a:xfrm>
          <a:prstGeom prst="rect">
            <a:avLst/>
          </a:prstGeom>
          <a:noFill/>
        </p:spPr>
        <p:txBody>
          <a:bodyPr wrap="square" lIns="45720" rIns="45720" anchor="t">
            <a:spAutoFit/>
          </a:bodyPr>
          <a:lstStyle/>
          <a:p>
            <a:pPr algn="l">
              <a:defRPr sz="1600" b="1">
                <a:solidFill>
                  <a:srgbClr val="182230"/>
                </a:solidFill>
                <a:latin typeface="Aptos"/>
              </a:defRPr>
            </a:pPr>
            <a:r>
              <a:t>Ollama / qwen3:1.7b</a:t>
            </a:r>
          </a:p>
        </p:txBody>
      </p:sp>
      <p:sp>
        <p:nvSpPr>
          <p:cNvPr id="21" name="TextBox 20"/>
          <p:cNvSpPr txBox="1"/>
          <p:nvPr/>
        </p:nvSpPr>
        <p:spPr>
          <a:xfrm>
            <a:off x="5321808" y="3236976"/>
            <a:ext cx="5806440" cy="384048"/>
          </a:xfrm>
          <a:prstGeom prst="rect">
            <a:avLst/>
          </a:prstGeom>
          <a:noFill/>
        </p:spPr>
        <p:txBody>
          <a:bodyPr wrap="square" lIns="45720" rIns="45720" anchor="t">
            <a:spAutoFit/>
          </a:bodyPr>
          <a:lstStyle/>
          <a:p>
            <a:pPr algn="l">
              <a:defRPr sz="1400" b="0">
                <a:solidFill>
                  <a:srgbClr val="5D6B7A"/>
                </a:solidFill>
                <a:latin typeface="Aptos"/>
              </a:defRPr>
            </a:pPr>
            <a:r>
              <a:t>Private and offline; slower on this machine</a:t>
            </a:r>
          </a:p>
        </p:txBody>
      </p:sp>
      <p:sp>
        <p:nvSpPr>
          <p:cNvPr id="22" name="Rounded Rectangle 21"/>
          <p:cNvSpPr/>
          <p:nvPr/>
        </p:nvSpPr>
        <p:spPr>
          <a:xfrm>
            <a:off x="640080" y="3986783"/>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169663"/>
            <a:ext cx="1115568" cy="310896"/>
          </a:xfrm>
          <a:prstGeom prst="roundRect">
            <a:avLst>
              <a:gd name="adj" fmla="val 12000"/>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178807"/>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FRONTIER</a:t>
            </a:r>
          </a:p>
        </p:txBody>
      </p:sp>
      <p:sp>
        <p:nvSpPr>
          <p:cNvPr id="25" name="TextBox 24"/>
          <p:cNvSpPr txBox="1"/>
          <p:nvPr/>
        </p:nvSpPr>
        <p:spPr>
          <a:xfrm>
            <a:off x="2176272" y="4133087"/>
            <a:ext cx="3017520" cy="365760"/>
          </a:xfrm>
          <a:prstGeom prst="rect">
            <a:avLst/>
          </a:prstGeom>
          <a:noFill/>
        </p:spPr>
        <p:txBody>
          <a:bodyPr wrap="square" lIns="45720" rIns="45720" anchor="t">
            <a:spAutoFit/>
          </a:bodyPr>
          <a:lstStyle/>
          <a:p>
            <a:pPr algn="l">
              <a:defRPr sz="1600" b="1">
                <a:solidFill>
                  <a:srgbClr val="182230"/>
                </a:solidFill>
                <a:latin typeface="Aptos"/>
              </a:defRPr>
            </a:pPr>
            <a:r>
              <a:t>OpenAI gpt-5.4-mini</a:t>
            </a:r>
          </a:p>
        </p:txBody>
      </p:sp>
      <p:sp>
        <p:nvSpPr>
          <p:cNvPr id="26" name="TextBox 25"/>
          <p:cNvSpPr txBox="1"/>
          <p:nvPr/>
        </p:nvSpPr>
        <p:spPr>
          <a:xfrm>
            <a:off x="5321808" y="4133087"/>
            <a:ext cx="5806440" cy="384048"/>
          </a:xfrm>
          <a:prstGeom prst="rect">
            <a:avLst/>
          </a:prstGeom>
          <a:noFill/>
        </p:spPr>
        <p:txBody>
          <a:bodyPr wrap="square" lIns="45720" rIns="45720" anchor="t">
            <a:spAutoFit/>
          </a:bodyPr>
          <a:lstStyle/>
          <a:p>
            <a:pPr algn="l">
              <a:defRPr sz="1400" b="0">
                <a:solidFill>
                  <a:srgbClr val="5D6B7A"/>
                </a:solidFill>
                <a:latin typeface="Aptos"/>
              </a:defRPr>
            </a:pPr>
            <a:r>
              <a:t>Fast structured output; paid and external</a:t>
            </a:r>
          </a:p>
        </p:txBody>
      </p:sp>
      <p:sp>
        <p:nvSpPr>
          <p:cNvPr id="27" name="Rounded Rectangle 26"/>
          <p:cNvSpPr/>
          <p:nvPr/>
        </p:nvSpPr>
        <p:spPr>
          <a:xfrm>
            <a:off x="640080" y="4882896"/>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2" y="5065776"/>
            <a:ext cx="111556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074920"/>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FINE-TUNED</a:t>
            </a:r>
          </a:p>
        </p:txBody>
      </p:sp>
      <p:sp>
        <p:nvSpPr>
          <p:cNvPr id="30" name="TextBox 29"/>
          <p:cNvSpPr txBox="1"/>
          <p:nvPr/>
        </p:nvSpPr>
        <p:spPr>
          <a:xfrm>
            <a:off x="2176272" y="5029200"/>
            <a:ext cx="3017520" cy="365760"/>
          </a:xfrm>
          <a:prstGeom prst="rect">
            <a:avLst/>
          </a:prstGeom>
          <a:noFill/>
        </p:spPr>
        <p:txBody>
          <a:bodyPr wrap="square" lIns="45720" rIns="45720" anchor="t">
            <a:spAutoFit/>
          </a:bodyPr>
          <a:lstStyle/>
          <a:p>
            <a:pPr algn="l">
              <a:defRPr sz="1600" b="1">
                <a:solidFill>
                  <a:srgbClr val="182230"/>
                </a:solidFill>
                <a:latin typeface="Aptos"/>
              </a:defRPr>
            </a:pPr>
            <a:r>
              <a:t>SciFact LoRA</a:t>
            </a:r>
          </a:p>
        </p:txBody>
      </p:sp>
      <p:sp>
        <p:nvSpPr>
          <p:cNvPr id="31" name="TextBox 30"/>
          <p:cNvSpPr txBox="1"/>
          <p:nvPr/>
        </p:nvSpPr>
        <p:spPr>
          <a:xfrm>
            <a:off x="5321808" y="5029200"/>
            <a:ext cx="5806440" cy="384048"/>
          </a:xfrm>
          <a:prstGeom prst="rect">
            <a:avLst/>
          </a:prstGeom>
          <a:noFill/>
        </p:spPr>
        <p:txBody>
          <a:bodyPr wrap="square" lIns="45720" rIns="45720" anchor="t">
            <a:spAutoFit/>
          </a:bodyPr>
          <a:lstStyle/>
          <a:p>
            <a:pPr algn="l">
              <a:defRPr sz="1400" b="0">
                <a:solidFill>
                  <a:srgbClr val="5D6B7A"/>
                </a:solidFill>
                <a:latin typeface="Aptos"/>
              </a:defRPr>
            </a:pPr>
            <a:r>
              <a:t>Cheap local inference; three-label taxonomy</a:t>
            </a:r>
          </a:p>
        </p:txBody>
      </p:sp>
      <p:sp>
        <p:nvSpPr>
          <p:cNvPr id="32" name="TextBox 31"/>
          <p:cNvSpPr txBox="1"/>
          <p:nvPr/>
        </p:nvSpPr>
        <p:spPr>
          <a:xfrm>
            <a:off x="822960" y="5879592"/>
            <a:ext cx="10607040" cy="292608"/>
          </a:xfrm>
          <a:prstGeom prst="rect">
            <a:avLst/>
          </a:prstGeom>
          <a:noFill/>
        </p:spPr>
        <p:txBody>
          <a:bodyPr wrap="square" lIns="45720" rIns="45720" anchor="t">
            <a:spAutoFit/>
          </a:bodyPr>
          <a:lstStyle/>
          <a:p>
            <a:pPr algn="ctr">
              <a:defRPr sz="1400" b="1">
                <a:solidFill>
                  <a:srgbClr val="0B132B"/>
                </a:solidFill>
                <a:latin typeface="Aptos"/>
              </a:defRPr>
            </a:pPr>
            <a:r>
              <a:t>Design principle: graceful degradation — APIs or embeddings may fail without stopping the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DEMO</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Demo on our real RQ5 report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1:30</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06</a:t>
            </a:r>
          </a:p>
        </p:txBody>
      </p:sp>
      <p:sp>
        <p:nvSpPr>
          <p:cNvPr id="7" name="Rounded Rectangle 6"/>
          <p:cNvSpPr/>
          <p:nvPr/>
        </p:nvSpPr>
        <p:spPr>
          <a:xfrm>
            <a:off x="566928" y="1234440"/>
            <a:ext cx="6492240" cy="12344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89888"/>
            <a:ext cx="5989320" cy="219456"/>
          </a:xfrm>
          <a:prstGeom prst="rect">
            <a:avLst/>
          </a:prstGeom>
          <a:noFill/>
        </p:spPr>
        <p:txBody>
          <a:bodyPr wrap="square" lIns="45720" rIns="45720" anchor="t">
            <a:spAutoFit/>
          </a:bodyPr>
          <a:lstStyle/>
          <a:p>
            <a:pPr algn="l">
              <a:defRPr sz="1000" b="1">
                <a:solidFill>
                  <a:srgbClr val="38BDF8"/>
                </a:solidFill>
                <a:latin typeface="Consolas"/>
              </a:defRPr>
            </a:pPr>
            <a:r>
              <a:t>POWERSHELL</a:t>
            </a:r>
          </a:p>
        </p:txBody>
      </p:sp>
      <p:sp>
        <p:nvSpPr>
          <p:cNvPr id="9" name="TextBox 8"/>
          <p:cNvSpPr txBox="1"/>
          <p:nvPr/>
        </p:nvSpPr>
        <p:spPr>
          <a:xfrm>
            <a:off x="822960" y="1664208"/>
            <a:ext cx="5989320" cy="621792"/>
          </a:xfrm>
          <a:prstGeom prst="rect">
            <a:avLst/>
          </a:prstGeom>
          <a:noFill/>
        </p:spPr>
        <p:txBody>
          <a:bodyPr wrap="square" lIns="45720" rIns="45720" anchor="t">
            <a:spAutoFit/>
          </a:bodyPr>
          <a:lstStyle/>
          <a:p>
            <a:pPr algn="l">
              <a:defRPr sz="1150" b="0">
                <a:solidFill>
                  <a:srgbClr val="FFFFFF"/>
                </a:solidFill>
                <a:latin typeface="Consolas"/>
              </a:defRPr>
            </a:pPr>
            <a:r>
              <a:t>python run_claimguard.py `</a:t>
            </a:r>
            <a:br/>
            <a:r>
              <a:t>  --input Reports/NW2_RQ5_Report.pdf --verifier openai `</a:t>
            </a:r>
            <a:br/>
            <a:r>
              <a:t>  --output outputs/rq5_openai.json --markdown-output outputs/rq5_openai.md</a:t>
            </a:r>
          </a:p>
        </p:txBody>
      </p:sp>
      <p:sp>
        <p:nvSpPr>
          <p:cNvPr id="10" name="Rounded Rectangle 9"/>
          <p:cNvSpPr/>
          <p:nvPr/>
        </p:nvSpPr>
        <p:spPr>
          <a:xfrm>
            <a:off x="7360920"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5512" y="1371600"/>
            <a:ext cx="905256" cy="438912"/>
          </a:xfrm>
          <a:prstGeom prst="rect">
            <a:avLst/>
          </a:prstGeom>
          <a:noFill/>
        </p:spPr>
        <p:txBody>
          <a:bodyPr wrap="square" lIns="45720" rIns="45720" anchor="t">
            <a:spAutoFit/>
          </a:bodyPr>
          <a:lstStyle/>
          <a:p>
            <a:pPr algn="l">
              <a:defRPr sz="2700" b="1">
                <a:solidFill>
                  <a:srgbClr val="2563EB"/>
                </a:solidFill>
                <a:latin typeface="Aptos"/>
              </a:defRPr>
            </a:pPr>
            <a:r>
              <a:t>137</a:t>
            </a:r>
          </a:p>
        </p:txBody>
      </p:sp>
      <p:sp>
        <p:nvSpPr>
          <p:cNvPr id="12" name="TextBox 11"/>
          <p:cNvSpPr txBox="1"/>
          <p:nvPr/>
        </p:nvSpPr>
        <p:spPr>
          <a:xfrm>
            <a:off x="7525512"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sentences</a:t>
            </a:r>
          </a:p>
        </p:txBody>
      </p:sp>
      <p:sp>
        <p:nvSpPr>
          <p:cNvPr id="13" name="Rounded Rectangle 12"/>
          <p:cNvSpPr/>
          <p:nvPr/>
        </p:nvSpPr>
        <p:spPr>
          <a:xfrm>
            <a:off x="8750808"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371600"/>
            <a:ext cx="905256" cy="438912"/>
          </a:xfrm>
          <a:prstGeom prst="rect">
            <a:avLst/>
          </a:prstGeom>
          <a:noFill/>
        </p:spPr>
        <p:txBody>
          <a:bodyPr wrap="square" lIns="45720" rIns="45720" anchor="t">
            <a:spAutoFit/>
          </a:bodyPr>
          <a:lstStyle/>
          <a:p>
            <a:pPr algn="l">
              <a:defRPr sz="2700" b="1">
                <a:solidFill>
                  <a:srgbClr val="8B5CF6"/>
                </a:solidFill>
                <a:latin typeface="Aptos"/>
              </a:defRPr>
            </a:pPr>
            <a:r>
              <a:t>65</a:t>
            </a:r>
          </a:p>
        </p:txBody>
      </p:sp>
      <p:sp>
        <p:nvSpPr>
          <p:cNvPr id="15" name="TextBox 14"/>
          <p:cNvSpPr txBox="1"/>
          <p:nvPr/>
        </p:nvSpPr>
        <p:spPr>
          <a:xfrm>
            <a:off x="8915400"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factual claims</a:t>
            </a:r>
          </a:p>
        </p:txBody>
      </p:sp>
      <p:sp>
        <p:nvSpPr>
          <p:cNvPr id="16" name="Rounded Rectangle 15"/>
          <p:cNvSpPr/>
          <p:nvPr/>
        </p:nvSpPr>
        <p:spPr>
          <a:xfrm>
            <a:off x="10140696"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05288" y="1371600"/>
            <a:ext cx="905256" cy="438912"/>
          </a:xfrm>
          <a:prstGeom prst="rect">
            <a:avLst/>
          </a:prstGeom>
          <a:noFill/>
        </p:spPr>
        <p:txBody>
          <a:bodyPr wrap="square" lIns="45720" rIns="45720" anchor="t">
            <a:spAutoFit/>
          </a:bodyPr>
          <a:lstStyle/>
          <a:p>
            <a:pPr algn="l">
              <a:defRPr sz="2700" b="1">
                <a:solidFill>
                  <a:srgbClr val="EF4444"/>
                </a:solidFill>
                <a:latin typeface="Aptos"/>
              </a:defRPr>
            </a:pPr>
            <a:r>
              <a:t>21</a:t>
            </a:r>
          </a:p>
        </p:txBody>
      </p:sp>
      <p:sp>
        <p:nvSpPr>
          <p:cNvPr id="18" name="TextBox 17"/>
          <p:cNvSpPr txBox="1"/>
          <p:nvPr/>
        </p:nvSpPr>
        <p:spPr>
          <a:xfrm>
            <a:off x="10305288"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citation flags</a:t>
            </a:r>
          </a:p>
        </p:txBody>
      </p:sp>
      <p:sp>
        <p:nvSpPr>
          <p:cNvPr id="19" name="TextBox 18"/>
          <p:cNvSpPr txBox="1"/>
          <p:nvPr/>
        </p:nvSpPr>
        <p:spPr>
          <a:xfrm>
            <a:off x="658368" y="2816352"/>
            <a:ext cx="4297680" cy="320040"/>
          </a:xfrm>
          <a:prstGeom prst="rect">
            <a:avLst/>
          </a:prstGeom>
          <a:noFill/>
        </p:spPr>
        <p:txBody>
          <a:bodyPr wrap="square" lIns="45720" rIns="45720" anchor="t">
            <a:spAutoFit/>
          </a:bodyPr>
          <a:lstStyle/>
          <a:p>
            <a:pPr algn="l">
              <a:defRPr sz="1200" b="1">
                <a:solidFill>
                  <a:srgbClr val="2563EB"/>
                </a:solidFill>
                <a:latin typeface="Aptos"/>
              </a:defRPr>
            </a:pPr>
            <a:r>
              <a:t>REAL CLAIM FROM SENTENCE 11</a:t>
            </a:r>
          </a:p>
        </p:txBody>
      </p:sp>
      <p:sp>
        <p:nvSpPr>
          <p:cNvPr id="20" name="Rounded Rectangle 19"/>
          <p:cNvSpPr/>
          <p:nvPr/>
        </p:nvSpPr>
        <p:spPr>
          <a:xfrm>
            <a:off x="594360" y="3182112"/>
            <a:ext cx="5166360" cy="224028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456432"/>
            <a:ext cx="4617720" cy="868680"/>
          </a:xfrm>
          <a:prstGeom prst="rect">
            <a:avLst/>
          </a:prstGeom>
          <a:noFill/>
        </p:spPr>
        <p:txBody>
          <a:bodyPr wrap="square" lIns="45720" rIns="45720" anchor="t">
            <a:spAutoFit/>
          </a:bodyPr>
          <a:lstStyle/>
          <a:p>
            <a:pPr algn="l">
              <a:defRPr sz="1800" b="1">
                <a:solidFill>
                  <a:srgbClr val="182230"/>
                </a:solidFill>
                <a:latin typeface="Aptos"/>
              </a:defRPr>
            </a:pPr>
            <a:r>
              <a:t>“RAG connects a language model to external knowledge without changing model weights.”</a:t>
            </a:r>
          </a:p>
        </p:txBody>
      </p:sp>
      <p:sp>
        <p:nvSpPr>
          <p:cNvPr id="22" name="TextBox 21"/>
          <p:cNvSpPr txBox="1"/>
          <p:nvPr/>
        </p:nvSpPr>
        <p:spPr>
          <a:xfrm>
            <a:off x="841248" y="4645152"/>
            <a:ext cx="4572000" cy="384048"/>
          </a:xfrm>
          <a:prstGeom prst="rect">
            <a:avLst/>
          </a:prstGeom>
          <a:noFill/>
        </p:spPr>
        <p:txBody>
          <a:bodyPr wrap="square" lIns="45720" rIns="45720" anchor="t">
            <a:spAutoFit/>
          </a:bodyPr>
          <a:lstStyle/>
          <a:p>
            <a:pPr algn="l">
              <a:defRPr sz="1200" b="0">
                <a:solidFill>
                  <a:srgbClr val="5D6B7A"/>
                </a:solidFill>
                <a:latin typeface="Aptos"/>
              </a:defRPr>
            </a:pPr>
            <a:r>
              <a:t>Citations detected: [1, 3]  •  Top evidence retained</a:t>
            </a:r>
          </a:p>
        </p:txBody>
      </p:sp>
      <p:sp>
        <p:nvSpPr>
          <p:cNvPr id="23" name="Rounded Rectangle 22"/>
          <p:cNvSpPr/>
          <p:nvPr/>
        </p:nvSpPr>
        <p:spPr>
          <a:xfrm>
            <a:off x="6053328" y="3182112"/>
            <a:ext cx="2487168" cy="2240280"/>
          </a:xfrm>
          <a:prstGeom prst="roundRect">
            <a:avLst>
              <a:gd name="adj" fmla="val 12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72784" y="3401568"/>
            <a:ext cx="93268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727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OPENAI</a:t>
            </a:r>
          </a:p>
        </p:txBody>
      </p:sp>
      <p:sp>
        <p:nvSpPr>
          <p:cNvPr id="26" name="TextBox 25"/>
          <p:cNvSpPr txBox="1"/>
          <p:nvPr/>
        </p:nvSpPr>
        <p:spPr>
          <a:xfrm>
            <a:off x="6272784" y="3913632"/>
            <a:ext cx="2011680" cy="475488"/>
          </a:xfrm>
          <a:prstGeom prst="rect">
            <a:avLst/>
          </a:prstGeom>
          <a:noFill/>
        </p:spPr>
        <p:txBody>
          <a:bodyPr wrap="square" lIns="45720" rIns="45720" anchor="t">
            <a:spAutoFit/>
          </a:bodyPr>
          <a:lstStyle/>
          <a:p>
            <a:pPr algn="l">
              <a:defRPr sz="1800" b="1">
                <a:solidFill>
                  <a:srgbClr val="2563EB"/>
                </a:solidFill>
                <a:latin typeface="Aptos"/>
              </a:defRPr>
            </a:pPr>
            <a:r>
              <a:t>insufficient</a:t>
            </a:r>
            <a:br/>
            <a:r>
              <a:t>evidence</a:t>
            </a:r>
          </a:p>
        </p:txBody>
      </p:sp>
      <p:sp>
        <p:nvSpPr>
          <p:cNvPr id="27" name="TextBox 26"/>
          <p:cNvSpPr txBox="1"/>
          <p:nvPr/>
        </p:nvSpPr>
        <p:spPr>
          <a:xfrm>
            <a:off x="62727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1.889 s • 506 tokens</a:t>
            </a:r>
          </a:p>
        </p:txBody>
      </p:sp>
      <p:sp>
        <p:nvSpPr>
          <p:cNvPr id="28" name="Rounded Rectangle 27"/>
          <p:cNvSpPr/>
          <p:nvPr/>
        </p:nvSpPr>
        <p:spPr>
          <a:xfrm>
            <a:off x="8796528" y="3182112"/>
            <a:ext cx="2487168" cy="2240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3401568"/>
            <a:ext cx="93268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159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OLLAMA</a:t>
            </a:r>
          </a:p>
        </p:txBody>
      </p:sp>
      <p:sp>
        <p:nvSpPr>
          <p:cNvPr id="31" name="TextBox 30"/>
          <p:cNvSpPr txBox="1"/>
          <p:nvPr/>
        </p:nvSpPr>
        <p:spPr>
          <a:xfrm>
            <a:off x="9015984" y="3977639"/>
            <a:ext cx="2011680" cy="320040"/>
          </a:xfrm>
          <a:prstGeom prst="rect">
            <a:avLst/>
          </a:prstGeom>
          <a:noFill/>
        </p:spPr>
        <p:txBody>
          <a:bodyPr wrap="square" lIns="45720" rIns="45720" anchor="t">
            <a:spAutoFit/>
          </a:bodyPr>
          <a:lstStyle/>
          <a:p>
            <a:pPr algn="l">
              <a:defRPr sz="2000" b="1">
                <a:solidFill>
                  <a:srgbClr val="10B981"/>
                </a:solidFill>
                <a:latin typeface="Aptos"/>
              </a:defRPr>
            </a:pPr>
            <a:r>
              <a:t>supported</a:t>
            </a:r>
          </a:p>
        </p:txBody>
      </p:sp>
      <p:sp>
        <p:nvSpPr>
          <p:cNvPr id="32" name="TextBox 31"/>
          <p:cNvSpPr txBox="1"/>
          <p:nvPr/>
        </p:nvSpPr>
        <p:spPr>
          <a:xfrm>
            <a:off x="90159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40.902 s • local</a:t>
            </a:r>
          </a:p>
        </p:txBody>
      </p:sp>
      <p:sp>
        <p:nvSpPr>
          <p:cNvPr id="33" name="TextBox 32"/>
          <p:cNvSpPr txBox="1"/>
          <p:nvPr/>
        </p:nvSpPr>
        <p:spPr>
          <a:xfrm>
            <a:off x="749808" y="5733288"/>
            <a:ext cx="10652760" cy="338328"/>
          </a:xfrm>
          <a:prstGeom prst="rect">
            <a:avLst/>
          </a:prstGeom>
          <a:noFill/>
        </p:spPr>
        <p:txBody>
          <a:bodyPr wrap="square" lIns="45720" rIns="45720" anchor="t">
            <a:spAutoFit/>
          </a:bodyPr>
          <a:lstStyle/>
          <a:p>
            <a:pPr algn="ctr">
              <a:defRPr sz="1500" b="1">
                <a:solidFill>
                  <a:srgbClr val="0B132B"/>
                </a:solidFill>
                <a:latin typeface="Aptos"/>
              </a:defRPr>
            </a:pPr>
            <a:r>
              <a:t>Demo message: the evidence is visible — disagreement becomes reviewable instead of hidden.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EVALUATION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Key results: controlled tests vs. real reports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07</a:t>
            </a:r>
          </a:p>
        </p:txBody>
      </p:sp>
      <p:graphicFrame>
        <p:nvGraphicFramePr>
          <p:cNvPr id="7" name="Chart 6"/>
          <p:cNvGraphicFramePr>
            <a:graphicFrameLocks noGrp="1"/>
          </p:cNvGraphicFramePr>
          <p:nvPr/>
        </p:nvGraphicFramePr>
        <p:xfrm>
          <a:off x="658368" y="1298448"/>
          <a:ext cx="6492240" cy="4370832"/>
        </p:xfrm>
        <a:graphic>
          <a:graphicData uri="http://schemas.openxmlformats.org/drawingml/2006/chart">
            <c:chart xmlns:c="http://schemas.openxmlformats.org/drawingml/2006/chart" r:id="rId2"/>
          </a:graphicData>
        </a:graphic>
      </p:graphicFrame>
      <p:sp>
        <p:nvSpPr>
          <p:cNvPr id="8" name="Rounded Rectangle 7"/>
          <p:cNvSpPr/>
          <p:nvPr/>
        </p:nvSpPr>
        <p:spPr>
          <a:xfrm>
            <a:off x="7543800" y="1389888"/>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08392" y="1527048"/>
            <a:ext cx="3255264" cy="438912"/>
          </a:xfrm>
          <a:prstGeom prst="rect">
            <a:avLst/>
          </a:prstGeom>
          <a:noFill/>
        </p:spPr>
        <p:txBody>
          <a:bodyPr wrap="square" lIns="45720" rIns="45720" anchor="t">
            <a:spAutoFit/>
          </a:bodyPr>
          <a:lstStyle/>
          <a:p>
            <a:pPr algn="l">
              <a:defRPr sz="2700" b="1">
                <a:solidFill>
                  <a:srgbClr val="10B981"/>
                </a:solidFill>
                <a:latin typeface="Aptos"/>
              </a:defRPr>
            </a:pPr>
            <a:r>
              <a:t>1.000</a:t>
            </a:r>
          </a:p>
        </p:txBody>
      </p:sp>
      <p:sp>
        <p:nvSpPr>
          <p:cNvPr id="10" name="TextBox 9"/>
          <p:cNvSpPr txBox="1"/>
          <p:nvPr/>
        </p:nvSpPr>
        <p:spPr>
          <a:xfrm>
            <a:off x="7708392" y="2011680"/>
            <a:ext cx="3255264" cy="237744"/>
          </a:xfrm>
          <a:prstGeom prst="rect">
            <a:avLst/>
          </a:prstGeom>
          <a:noFill/>
        </p:spPr>
        <p:txBody>
          <a:bodyPr wrap="square" lIns="45720" rIns="45720" anchor="t">
            <a:spAutoFit/>
          </a:bodyPr>
          <a:lstStyle/>
          <a:p>
            <a:pPr algn="l">
              <a:defRPr sz="1200" b="1">
                <a:solidFill>
                  <a:srgbClr val="182230"/>
                </a:solidFill>
                <a:latin typeface="Aptos"/>
              </a:defRPr>
            </a:pPr>
            <a:r>
              <a:t>IEEE parser accuracy</a:t>
            </a:r>
          </a:p>
        </p:txBody>
      </p:sp>
      <p:sp>
        <p:nvSpPr>
          <p:cNvPr id="11" name="TextBox 10"/>
          <p:cNvSpPr txBox="1"/>
          <p:nvPr/>
        </p:nvSpPr>
        <p:spPr>
          <a:xfrm>
            <a:off x="7708392" y="2295144"/>
            <a:ext cx="3255264" cy="201168"/>
          </a:xfrm>
          <a:prstGeom prst="rect">
            <a:avLst/>
          </a:prstGeom>
          <a:noFill/>
        </p:spPr>
        <p:txBody>
          <a:bodyPr wrap="square" lIns="45720" rIns="45720" anchor="t">
            <a:spAutoFit/>
          </a:bodyPr>
          <a:lstStyle/>
          <a:p>
            <a:pPr algn="l">
              <a:defRPr sz="900" b="0">
                <a:solidFill>
                  <a:srgbClr val="5D6B7A"/>
                </a:solidFill>
                <a:latin typeface="Aptos"/>
              </a:defRPr>
            </a:pPr>
            <a:r>
              <a:t>5-field-complete test cases</a:t>
            </a:r>
          </a:p>
        </p:txBody>
      </p:sp>
      <p:sp>
        <p:nvSpPr>
          <p:cNvPr id="12" name="Rounded Rectangle 11"/>
          <p:cNvSpPr/>
          <p:nvPr/>
        </p:nvSpPr>
        <p:spPr>
          <a:xfrm>
            <a:off x="7543800" y="2816352"/>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53512"/>
            <a:ext cx="3255264" cy="438912"/>
          </a:xfrm>
          <a:prstGeom prst="rect">
            <a:avLst/>
          </a:prstGeom>
          <a:noFill/>
        </p:spPr>
        <p:txBody>
          <a:bodyPr wrap="square" lIns="45720" rIns="45720" anchor="t">
            <a:spAutoFit/>
          </a:bodyPr>
          <a:lstStyle/>
          <a:p>
            <a:pPr algn="l">
              <a:defRPr sz="2700" b="1">
                <a:solidFill>
                  <a:srgbClr val="EF4444"/>
                </a:solidFill>
                <a:latin typeface="Aptos"/>
              </a:defRPr>
            </a:pPr>
            <a:r>
              <a:t>0.267</a:t>
            </a:r>
          </a:p>
        </p:txBody>
      </p:sp>
      <p:sp>
        <p:nvSpPr>
          <p:cNvPr id="14" name="TextBox 13"/>
          <p:cNvSpPr txBox="1"/>
          <p:nvPr/>
        </p:nvSpPr>
        <p:spPr>
          <a:xfrm>
            <a:off x="7708392" y="3438144"/>
            <a:ext cx="3255264" cy="237744"/>
          </a:xfrm>
          <a:prstGeom prst="rect">
            <a:avLst/>
          </a:prstGeom>
          <a:noFill/>
        </p:spPr>
        <p:txBody>
          <a:bodyPr wrap="square" lIns="45720" rIns="45720" anchor="t">
            <a:spAutoFit/>
          </a:bodyPr>
          <a:lstStyle/>
          <a:p>
            <a:pPr algn="l">
              <a:defRPr sz="1200" b="1">
                <a:solidFill>
                  <a:srgbClr val="182230"/>
                </a:solidFill>
                <a:latin typeface="Aptos"/>
              </a:defRPr>
            </a:pPr>
            <a:r>
              <a:t>Citation-needed F1</a:t>
            </a:r>
          </a:p>
        </p:txBody>
      </p:sp>
      <p:sp>
        <p:nvSpPr>
          <p:cNvPr id="15" name="TextBox 14"/>
          <p:cNvSpPr txBox="1"/>
          <p:nvPr/>
        </p:nvSpPr>
        <p:spPr>
          <a:xfrm>
            <a:off x="7708392" y="3721608"/>
            <a:ext cx="3255264" cy="201168"/>
          </a:xfrm>
          <a:prstGeom prst="rect">
            <a:avLst/>
          </a:prstGeom>
          <a:noFill/>
        </p:spPr>
        <p:txBody>
          <a:bodyPr wrap="square" lIns="45720" rIns="45720" anchor="t">
            <a:spAutoFit/>
          </a:bodyPr>
          <a:lstStyle/>
          <a:p>
            <a:pPr algn="l">
              <a:defRPr sz="900" b="0">
                <a:solidFill>
                  <a:srgbClr val="5D6B7A"/>
                </a:solidFill>
                <a:latin typeface="Aptos"/>
              </a:defRPr>
            </a:pPr>
            <a:r>
              <a:t>50 manually labeled RQ sentences</a:t>
            </a:r>
          </a:p>
        </p:txBody>
      </p:sp>
      <p:sp>
        <p:nvSpPr>
          <p:cNvPr id="16" name="Rounded Rectangle 15"/>
          <p:cNvSpPr/>
          <p:nvPr/>
        </p:nvSpPr>
        <p:spPr>
          <a:xfrm>
            <a:off x="7543800" y="4242816"/>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08392" y="4379976"/>
            <a:ext cx="3255264" cy="438912"/>
          </a:xfrm>
          <a:prstGeom prst="rect">
            <a:avLst/>
          </a:prstGeom>
          <a:noFill/>
        </p:spPr>
        <p:txBody>
          <a:bodyPr wrap="square" lIns="45720" rIns="45720" anchor="t">
            <a:spAutoFit/>
          </a:bodyPr>
          <a:lstStyle/>
          <a:p>
            <a:pPr algn="l">
              <a:defRPr sz="2700" b="1">
                <a:solidFill>
                  <a:srgbClr val="F59E0B"/>
                </a:solidFill>
                <a:latin typeface="Aptos"/>
              </a:defRPr>
            </a:pPr>
            <a:r>
              <a:t>0.353</a:t>
            </a:r>
          </a:p>
        </p:txBody>
      </p:sp>
      <p:sp>
        <p:nvSpPr>
          <p:cNvPr id="18" name="TextBox 17"/>
          <p:cNvSpPr txBox="1"/>
          <p:nvPr/>
        </p:nvSpPr>
        <p:spPr>
          <a:xfrm>
            <a:off x="7708392" y="4864607"/>
            <a:ext cx="3255264" cy="237744"/>
          </a:xfrm>
          <a:prstGeom prst="rect">
            <a:avLst/>
          </a:prstGeom>
          <a:noFill/>
        </p:spPr>
        <p:txBody>
          <a:bodyPr wrap="square" lIns="45720" rIns="45720" anchor="t">
            <a:spAutoFit/>
          </a:bodyPr>
          <a:lstStyle/>
          <a:p>
            <a:pPr algn="l">
              <a:defRPr sz="1200" b="1">
                <a:solidFill>
                  <a:srgbClr val="182230"/>
                </a:solidFill>
                <a:latin typeface="Aptos"/>
              </a:defRPr>
            </a:pPr>
            <a:r>
              <a:t>SciFact validation Macro-F1</a:t>
            </a:r>
          </a:p>
        </p:txBody>
      </p:sp>
      <p:sp>
        <p:nvSpPr>
          <p:cNvPr id="19" name="TextBox 18"/>
          <p:cNvSpPr txBox="1"/>
          <p:nvPr/>
        </p:nvSpPr>
        <p:spPr>
          <a:xfrm>
            <a:off x="7708392" y="5148072"/>
            <a:ext cx="3255264" cy="201168"/>
          </a:xfrm>
          <a:prstGeom prst="rect">
            <a:avLst/>
          </a:prstGeom>
          <a:noFill/>
        </p:spPr>
        <p:txBody>
          <a:bodyPr wrap="square" lIns="45720" rIns="45720" anchor="t">
            <a:spAutoFit/>
          </a:bodyPr>
          <a:lstStyle/>
          <a:p>
            <a:pPr algn="l">
              <a:defRPr sz="900" b="0">
                <a:solidFill>
                  <a:srgbClr val="5D6B7A"/>
                </a:solidFill>
                <a:latin typeface="Aptos"/>
              </a:defRPr>
            </a:pPr>
            <a:r>
              <a:t>450 validation pairs</a:t>
            </a:r>
          </a:p>
        </p:txBody>
      </p:sp>
      <p:sp>
        <p:nvSpPr>
          <p:cNvPr id="20" name="TextBox 19"/>
          <p:cNvSpPr txBox="1"/>
          <p:nvPr/>
        </p:nvSpPr>
        <p:spPr>
          <a:xfrm>
            <a:off x="804672" y="5824728"/>
            <a:ext cx="10378440" cy="310896"/>
          </a:xfrm>
          <a:prstGeom prst="rect">
            <a:avLst/>
          </a:prstGeom>
          <a:noFill/>
        </p:spPr>
        <p:txBody>
          <a:bodyPr wrap="square" lIns="45720" rIns="45720" anchor="t">
            <a:spAutoFit/>
          </a:bodyPr>
          <a:lstStyle/>
          <a:p>
            <a:pPr algn="ctr">
              <a:defRPr sz="1500" b="1">
                <a:solidFill>
                  <a:srgbClr val="0B132B"/>
                </a:solidFill>
                <a:latin typeface="Aptos"/>
              </a:defRPr>
            </a:pPr>
            <a:r>
              <a:t>Main finding: synthetic benchmarks overestimate how well simple rules transfer to authentic PDFs.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LOCAL VS. FRONTIER</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Model comparison: speed, control, and taxonomy</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08</a:t>
            </a:r>
          </a:p>
        </p:txBody>
      </p:sp>
      <p:sp>
        <p:nvSpPr>
          <p:cNvPr id="7" name="Rectangle 6"/>
          <p:cNvSpPr/>
          <p:nvPr/>
        </p:nvSpPr>
        <p:spPr>
          <a:xfrm>
            <a:off x="621792" y="1280160"/>
            <a:ext cx="150876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399032"/>
            <a:ext cx="1399031" cy="228600"/>
          </a:xfrm>
          <a:prstGeom prst="rect">
            <a:avLst/>
          </a:prstGeom>
          <a:noFill/>
        </p:spPr>
        <p:txBody>
          <a:bodyPr wrap="square" lIns="45720" rIns="45720" anchor="t">
            <a:spAutoFit/>
          </a:bodyPr>
          <a:lstStyle/>
          <a:p>
            <a:pPr algn="ctr">
              <a:defRPr sz="1100" b="1">
                <a:solidFill>
                  <a:srgbClr val="FFFFFF"/>
                </a:solidFill>
                <a:latin typeface="Aptos"/>
              </a:defRPr>
            </a:pPr>
            <a:r>
              <a:t>Backend</a:t>
            </a:r>
          </a:p>
        </p:txBody>
      </p:sp>
      <p:sp>
        <p:nvSpPr>
          <p:cNvPr id="9" name="Rectangle 8"/>
          <p:cNvSpPr/>
          <p:nvPr/>
        </p:nvSpPr>
        <p:spPr>
          <a:xfrm>
            <a:off x="2130552" y="1280160"/>
            <a:ext cx="205740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85416" y="1399032"/>
            <a:ext cx="1947672" cy="228600"/>
          </a:xfrm>
          <a:prstGeom prst="rect">
            <a:avLst/>
          </a:prstGeom>
          <a:noFill/>
        </p:spPr>
        <p:txBody>
          <a:bodyPr wrap="square" lIns="45720" rIns="45720" anchor="t">
            <a:spAutoFit/>
          </a:bodyPr>
          <a:lstStyle/>
          <a:p>
            <a:pPr algn="ctr">
              <a:defRPr sz="1100" b="1">
                <a:solidFill>
                  <a:srgbClr val="FFFFFF"/>
                </a:solidFill>
                <a:latin typeface="Aptos"/>
              </a:defRPr>
            </a:pPr>
            <a:r>
              <a:t>Observed result</a:t>
            </a:r>
          </a:p>
        </p:txBody>
      </p:sp>
      <p:sp>
        <p:nvSpPr>
          <p:cNvPr id="11" name="Rectangle 10"/>
          <p:cNvSpPr/>
          <p:nvPr/>
        </p:nvSpPr>
        <p:spPr>
          <a:xfrm>
            <a:off x="4187952" y="1280160"/>
            <a:ext cx="132588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42816" y="1399032"/>
            <a:ext cx="1216152" cy="228600"/>
          </a:xfrm>
          <a:prstGeom prst="rect">
            <a:avLst/>
          </a:prstGeom>
          <a:noFill/>
        </p:spPr>
        <p:txBody>
          <a:bodyPr wrap="square" lIns="45720" rIns="45720" anchor="t">
            <a:spAutoFit/>
          </a:bodyPr>
          <a:lstStyle/>
          <a:p>
            <a:pPr algn="ctr">
              <a:defRPr sz="1100" b="1">
                <a:solidFill>
                  <a:srgbClr val="FFFFFF"/>
                </a:solidFill>
                <a:latin typeface="Aptos"/>
              </a:defRPr>
            </a:pPr>
            <a:r>
              <a:t>Latency</a:t>
            </a:r>
          </a:p>
        </p:txBody>
      </p:sp>
      <p:sp>
        <p:nvSpPr>
          <p:cNvPr id="13" name="Rectangle 12"/>
          <p:cNvSpPr/>
          <p:nvPr/>
        </p:nvSpPr>
        <p:spPr>
          <a:xfrm>
            <a:off x="5513832" y="1280160"/>
            <a:ext cx="23317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68696" y="1399032"/>
            <a:ext cx="2221991" cy="228600"/>
          </a:xfrm>
          <a:prstGeom prst="rect">
            <a:avLst/>
          </a:prstGeom>
          <a:noFill/>
        </p:spPr>
        <p:txBody>
          <a:bodyPr wrap="square" lIns="45720" rIns="45720" anchor="t">
            <a:spAutoFit/>
          </a:bodyPr>
          <a:lstStyle/>
          <a:p>
            <a:pPr algn="ctr">
              <a:defRPr sz="1100" b="1">
                <a:solidFill>
                  <a:srgbClr val="FFFFFF"/>
                </a:solidFill>
                <a:latin typeface="Aptos"/>
              </a:defRPr>
            </a:pPr>
            <a:r>
              <a:t>Best use</a:t>
            </a:r>
          </a:p>
        </p:txBody>
      </p:sp>
      <p:sp>
        <p:nvSpPr>
          <p:cNvPr id="15" name="Rectangle 14"/>
          <p:cNvSpPr/>
          <p:nvPr/>
        </p:nvSpPr>
        <p:spPr>
          <a:xfrm>
            <a:off x="7845552" y="1280160"/>
            <a:ext cx="32461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416" y="1399032"/>
            <a:ext cx="3136391" cy="228600"/>
          </a:xfrm>
          <a:prstGeom prst="rect">
            <a:avLst/>
          </a:prstGeom>
          <a:noFill/>
        </p:spPr>
        <p:txBody>
          <a:bodyPr wrap="square" lIns="45720" rIns="45720" anchor="t">
            <a:spAutoFit/>
          </a:bodyPr>
          <a:lstStyle/>
          <a:p>
            <a:pPr algn="ctr">
              <a:defRPr sz="1100" b="1">
                <a:solidFill>
                  <a:srgbClr val="FFFFFF"/>
                </a:solidFill>
                <a:latin typeface="Aptos"/>
              </a:defRPr>
            </a:pPr>
            <a:r>
              <a:t>Limitation</a:t>
            </a:r>
          </a:p>
        </p:txBody>
      </p:sp>
      <p:sp>
        <p:nvSpPr>
          <p:cNvPr id="17" name="Rectangle 16"/>
          <p:cNvSpPr/>
          <p:nvPr/>
        </p:nvSpPr>
        <p:spPr>
          <a:xfrm>
            <a:off x="621792" y="1783080"/>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1947672"/>
            <a:ext cx="1362456" cy="393192"/>
          </a:xfrm>
          <a:prstGeom prst="rect">
            <a:avLst/>
          </a:prstGeom>
          <a:noFill/>
        </p:spPr>
        <p:txBody>
          <a:bodyPr wrap="square" lIns="45720" rIns="45720" anchor="t">
            <a:spAutoFit/>
          </a:bodyPr>
          <a:lstStyle/>
          <a:p>
            <a:pPr algn="ctr">
              <a:defRPr sz="1350" b="1">
                <a:solidFill>
                  <a:srgbClr val="2563EB"/>
                </a:solidFill>
                <a:latin typeface="Aptos"/>
              </a:defRPr>
            </a:pPr>
            <a:r>
              <a:t>Heuristic</a:t>
            </a:r>
          </a:p>
        </p:txBody>
      </p:sp>
      <p:sp>
        <p:nvSpPr>
          <p:cNvPr id="19" name="Rectangle 18"/>
          <p:cNvSpPr/>
          <p:nvPr/>
        </p:nvSpPr>
        <p:spPr>
          <a:xfrm>
            <a:off x="2130552" y="1783080"/>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03704" y="1947672"/>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0.900 F1*</a:t>
            </a:r>
          </a:p>
        </p:txBody>
      </p:sp>
      <p:sp>
        <p:nvSpPr>
          <p:cNvPr id="21" name="Rectangle 20"/>
          <p:cNvSpPr/>
          <p:nvPr/>
        </p:nvSpPr>
        <p:spPr>
          <a:xfrm>
            <a:off x="4187952" y="1783080"/>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61104" y="1947672"/>
            <a:ext cx="1179576" cy="393192"/>
          </a:xfrm>
          <a:prstGeom prst="rect">
            <a:avLst/>
          </a:prstGeom>
          <a:noFill/>
        </p:spPr>
        <p:txBody>
          <a:bodyPr wrap="square" lIns="45720" rIns="45720" anchor="t">
            <a:spAutoFit/>
          </a:bodyPr>
          <a:lstStyle/>
          <a:p>
            <a:pPr algn="ctr">
              <a:defRPr sz="1250" b="0">
                <a:solidFill>
                  <a:srgbClr val="182230"/>
                </a:solidFill>
                <a:latin typeface="Aptos"/>
              </a:defRPr>
            </a:pPr>
            <a:r>
              <a:t>~0 ms</a:t>
            </a:r>
          </a:p>
        </p:txBody>
      </p:sp>
      <p:sp>
        <p:nvSpPr>
          <p:cNvPr id="23" name="Rectangle 22"/>
          <p:cNvSpPr/>
          <p:nvPr/>
        </p:nvSpPr>
        <p:spPr>
          <a:xfrm>
            <a:off x="5513832" y="1783080"/>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6984" y="1947672"/>
            <a:ext cx="2185415" cy="393192"/>
          </a:xfrm>
          <a:prstGeom prst="rect">
            <a:avLst/>
          </a:prstGeom>
          <a:noFill/>
        </p:spPr>
        <p:txBody>
          <a:bodyPr wrap="square" lIns="45720" rIns="45720" anchor="t">
            <a:spAutoFit/>
          </a:bodyPr>
          <a:lstStyle/>
          <a:p>
            <a:pPr algn="ctr">
              <a:defRPr sz="1250" b="0">
                <a:solidFill>
                  <a:srgbClr val="182230"/>
                </a:solidFill>
                <a:latin typeface="Aptos"/>
              </a:defRPr>
            </a:pPr>
            <a:r>
              <a:t>Transparent baseline</a:t>
            </a:r>
          </a:p>
        </p:txBody>
      </p:sp>
      <p:sp>
        <p:nvSpPr>
          <p:cNvPr id="25" name="Rectangle 24"/>
          <p:cNvSpPr/>
          <p:nvPr/>
        </p:nvSpPr>
        <p:spPr>
          <a:xfrm>
            <a:off x="7845552" y="1783080"/>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18704" y="1947672"/>
            <a:ext cx="3099815" cy="393192"/>
          </a:xfrm>
          <a:prstGeom prst="rect">
            <a:avLst/>
          </a:prstGeom>
          <a:noFill/>
        </p:spPr>
        <p:txBody>
          <a:bodyPr wrap="square" lIns="45720" rIns="45720" anchor="t">
            <a:spAutoFit/>
          </a:bodyPr>
          <a:lstStyle/>
          <a:p>
            <a:pPr algn="ctr">
              <a:defRPr sz="1250" b="0">
                <a:solidFill>
                  <a:srgbClr val="182230"/>
                </a:solidFill>
                <a:latin typeface="Aptos"/>
              </a:defRPr>
            </a:pPr>
            <a:r>
              <a:t>Relies on surface patterns</a:t>
            </a:r>
          </a:p>
        </p:txBody>
      </p:sp>
      <p:sp>
        <p:nvSpPr>
          <p:cNvPr id="27" name="Rectangle 26"/>
          <p:cNvSpPr/>
          <p:nvPr/>
        </p:nvSpPr>
        <p:spPr>
          <a:xfrm>
            <a:off x="621792" y="2642615"/>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2807208"/>
            <a:ext cx="1362456" cy="393192"/>
          </a:xfrm>
          <a:prstGeom prst="rect">
            <a:avLst/>
          </a:prstGeom>
          <a:noFill/>
        </p:spPr>
        <p:txBody>
          <a:bodyPr wrap="square" lIns="45720" rIns="45720" anchor="t">
            <a:spAutoFit/>
          </a:bodyPr>
          <a:lstStyle/>
          <a:p>
            <a:pPr algn="ctr">
              <a:defRPr sz="1350" b="1">
                <a:solidFill>
                  <a:srgbClr val="F59E0B"/>
                </a:solidFill>
                <a:latin typeface="Aptos"/>
              </a:defRPr>
            </a:pPr>
            <a:r>
              <a:t>LoRA</a:t>
            </a:r>
          </a:p>
        </p:txBody>
      </p:sp>
      <p:sp>
        <p:nvSpPr>
          <p:cNvPr id="29" name="Rectangle 28"/>
          <p:cNvSpPr/>
          <p:nvPr/>
        </p:nvSpPr>
        <p:spPr>
          <a:xfrm>
            <a:off x="2130552" y="2642615"/>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03704" y="2807208"/>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0.172 F1*</a:t>
            </a:r>
          </a:p>
        </p:txBody>
      </p:sp>
      <p:sp>
        <p:nvSpPr>
          <p:cNvPr id="31" name="Rectangle 30"/>
          <p:cNvSpPr/>
          <p:nvPr/>
        </p:nvSpPr>
        <p:spPr>
          <a:xfrm>
            <a:off x="4187952" y="2642615"/>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4" y="2807208"/>
            <a:ext cx="1179576" cy="393192"/>
          </a:xfrm>
          <a:prstGeom prst="rect">
            <a:avLst/>
          </a:prstGeom>
          <a:noFill/>
        </p:spPr>
        <p:txBody>
          <a:bodyPr wrap="square" lIns="45720" rIns="45720" anchor="t">
            <a:spAutoFit/>
          </a:bodyPr>
          <a:lstStyle/>
          <a:p>
            <a:pPr algn="ctr">
              <a:defRPr sz="1250" b="0">
                <a:solidFill>
                  <a:srgbClr val="182230"/>
                </a:solidFill>
                <a:latin typeface="Aptos"/>
              </a:defRPr>
            </a:pPr>
            <a:r>
              <a:t>9.3 ms</a:t>
            </a:r>
          </a:p>
        </p:txBody>
      </p:sp>
      <p:sp>
        <p:nvSpPr>
          <p:cNvPr id="33" name="Rectangle 32"/>
          <p:cNvSpPr/>
          <p:nvPr/>
        </p:nvSpPr>
        <p:spPr>
          <a:xfrm>
            <a:off x="5513832" y="2642615"/>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86984" y="2807208"/>
            <a:ext cx="2185415" cy="393192"/>
          </a:xfrm>
          <a:prstGeom prst="rect">
            <a:avLst/>
          </a:prstGeom>
          <a:noFill/>
        </p:spPr>
        <p:txBody>
          <a:bodyPr wrap="square" lIns="45720" rIns="45720" anchor="t">
            <a:spAutoFit/>
          </a:bodyPr>
          <a:lstStyle/>
          <a:p>
            <a:pPr algn="ctr">
              <a:defRPr sz="1250" b="0">
                <a:solidFill>
                  <a:srgbClr val="182230"/>
                </a:solidFill>
                <a:latin typeface="Aptos"/>
              </a:defRPr>
            </a:pPr>
            <a:r>
              <a:t>Cheap local inference</a:t>
            </a:r>
          </a:p>
        </p:txBody>
      </p:sp>
      <p:sp>
        <p:nvSpPr>
          <p:cNvPr id="35" name="Rectangle 34"/>
          <p:cNvSpPr/>
          <p:nvPr/>
        </p:nvSpPr>
        <p:spPr>
          <a:xfrm>
            <a:off x="7845552" y="2642615"/>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18704" y="2807208"/>
            <a:ext cx="3099815" cy="393192"/>
          </a:xfrm>
          <a:prstGeom prst="rect">
            <a:avLst/>
          </a:prstGeom>
          <a:noFill/>
        </p:spPr>
        <p:txBody>
          <a:bodyPr wrap="square" lIns="45720" rIns="45720" anchor="t">
            <a:spAutoFit/>
          </a:bodyPr>
          <a:lstStyle/>
          <a:p>
            <a:pPr algn="ctr">
              <a:defRPr sz="1250" b="0">
                <a:solidFill>
                  <a:srgbClr val="182230"/>
                </a:solidFill>
                <a:latin typeface="Aptos"/>
              </a:defRPr>
            </a:pPr>
            <a:r>
              <a:t>SciFact has 3 vs. 5 labels</a:t>
            </a:r>
          </a:p>
        </p:txBody>
      </p:sp>
      <p:sp>
        <p:nvSpPr>
          <p:cNvPr id="37" name="Rectangle 36"/>
          <p:cNvSpPr/>
          <p:nvPr/>
        </p:nvSpPr>
        <p:spPr>
          <a:xfrm>
            <a:off x="621792" y="3502152"/>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 y="3666744"/>
            <a:ext cx="1362456" cy="393192"/>
          </a:xfrm>
          <a:prstGeom prst="rect">
            <a:avLst/>
          </a:prstGeom>
          <a:noFill/>
        </p:spPr>
        <p:txBody>
          <a:bodyPr wrap="square" lIns="45720" rIns="45720" anchor="t">
            <a:spAutoFit/>
          </a:bodyPr>
          <a:lstStyle/>
          <a:p>
            <a:pPr algn="ctr">
              <a:defRPr sz="1350" b="1">
                <a:solidFill>
                  <a:srgbClr val="10B981"/>
                </a:solidFill>
                <a:latin typeface="Aptos"/>
              </a:defRPr>
            </a:pPr>
            <a:r>
              <a:t>Ollama</a:t>
            </a:r>
          </a:p>
        </p:txBody>
      </p:sp>
      <p:sp>
        <p:nvSpPr>
          <p:cNvPr id="39" name="Rectangle 38"/>
          <p:cNvSpPr/>
          <p:nvPr/>
        </p:nvSpPr>
        <p:spPr>
          <a:xfrm>
            <a:off x="2130552" y="3502152"/>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03704" y="3666744"/>
            <a:ext cx="1911095" cy="393192"/>
          </a:xfrm>
          <a:prstGeom prst="rect">
            <a:avLst/>
          </a:prstGeom>
          <a:noFill/>
        </p:spPr>
        <p:txBody>
          <a:bodyPr wrap="square" lIns="45720" rIns="45720" anchor="t">
            <a:spAutoFit/>
          </a:bodyPr>
          <a:lstStyle/>
          <a:p>
            <a:pPr algn="ctr">
              <a:defRPr sz="1250" b="0">
                <a:solidFill>
                  <a:srgbClr val="182230"/>
                </a:solidFill>
                <a:latin typeface="Aptos"/>
              </a:defRPr>
            </a:pPr>
            <a:r>
              <a:t>supported†</a:t>
            </a:r>
          </a:p>
        </p:txBody>
      </p:sp>
      <p:sp>
        <p:nvSpPr>
          <p:cNvPr id="41" name="Rectangle 40"/>
          <p:cNvSpPr/>
          <p:nvPr/>
        </p:nvSpPr>
        <p:spPr>
          <a:xfrm>
            <a:off x="4187952" y="3502152"/>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61104" y="3666744"/>
            <a:ext cx="1179576" cy="393192"/>
          </a:xfrm>
          <a:prstGeom prst="rect">
            <a:avLst/>
          </a:prstGeom>
          <a:noFill/>
        </p:spPr>
        <p:txBody>
          <a:bodyPr wrap="square" lIns="45720" rIns="45720" anchor="t">
            <a:spAutoFit/>
          </a:bodyPr>
          <a:lstStyle/>
          <a:p>
            <a:pPr algn="ctr">
              <a:defRPr sz="1250" b="0">
                <a:solidFill>
                  <a:srgbClr val="182230"/>
                </a:solidFill>
                <a:latin typeface="Aptos"/>
              </a:defRPr>
            </a:pPr>
            <a:r>
              <a:t>40.9 s</a:t>
            </a:r>
          </a:p>
        </p:txBody>
      </p:sp>
      <p:sp>
        <p:nvSpPr>
          <p:cNvPr id="43" name="Rectangle 42"/>
          <p:cNvSpPr/>
          <p:nvPr/>
        </p:nvSpPr>
        <p:spPr>
          <a:xfrm>
            <a:off x="5513832" y="3502152"/>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86984" y="3666744"/>
            <a:ext cx="2185415" cy="393192"/>
          </a:xfrm>
          <a:prstGeom prst="rect">
            <a:avLst/>
          </a:prstGeom>
          <a:noFill/>
        </p:spPr>
        <p:txBody>
          <a:bodyPr wrap="square" lIns="45720" rIns="45720" anchor="t">
            <a:spAutoFit/>
          </a:bodyPr>
          <a:lstStyle/>
          <a:p>
            <a:pPr algn="ctr">
              <a:defRPr sz="1250" b="0">
                <a:solidFill>
                  <a:srgbClr val="182230"/>
                </a:solidFill>
                <a:latin typeface="Aptos"/>
              </a:defRPr>
            </a:pPr>
            <a:r>
              <a:t>Private local review</a:t>
            </a:r>
          </a:p>
        </p:txBody>
      </p:sp>
      <p:sp>
        <p:nvSpPr>
          <p:cNvPr id="45" name="Rectangle 44"/>
          <p:cNvSpPr/>
          <p:nvPr/>
        </p:nvSpPr>
        <p:spPr>
          <a:xfrm>
            <a:off x="7845552" y="3502152"/>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18704" y="3666744"/>
            <a:ext cx="3099815" cy="393192"/>
          </a:xfrm>
          <a:prstGeom prst="rect">
            <a:avLst/>
          </a:prstGeom>
          <a:noFill/>
        </p:spPr>
        <p:txBody>
          <a:bodyPr wrap="square" lIns="45720" rIns="45720" anchor="t">
            <a:spAutoFit/>
          </a:bodyPr>
          <a:lstStyle/>
          <a:p>
            <a:pPr algn="ctr">
              <a:defRPr sz="1250" b="0">
                <a:solidFill>
                  <a:srgbClr val="182230"/>
                </a:solidFill>
                <a:latin typeface="Aptos"/>
              </a:defRPr>
            </a:pPr>
            <a:r>
              <a:t>Slow; one diagnostic claim</a:t>
            </a:r>
          </a:p>
        </p:txBody>
      </p:sp>
      <p:sp>
        <p:nvSpPr>
          <p:cNvPr id="47" name="Rectangle 46"/>
          <p:cNvSpPr/>
          <p:nvPr/>
        </p:nvSpPr>
        <p:spPr>
          <a:xfrm>
            <a:off x="621792" y="4361688"/>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526279"/>
            <a:ext cx="1362456" cy="393192"/>
          </a:xfrm>
          <a:prstGeom prst="rect">
            <a:avLst/>
          </a:prstGeom>
          <a:noFill/>
        </p:spPr>
        <p:txBody>
          <a:bodyPr wrap="square" lIns="45720" rIns="45720" anchor="t">
            <a:spAutoFit/>
          </a:bodyPr>
          <a:lstStyle/>
          <a:p>
            <a:pPr algn="ctr">
              <a:defRPr sz="1350" b="1">
                <a:solidFill>
                  <a:srgbClr val="8B5CF6"/>
                </a:solidFill>
                <a:latin typeface="Aptos"/>
              </a:defRPr>
            </a:pPr>
            <a:r>
              <a:t>OpenAI</a:t>
            </a:r>
          </a:p>
        </p:txBody>
      </p:sp>
      <p:sp>
        <p:nvSpPr>
          <p:cNvPr id="49" name="Rectangle 48"/>
          <p:cNvSpPr/>
          <p:nvPr/>
        </p:nvSpPr>
        <p:spPr>
          <a:xfrm>
            <a:off x="2130552" y="4361688"/>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03704" y="4526279"/>
            <a:ext cx="1911095" cy="393192"/>
          </a:xfrm>
          <a:prstGeom prst="rect">
            <a:avLst/>
          </a:prstGeom>
          <a:noFill/>
        </p:spPr>
        <p:txBody>
          <a:bodyPr wrap="square" lIns="45720" rIns="45720" anchor="t">
            <a:spAutoFit/>
          </a:bodyPr>
          <a:lstStyle/>
          <a:p>
            <a:pPr algn="ctr">
              <a:defRPr sz="1250" b="0">
                <a:solidFill>
                  <a:srgbClr val="182230"/>
                </a:solidFill>
                <a:latin typeface="Aptos"/>
              </a:defRPr>
            </a:pPr>
            <a:r>
              <a:t>insufficient†</a:t>
            </a:r>
          </a:p>
        </p:txBody>
      </p:sp>
      <p:sp>
        <p:nvSpPr>
          <p:cNvPr id="51" name="Rectangle 50"/>
          <p:cNvSpPr/>
          <p:nvPr/>
        </p:nvSpPr>
        <p:spPr>
          <a:xfrm>
            <a:off x="4187952" y="4361688"/>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61104" y="4526279"/>
            <a:ext cx="1179576" cy="393192"/>
          </a:xfrm>
          <a:prstGeom prst="rect">
            <a:avLst/>
          </a:prstGeom>
          <a:noFill/>
        </p:spPr>
        <p:txBody>
          <a:bodyPr wrap="square" lIns="45720" rIns="45720" anchor="t">
            <a:spAutoFit/>
          </a:bodyPr>
          <a:lstStyle/>
          <a:p>
            <a:pPr algn="ctr">
              <a:defRPr sz="1250" b="0">
                <a:solidFill>
                  <a:srgbClr val="182230"/>
                </a:solidFill>
                <a:latin typeface="Aptos"/>
              </a:defRPr>
            </a:pPr>
            <a:r>
              <a:t>1.89 s</a:t>
            </a:r>
          </a:p>
        </p:txBody>
      </p:sp>
      <p:sp>
        <p:nvSpPr>
          <p:cNvPr id="53" name="Rectangle 52"/>
          <p:cNvSpPr/>
          <p:nvPr/>
        </p:nvSpPr>
        <p:spPr>
          <a:xfrm>
            <a:off x="5513832" y="4361688"/>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86984" y="4526279"/>
            <a:ext cx="2185415" cy="393192"/>
          </a:xfrm>
          <a:prstGeom prst="rect">
            <a:avLst/>
          </a:prstGeom>
          <a:noFill/>
        </p:spPr>
        <p:txBody>
          <a:bodyPr wrap="square" lIns="45720" rIns="45720" anchor="t">
            <a:spAutoFit/>
          </a:bodyPr>
          <a:lstStyle/>
          <a:p>
            <a:pPr algn="ctr">
              <a:defRPr sz="1250" b="0">
                <a:solidFill>
                  <a:srgbClr val="182230"/>
                </a:solidFill>
                <a:latin typeface="Aptos"/>
              </a:defRPr>
            </a:pPr>
            <a:r>
              <a:t>Structured frontier review</a:t>
            </a:r>
          </a:p>
        </p:txBody>
      </p:sp>
      <p:sp>
        <p:nvSpPr>
          <p:cNvPr id="55" name="Rectangle 54"/>
          <p:cNvSpPr/>
          <p:nvPr/>
        </p:nvSpPr>
        <p:spPr>
          <a:xfrm>
            <a:off x="7845552" y="4361688"/>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18704" y="4526279"/>
            <a:ext cx="3099815" cy="393192"/>
          </a:xfrm>
          <a:prstGeom prst="rect">
            <a:avLst/>
          </a:prstGeom>
          <a:noFill/>
        </p:spPr>
        <p:txBody>
          <a:bodyPr wrap="square" lIns="45720" rIns="45720" anchor="t">
            <a:spAutoFit/>
          </a:bodyPr>
          <a:lstStyle/>
          <a:p>
            <a:pPr algn="ctr">
              <a:defRPr sz="1250" b="0">
                <a:solidFill>
                  <a:srgbClr val="182230"/>
                </a:solidFill>
                <a:latin typeface="Aptos"/>
              </a:defRPr>
            </a:pPr>
            <a:r>
              <a:t>Paid/external; one diagnostic claim</a:t>
            </a:r>
          </a:p>
        </p:txBody>
      </p:sp>
      <p:sp>
        <p:nvSpPr>
          <p:cNvPr id="57" name="Rounded Rectangle 56"/>
          <p:cNvSpPr/>
          <p:nvPr/>
        </p:nvSpPr>
        <p:spPr>
          <a:xfrm>
            <a:off x="685800" y="5440680"/>
            <a:ext cx="10835640" cy="621792"/>
          </a:xfrm>
          <a:prstGeom prst="roundRect">
            <a:avLst>
              <a:gd name="adj" fmla="val 12000"/>
            </a:avLst>
          </a:prstGeom>
          <a:solidFill>
            <a:srgbClr val="FFF7E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6112" y="5596128"/>
            <a:ext cx="10378440" cy="274320"/>
          </a:xfrm>
          <a:prstGeom prst="rect">
            <a:avLst/>
          </a:prstGeom>
          <a:noFill/>
        </p:spPr>
        <p:txBody>
          <a:bodyPr wrap="square" lIns="45720" rIns="45720" anchor="t">
            <a:spAutoFit/>
          </a:bodyPr>
          <a:lstStyle/>
          <a:p>
            <a:pPr algn="ctr">
              <a:defRPr sz="1250" b="1">
                <a:solidFill>
                  <a:srgbClr val="92400E"/>
                </a:solidFill>
                <a:latin typeface="Aptos"/>
              </a:defRPr>
            </a:pPr>
            <a:r>
              <a:t>* 30-case gold benchmark     † same real RQ5 claim; diagnostic only — not an accuracy comparison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LIMITS</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What works — and where it breaks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09</a:t>
            </a:r>
          </a:p>
        </p:txBody>
      </p:sp>
      <p:sp>
        <p:nvSpPr>
          <p:cNvPr id="7" name="Rounded Rectangle 6"/>
          <p:cNvSpPr/>
          <p:nvPr/>
        </p:nvSpPr>
        <p:spPr>
          <a:xfrm>
            <a:off x="621792" y="1298448"/>
            <a:ext cx="5303520" cy="4526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77824" y="1572768"/>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581912"/>
            <a:ext cx="1353312" cy="274320"/>
          </a:xfrm>
          <a:prstGeom prst="rect">
            <a:avLst/>
          </a:prstGeom>
          <a:noFill/>
        </p:spPr>
        <p:txBody>
          <a:bodyPr wrap="square" lIns="45720" rIns="45720" anchor="t">
            <a:spAutoFit/>
          </a:bodyPr>
          <a:lstStyle/>
          <a:p>
            <a:pPr algn="ctr">
              <a:defRPr sz="1000" b="1">
                <a:solidFill>
                  <a:srgbClr val="FFFFFF"/>
                </a:solidFill>
                <a:latin typeface="Aptos"/>
              </a:defRPr>
            </a:pPr>
            <a:r>
              <a:t>WORKS WELL</a:t>
            </a:r>
          </a:p>
        </p:txBody>
      </p:sp>
      <p:sp>
        <p:nvSpPr>
          <p:cNvPr id="10" name="TextBox 9"/>
          <p:cNvSpPr txBox="1"/>
          <p:nvPr/>
        </p:nvSpPr>
        <p:spPr>
          <a:xfrm>
            <a:off x="932688" y="2148840"/>
            <a:ext cx="4526280" cy="2971800"/>
          </a:xfrm>
          <a:prstGeom prst="rect">
            <a:avLst/>
          </a:prstGeom>
          <a:noFill/>
        </p:spPr>
        <p:txBody>
          <a:bodyPr wrap="square" lIns="0" rIns="0" tIns="0" bIns="0">
            <a:spAutoFit/>
          </a:bodyPr>
          <a:lstStyle/>
          <a:p>
            <a:pPr>
              <a:lnSpc>
                <a:spcPct val="105000"/>
              </a:lnSpc>
              <a:spcAft>
                <a:spcPts val="1600"/>
              </a:spcAft>
              <a:defRPr sz="1600">
                <a:solidFill>
                  <a:srgbClr val="182230"/>
                </a:solidFill>
                <a:latin typeface="Aptos"/>
              </a:defRPr>
            </a:pPr>
            <a:r>
              <a:t>•  End-to-end PDF → Markdown/JSON workflow</a:t>
            </a:r>
          </a:p>
          <a:p>
            <a:pPr>
              <a:lnSpc>
                <a:spcPct val="105000"/>
              </a:lnSpc>
              <a:spcAft>
                <a:spcPts val="1600"/>
              </a:spcAft>
              <a:defRPr sz="1600">
                <a:solidFill>
                  <a:srgbClr val="182230"/>
                </a:solidFill>
                <a:latin typeface="Aptos"/>
              </a:defRPr>
            </a:pPr>
            <a:r>
              <a:t>•  Traceable evidence and backend metadata</a:t>
            </a:r>
          </a:p>
          <a:p>
            <a:pPr>
              <a:lnSpc>
                <a:spcPct val="105000"/>
              </a:lnSpc>
              <a:spcAft>
                <a:spcPts val="1600"/>
              </a:spcAft>
              <a:defRPr sz="1600">
                <a:solidFill>
                  <a:srgbClr val="182230"/>
                </a:solidFill>
                <a:latin typeface="Aptos"/>
              </a:defRPr>
            </a:pPr>
            <a:r>
              <a:t>•  Robust IEEE parsing for Report 5</a:t>
            </a:r>
          </a:p>
          <a:p>
            <a:pPr>
              <a:lnSpc>
                <a:spcPct val="105000"/>
              </a:lnSpc>
              <a:spcAft>
                <a:spcPts val="1600"/>
              </a:spcAft>
              <a:defRPr sz="1600">
                <a:solidFill>
                  <a:srgbClr val="182230"/>
                </a:solidFill>
                <a:latin typeface="Aptos"/>
              </a:defRPr>
            </a:pPr>
            <a:r>
              <a:t>•  Offline fallback and real CUDA LoRA path</a:t>
            </a:r>
          </a:p>
        </p:txBody>
      </p:sp>
      <p:sp>
        <p:nvSpPr>
          <p:cNvPr id="11" name="Rounded Rectangle 10"/>
          <p:cNvSpPr/>
          <p:nvPr/>
        </p:nvSpPr>
        <p:spPr>
          <a:xfrm>
            <a:off x="6254496" y="1298448"/>
            <a:ext cx="5303520" cy="4526280"/>
          </a:xfrm>
          <a:prstGeom prst="roundRect">
            <a:avLst>
              <a:gd name="adj" fmla="val 12000"/>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72768"/>
            <a:ext cx="138988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1581912"/>
            <a:ext cx="1389888" cy="274320"/>
          </a:xfrm>
          <a:prstGeom prst="rect">
            <a:avLst/>
          </a:prstGeom>
          <a:noFill/>
        </p:spPr>
        <p:txBody>
          <a:bodyPr wrap="square" lIns="45720" rIns="45720" anchor="t">
            <a:spAutoFit/>
          </a:bodyPr>
          <a:lstStyle/>
          <a:p>
            <a:pPr algn="ctr">
              <a:defRPr sz="1000" b="1">
                <a:solidFill>
                  <a:srgbClr val="FFFFFF"/>
                </a:solidFill>
                <a:latin typeface="Aptos"/>
              </a:defRPr>
            </a:pPr>
            <a:r>
              <a:t>LIMITATIONS</a:t>
            </a:r>
          </a:p>
        </p:txBody>
      </p:sp>
      <p:sp>
        <p:nvSpPr>
          <p:cNvPr id="14" name="TextBox 13"/>
          <p:cNvSpPr txBox="1"/>
          <p:nvPr/>
        </p:nvSpPr>
        <p:spPr>
          <a:xfrm>
            <a:off x="6565392" y="2148840"/>
            <a:ext cx="4526280" cy="2971800"/>
          </a:xfrm>
          <a:prstGeom prst="rect">
            <a:avLst/>
          </a:prstGeom>
          <a:noFill/>
        </p:spPr>
        <p:txBody>
          <a:bodyPr wrap="square" lIns="0" rIns="0" tIns="0" bIns="0">
            <a:spAutoFit/>
          </a:bodyPr>
          <a:lstStyle/>
          <a:p>
            <a:pPr>
              <a:lnSpc>
                <a:spcPct val="105000"/>
              </a:lnSpc>
              <a:spcAft>
                <a:spcPts val="1600"/>
              </a:spcAft>
              <a:defRPr sz="1600">
                <a:solidFill>
                  <a:srgbClr val="182230"/>
                </a:solidFill>
                <a:latin typeface="Aptos"/>
              </a:defRPr>
            </a:pPr>
            <a:r>
              <a:t>•  PDF extraction introduces spacing/heading noise</a:t>
            </a:r>
          </a:p>
          <a:p>
            <a:pPr>
              <a:lnSpc>
                <a:spcPct val="105000"/>
              </a:lnSpc>
              <a:spcAft>
                <a:spcPts val="1600"/>
              </a:spcAft>
              <a:defRPr sz="1600">
                <a:solidFill>
                  <a:srgbClr val="182230"/>
                </a:solidFill>
                <a:latin typeface="Aptos"/>
              </a:defRPr>
            </a:pPr>
            <a:r>
              <a:t>•  Real claim detection generalizes poorly</a:t>
            </a:r>
          </a:p>
          <a:p>
            <a:pPr>
              <a:lnSpc>
                <a:spcPct val="105000"/>
              </a:lnSpc>
              <a:spcAft>
                <a:spcPts val="1600"/>
              </a:spcAft>
              <a:defRPr sz="1600">
                <a:solidFill>
                  <a:srgbClr val="182230"/>
                </a:solidFill>
                <a:latin typeface="Aptos"/>
              </a:defRPr>
            </a:pPr>
            <a:r>
              <a:t>•  API metadata may time out or rate-limit</a:t>
            </a:r>
          </a:p>
          <a:p>
            <a:pPr>
              <a:lnSpc>
                <a:spcPct val="105000"/>
              </a:lnSpc>
              <a:spcAft>
                <a:spcPts val="1600"/>
              </a:spcAft>
              <a:defRPr sz="1600">
                <a:solidFill>
                  <a:srgbClr val="182230"/>
                </a:solidFill>
                <a:latin typeface="Aptos"/>
              </a:defRPr>
            </a:pPr>
            <a:r>
              <a:t>•  Binoculars' calibrated 14B pair exceeds 8 GB VRAM</a:t>
            </a:r>
          </a:p>
        </p:txBody>
      </p:sp>
      <p:sp>
        <p:nvSpPr>
          <p:cNvPr id="15" name="TextBox 14"/>
          <p:cNvSpPr txBox="1"/>
          <p:nvPr/>
        </p:nvSpPr>
        <p:spPr>
          <a:xfrm>
            <a:off x="1143000" y="5989320"/>
            <a:ext cx="9921240" cy="274320"/>
          </a:xfrm>
          <a:prstGeom prst="rect">
            <a:avLst/>
          </a:prstGeom>
          <a:noFill/>
        </p:spPr>
        <p:txBody>
          <a:bodyPr wrap="square" lIns="45720" rIns="45720" anchor="t">
            <a:spAutoFit/>
          </a:bodyPr>
          <a:lstStyle/>
          <a:p>
            <a:pPr algn="ctr">
              <a:defRPr sz="1450" b="1">
                <a:solidFill>
                  <a:srgbClr val="0B132B"/>
                </a:solidFill>
                <a:latin typeface="Aptos"/>
              </a:defRPr>
            </a:pPr>
            <a:r>
              <a:t>Ethical boundary: a flag prioritizes human review; it never proves misconduct or AI authorship.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CONCLUSION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Takeaways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Nils  •  0:35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10</a:t>
            </a:r>
          </a:p>
        </p:txBody>
      </p:sp>
      <p:sp>
        <p:nvSpPr>
          <p:cNvPr id="7" name="Rectangle 6"/>
          <p:cNvSpPr/>
          <p:nvPr/>
        </p:nvSpPr>
        <p:spPr>
          <a:xfrm>
            <a:off x="0" y="0"/>
            <a:ext cx="12191695" cy="6858000"/>
          </a:xfrm>
          <a:prstGeom prst="rect">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30352"/>
            <a:ext cx="3657600" cy="320040"/>
          </a:xfrm>
          <a:prstGeom prst="rect">
            <a:avLst/>
          </a:prstGeom>
          <a:noFill/>
        </p:spPr>
        <p:txBody>
          <a:bodyPr wrap="square" lIns="45720" rIns="45720" anchor="t">
            <a:spAutoFit/>
          </a:bodyPr>
          <a:lstStyle/>
          <a:p>
            <a:pPr algn="l">
              <a:defRPr sz="1100" b="1">
                <a:solidFill>
                  <a:srgbClr val="38BDF8"/>
                </a:solidFill>
                <a:latin typeface="Aptos"/>
              </a:defRPr>
            </a:pPr>
            <a:r>
              <a:t>CONCLUSION</a:t>
            </a:r>
          </a:p>
        </p:txBody>
      </p:sp>
      <p:sp>
        <p:nvSpPr>
          <p:cNvPr id="9" name="TextBox 8"/>
          <p:cNvSpPr txBox="1"/>
          <p:nvPr/>
        </p:nvSpPr>
        <p:spPr>
          <a:xfrm>
            <a:off x="731520" y="1005840"/>
            <a:ext cx="10515600" cy="640080"/>
          </a:xfrm>
          <a:prstGeom prst="rect">
            <a:avLst/>
          </a:prstGeom>
          <a:noFill/>
        </p:spPr>
        <p:txBody>
          <a:bodyPr wrap="square" lIns="45720" rIns="45720" anchor="t">
            <a:spAutoFit/>
          </a:bodyPr>
          <a:lstStyle/>
          <a:p>
            <a:pPr algn="l">
              <a:defRPr sz="3400" b="1">
                <a:solidFill>
                  <a:srgbClr val="FFFFFF"/>
                </a:solidFill>
                <a:latin typeface="Aptos"/>
              </a:defRPr>
            </a:pPr>
            <a:r>
              <a:t>ClaimGuard makes integrity review auditable.</a:t>
            </a:r>
          </a:p>
        </p:txBody>
      </p:sp>
      <p:sp>
        <p:nvSpPr>
          <p:cNvPr id="10" name="Rounded Rectangle 9"/>
          <p:cNvSpPr/>
          <p:nvPr/>
        </p:nvSpPr>
        <p:spPr>
          <a:xfrm>
            <a:off x="73152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3" name="TextBox 12"/>
          <p:cNvSpPr txBox="1"/>
          <p:nvPr/>
        </p:nvSpPr>
        <p:spPr>
          <a:xfrm>
            <a:off x="93268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Pipeline</a:t>
            </a:r>
          </a:p>
        </p:txBody>
      </p:sp>
      <p:sp>
        <p:nvSpPr>
          <p:cNvPr id="14" name="TextBox 13"/>
          <p:cNvSpPr txBox="1"/>
          <p:nvPr/>
        </p:nvSpPr>
        <p:spPr>
          <a:xfrm>
            <a:off x="93268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Claims, references, evidence, and verdicts in one workflow.</a:t>
            </a:r>
          </a:p>
        </p:txBody>
      </p:sp>
      <p:sp>
        <p:nvSpPr>
          <p:cNvPr id="15" name="Rounded Rectangle 14"/>
          <p:cNvSpPr/>
          <p:nvPr/>
        </p:nvSpPr>
        <p:spPr>
          <a:xfrm>
            <a:off x="4480559"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81727"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1727"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8" name="TextBox 17"/>
          <p:cNvSpPr txBox="1"/>
          <p:nvPr/>
        </p:nvSpPr>
        <p:spPr>
          <a:xfrm>
            <a:off x="4681727"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Evidence</a:t>
            </a:r>
          </a:p>
        </p:txBody>
      </p:sp>
      <p:sp>
        <p:nvSpPr>
          <p:cNvPr id="19" name="TextBox 18"/>
          <p:cNvSpPr txBox="1"/>
          <p:nvPr/>
        </p:nvSpPr>
        <p:spPr>
          <a:xfrm>
            <a:off x="4681727"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Real-report evaluation exposes where synthetic scores mislead.</a:t>
            </a:r>
          </a:p>
        </p:txBody>
      </p:sp>
      <p:sp>
        <p:nvSpPr>
          <p:cNvPr id="20" name="Rounded Rectangle 19"/>
          <p:cNvSpPr/>
          <p:nvPr/>
        </p:nvSpPr>
        <p:spPr>
          <a:xfrm>
            <a:off x="822960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3076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3" name="TextBox 22"/>
          <p:cNvSpPr txBox="1"/>
          <p:nvPr/>
        </p:nvSpPr>
        <p:spPr>
          <a:xfrm>
            <a:off x="843076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Responsibility</a:t>
            </a:r>
          </a:p>
        </p:txBody>
      </p:sp>
      <p:sp>
        <p:nvSpPr>
          <p:cNvPr id="24" name="TextBox 23"/>
          <p:cNvSpPr txBox="1"/>
          <p:nvPr/>
        </p:nvSpPr>
        <p:spPr>
          <a:xfrm>
            <a:off x="843076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Use automation to focus human attention — not replace judgment.</a:t>
            </a:r>
          </a:p>
        </p:txBody>
      </p:sp>
      <p:sp>
        <p:nvSpPr>
          <p:cNvPr id="25" name="TextBox 24"/>
          <p:cNvSpPr txBox="1"/>
          <p:nvPr/>
        </p:nvSpPr>
        <p:spPr>
          <a:xfrm>
            <a:off x="749808" y="5074920"/>
            <a:ext cx="10515600" cy="411480"/>
          </a:xfrm>
          <a:prstGeom prst="rect">
            <a:avLst/>
          </a:prstGeom>
          <a:noFill/>
        </p:spPr>
        <p:txBody>
          <a:bodyPr wrap="square" lIns="45720" rIns="45720" anchor="t">
            <a:spAutoFit/>
          </a:bodyPr>
          <a:lstStyle/>
          <a:p>
            <a:pPr algn="ctr">
              <a:defRPr sz="1700" b="1">
                <a:solidFill>
                  <a:srgbClr val="FFFFFF"/>
                </a:solidFill>
                <a:latin typeface="Aptos"/>
              </a:defRPr>
            </a:pPr>
            <a:r>
              <a:t>Next: expand double-annotated real claims and run the full OpenAI/Ollama gold benchmark.</a:t>
            </a:r>
          </a:p>
        </p:txBody>
      </p:sp>
      <p:sp>
        <p:nvSpPr>
          <p:cNvPr id="26" name="TextBox 25"/>
          <p:cNvSpPr txBox="1"/>
          <p:nvPr/>
        </p:nvSpPr>
        <p:spPr>
          <a:xfrm>
            <a:off x="749808" y="6172200"/>
            <a:ext cx="4572000" cy="228600"/>
          </a:xfrm>
          <a:prstGeom prst="rect">
            <a:avLst/>
          </a:prstGeom>
          <a:noFill/>
        </p:spPr>
        <p:txBody>
          <a:bodyPr wrap="square" lIns="45720" rIns="45720" anchor="t">
            <a:spAutoFit/>
          </a:bodyPr>
          <a:lstStyle/>
          <a:p>
            <a:pPr algn="l">
              <a:defRPr sz="900" b="0">
                <a:solidFill>
                  <a:srgbClr val="94A3B8"/>
                </a:solidFill>
                <a:latin typeface="Aptos"/>
              </a:defRPr>
            </a:pPr>
            <a:r>
              <a:t>Nick closes • Nils transitions to Q&amp;A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Oval 1"/>
          <p:cNvSpPr/>
          <p:nvPr/>
        </p:nvSpPr>
        <p:spPr>
          <a:xfrm>
            <a:off x="5239512" y="804672"/>
            <a:ext cx="1664208" cy="1664208"/>
          </a:xfrm>
          <a:prstGeom prst="ellipse">
            <a:avLst/>
          </a:prstGeom>
          <a:solidFill>
            <a:srgbClr val="2563E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39512" y="1170432"/>
            <a:ext cx="1664208" cy="658368"/>
          </a:xfrm>
          <a:prstGeom prst="rect">
            <a:avLst/>
          </a:prstGeom>
          <a:noFill/>
        </p:spPr>
        <p:txBody>
          <a:bodyPr wrap="square" lIns="45720" rIns="45720" anchor="t">
            <a:spAutoFit/>
          </a:bodyPr>
          <a:lstStyle/>
          <a:p>
            <a:pPr algn="ctr">
              <a:defRPr sz="4200" b="1">
                <a:solidFill>
                  <a:srgbClr val="FFFFFF"/>
                </a:solidFill>
                <a:latin typeface="Aptos"/>
              </a:defRPr>
            </a:pPr>
            <a:r>
              <a:t>?</a:t>
            </a:r>
          </a:p>
        </p:txBody>
      </p:sp>
      <p:sp>
        <p:nvSpPr>
          <p:cNvPr id="4" name="TextBox 3"/>
          <p:cNvSpPr txBox="1"/>
          <p:nvPr/>
        </p:nvSpPr>
        <p:spPr>
          <a:xfrm>
            <a:off x="1097280" y="2788920"/>
            <a:ext cx="9966960" cy="713232"/>
          </a:xfrm>
          <a:prstGeom prst="rect">
            <a:avLst/>
          </a:prstGeom>
          <a:noFill/>
        </p:spPr>
        <p:txBody>
          <a:bodyPr wrap="square" lIns="45720" rIns="45720" anchor="t">
            <a:spAutoFit/>
          </a:bodyPr>
          <a:lstStyle/>
          <a:p>
            <a:pPr algn="ctr">
              <a:defRPr sz="3700" b="1">
                <a:solidFill>
                  <a:srgbClr val="FFFFFF"/>
                </a:solidFill>
                <a:latin typeface="Aptos"/>
              </a:defRPr>
            </a:pPr>
            <a:r>
              <a:t>Questions &amp; discussion</a:t>
            </a:r>
          </a:p>
        </p:txBody>
      </p:sp>
      <p:sp>
        <p:nvSpPr>
          <p:cNvPr id="5" name="TextBox 4"/>
          <p:cNvSpPr txBox="1"/>
          <p:nvPr/>
        </p:nvSpPr>
        <p:spPr>
          <a:xfrm>
            <a:off x="1965960" y="3703320"/>
            <a:ext cx="8229600" cy="411480"/>
          </a:xfrm>
          <a:prstGeom prst="rect">
            <a:avLst/>
          </a:prstGeom>
          <a:noFill/>
        </p:spPr>
        <p:txBody>
          <a:bodyPr wrap="square" lIns="45720" rIns="45720" anchor="t">
            <a:spAutoFit/>
          </a:bodyPr>
          <a:lstStyle/>
          <a:p>
            <a:pPr algn="ctr">
              <a:defRPr sz="2000" b="1">
                <a:solidFill>
                  <a:srgbClr val="38BDF8"/>
                </a:solidFill>
                <a:latin typeface="Aptos"/>
              </a:defRPr>
            </a:pPr>
            <a:r>
              <a:t>5 minutes</a:t>
            </a:r>
          </a:p>
        </p:txBody>
      </p:sp>
      <p:sp>
        <p:nvSpPr>
          <p:cNvPr id="6" name="TextBox 5"/>
          <p:cNvSpPr txBox="1"/>
          <p:nvPr/>
        </p:nvSpPr>
        <p:spPr>
          <a:xfrm>
            <a:off x="1828800" y="4754880"/>
            <a:ext cx="8503920" cy="502920"/>
          </a:xfrm>
          <a:prstGeom prst="rect">
            <a:avLst/>
          </a:prstGeom>
          <a:noFill/>
        </p:spPr>
        <p:txBody>
          <a:bodyPr wrap="square" lIns="45720" rIns="45720" anchor="t">
            <a:spAutoFit/>
          </a:bodyPr>
          <a:lstStyle/>
          <a:p>
            <a:pPr algn="ctr">
              <a:defRPr sz="1500" b="0">
                <a:solidFill>
                  <a:srgbClr val="CBD5E1"/>
                </a:solidFill>
                <a:latin typeface="Aptos"/>
              </a:defRPr>
            </a:pPr>
            <a:r>
              <a:t>Architecture  •  Evaluation  •  Model trade-offs  •  Ethics</a:t>
            </a:r>
          </a:p>
        </p:txBody>
      </p:sp>
      <p:sp>
        <p:nvSpPr>
          <p:cNvPr id="7" name="TextBox 6"/>
          <p:cNvSpPr txBox="1"/>
          <p:nvPr/>
        </p:nvSpPr>
        <p:spPr>
          <a:xfrm>
            <a:off x="685800" y="6236208"/>
            <a:ext cx="4114800" cy="228600"/>
          </a:xfrm>
          <a:prstGeom prst="rect">
            <a:avLst/>
          </a:prstGeom>
          <a:noFill/>
        </p:spPr>
        <p:txBody>
          <a:bodyPr wrap="square" lIns="45720" rIns="45720" anchor="t">
            <a:spAutoFit/>
          </a:bodyPr>
          <a:lstStyle/>
          <a:p>
            <a:pPr algn="l">
              <a:defRPr sz="1000" b="0">
                <a:solidFill>
                  <a:srgbClr val="94A3B8"/>
                </a:solidFill>
                <a:latin typeface="Aptos"/>
              </a:defRPr>
            </a:pPr>
            <a:r>
              <a:t>Nils Wagner • Nick Wenzel</a:t>
            </a:r>
          </a:p>
        </p:txBody>
      </p:sp>
      <p:sp>
        <p:nvSpPr>
          <p:cNvPr id="8" name="TextBox 7"/>
          <p:cNvSpPr txBox="1"/>
          <p:nvPr/>
        </p:nvSpPr>
        <p:spPr>
          <a:xfrm>
            <a:off x="9875520" y="6236208"/>
            <a:ext cx="1554480" cy="228600"/>
          </a:xfrm>
          <a:prstGeom prst="rect">
            <a:avLst/>
          </a:prstGeom>
          <a:noFill/>
        </p:spPr>
        <p:txBody>
          <a:bodyPr wrap="square" lIns="45720" rIns="45720" anchor="t">
            <a:spAutoFit/>
          </a:bodyPr>
          <a:lstStyle/>
          <a:p>
            <a:pPr algn="r">
              <a:defRPr sz="1000" b="0">
                <a:solidFill>
                  <a:srgbClr val="94A3B8"/>
                </a:solidFill>
                <a:latin typeface="Aptos"/>
              </a:defRPr>
            </a:pPr>
            <a:r>
              <a:t>05:00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ClaimGuard — Academic Integrity Checking</dc:title>
  <dc:subject>MWI Deep Learning Capstone presentation</dc:subject>
  <dc:creator>Nils Wagner &amp; Nick Wenzel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