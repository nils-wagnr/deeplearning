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30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Echte RQ-
Aussagen</c:v>
                </c:pt>
                <c:pt idx="1">
                  <c:v>Lexikalische
Prüfung</c:v>
                </c:pt>
                <c:pt idx="2">
                  <c:v>Embedding-
Prüfung</c:v>
                </c:pt>
                <c:pt idx="3">
                  <c:v>LoRA-
Transfer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0.437</c:v>
                </c:pt>
                <c:pt idx="1">
                  <c:v>0.9</c:v>
                </c:pt>
                <c:pt idx="2">
                  <c:v>0.86799999999999999</c:v>
                </c:pt>
                <c:pt idx="3">
                  <c:v>0.17199999999999999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2C7-408D-A549-F4E6B8BE7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de-DE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de-DE"/>
          </a:p>
        </c:txPr>
        <c:crossAx val="-2068027336"/>
        <c:crosses val="autoZero"/>
        <c:crossBetween val="between"/>
        <c:majorUnit val="0.2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2810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Nils — 20 Sekunden</a:t>
            </a:r>
          </a:p>
          <a:p>
            <a:r>
              <a:t>Mit einem Satz eröffnen: ClaimGuard entscheidet nicht über Täuschung, sondern ordnet Evidenz für eine menschliche Prüfung. Beide Vortragenden sowie die drei Fragen Aussage, Referenz und Stützung vorstellen.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Nils — 55 Sekunden</a:t>
            </a:r>
          </a:p>
          <a:p>
            <a:r>
              <a:t>Den Kontrast links nutzen. Plagiat, erfundene Referenzen und nicht gestützte Zitate sind unterschiedliche Probleme. ClaimGuard konzentriert sich auf Zitierintegrität und Evidenz. Das System unterstützt Entscheidungen; es erhebt keinen Vorwurf.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Nils — 45 Sekunden</a:t>
            </a:r>
          </a:p>
          <a:p>
            <a:r>
              <a:t>Von links nach rechts erklären. Die drei Fragen entsprechen den drei Kernmodulen. Jede Entscheidung bleibt im JSON nachvollziehbar; Markdown ist die Ansicht für Prüfende.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Nils — 70 Sekunden</a:t>
            </a:r>
          </a:p>
          <a:p>
            <a:r>
              <a:t>Den fünf nummerierten Schritten folgen. Referenzen begrenzen die Evidenzsuche; der Verifikator erhält nicht einfach das gesamte Internet. Die Audit-Spur macht die Ausgabe reproduzierbar. Danach an Nick übergeben.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Nick — 75 Sekunden</a:t>
            </a:r>
          </a:p>
          <a:p>
            <a:r>
              <a:t>Es gibt kein einzelnes bestes Backend. Die APIs prüfen bibliografische Daten, nicht die inhaltliche Stützung. Die Evidenzsuche nutzt Embeddings und fällt bei Bedarf auf lexikalische Suche zurück. OpenAI nutzt store=false; lokale Modelle halten Texte auf dem Gerät.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DE"/>
              <a:t>Nick â€” 45 Sekunden
Das Video startet automatisch. Zuerst wird der echte RQ5-Bericht hochgeladen und lokal analysiert. Im Ãœberblick nur kurz auf PrÃ¼fbedarf und die methodenunabhÃ¤ngigen Dokumentkennzahlen zeigen. Danach wechselt die Demo in den Modellvergleich: Heuristik und Ollama erhalten dieselben Claims und dieselbe Evidenz. Abweichungen sind kein automatischer Fehlernachweis, sondern gezielte Stellen fÃ¼r die menschliche PrÃ¼fung. Falls das Video nicht startet, das beiliegende ClaimGuard_UI_Demo.mp4 Ã¶ffnen oder die statische Originalfolie verwenden.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Nick — 75 Sekunden</a:t>
            </a:r>
          </a:p>
          <a:p>
            <a:r>
              <a:t>Mit dem F1-Wert 0,900 der lexikalischen Prüfung beginnen und mit 0,437 Macro-F1 bei echten Aussagen kontrastieren. Embeddings halfen in diesem kleinen Direkt-Evidenz-Benchmark nicht. Das Parser-Ergebnis vorsichtig einordnen: nur fünf Fälle. Entscheidend ist die Lücke zwischen synthetischen und echten 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Nils — 75 Sekunden</a:t>
            </a:r>
          </a:p>
          <a:p>
            <a:r>
              <a:t>Gold-Benchmark-Ergebnisse von der mit † markierten Einzelfall-Diagnose trennen. Die Heuristik gewinnt den kleinen synthetischen Benchmark, weil direkte lexikalische Muster belohnt werden. LoRA ist schnell, kann aber zwei der fünf ClaimGuard-Labels nicht ausgeben. OpenAI war deutlich schneller als Ollama; ein vollständiger Goldvergleich fehlt noch.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Nils — 55 Sekunden</a:t>
            </a:r>
          </a:p>
          <a:p>
            <a:r>
              <a:t>Je zwei konkrete Stärken und Schwächen nennen. Einschränkungen sind gemessene technische Erkenntnisse. Binoculars ist integriert, aber das kalibrierte Modellpaar ist mit 8 GB VRAM nicht ausführbar.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Nick — 20 Sekunden; Nils — 15 Sekunden</a:t>
            </a:r>
          </a:p>
          <a:p>
            <a:r>
              <a:t>Nick fasst Pipeline und Evidenz zusammen. Nils schließt mit der ethischen Grenze und lädt zu Fragen ein.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Beide — 5 Minuten</a:t>
            </a:r>
          </a:p>
          <a:p>
            <a:r>
              <a:t>Vorgeschlagene Aufteilung: Nils beantwortet Fragen zu Architektur und Evaluation; Nick übernimmt Modelle, APIs und Demo. Bei Fragen zum niedrigen Echtdatenwert zuerst auf Domain Shift und die Einzelannotation eingehen.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Hexagon 2"/>
          <p:cNvSpPr/>
          <p:nvPr/>
        </p:nvSpPr>
        <p:spPr>
          <a:xfrm>
            <a:off x="749808" y="731520"/>
            <a:ext cx="694944" cy="694944"/>
          </a:xfrm>
          <a:prstGeom prst="hexagon">
            <a:avLst/>
          </a:prstGeom>
          <a:solidFill>
            <a:srgbClr val="2563E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914400"/>
            <a:ext cx="6949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CG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0" y="658368"/>
            <a:ext cx="22402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98280" y="667512"/>
            <a:ext cx="2240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15 MIN • TEAMPRÄSENTATION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10241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ptos"/>
              </a:defRPr>
            </a:pPr>
            <a:r>
              <a:t>ClaimGuard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33472"/>
            <a:ext cx="99669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500" b="1">
                <a:solidFill>
                  <a:srgbClr val="38BDF8"/>
                </a:solidFill>
                <a:latin typeface="Aptos"/>
              </a:defRPr>
            </a:pPr>
            <a:r>
              <a:t>Evidenzbasierte Prüfung akademischer Integrität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547872"/>
            <a:ext cx="89611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ptos"/>
              </a:defRPr>
            </a:pPr>
            <a:r>
              <a:t>Von Aussagen im PDF zur Referenzprüfung und Quellenbewertung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047488"/>
            <a:ext cx="45720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Nils Wagner  •  Nick Wenzel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422392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Aptos"/>
              </a:defRPr>
            </a:pPr>
            <a:r>
              <a:t>MWI Deep Learning Capstone  •  3. Juli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2636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NILS • 0:20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PROBLEMMOTIVATION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Warum die Prüfung akademischer Integrität wichtig ist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34440"/>
            <a:ext cx="4709160" cy="443484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06908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100" b="1">
                <a:solidFill>
                  <a:srgbClr val="38BDF8"/>
                </a:solidFill>
                <a:latin typeface="Aptos"/>
              </a:defRPr>
            </a:pPr>
            <a:r>
              <a:t>Eine Quelle kann echt sein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4069080" cy="11155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Aptos"/>
              </a:defRPr>
            </a:pPr>
            <a:r>
              <a:t>… und trotzdem die zitierte Aussage nicht stützen.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30752"/>
            <a:ext cx="3931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Manuelle Prüfung ist langsam; naive Automatisierung erzeugt falsche Verdächtigungen.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956048"/>
            <a:ext cx="2176272" cy="31089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4965192"/>
            <a:ext cx="21762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0B132B"/>
                </a:solidFill>
                <a:latin typeface="Aptos"/>
              </a:defRPr>
            </a:pPr>
            <a:r>
              <a:t>VORPRÜFUNG, KEIN URTEIL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1444752"/>
            <a:ext cx="566928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Umfang  Lange Berichte enthalten viele überprüfbare Aussagen.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Feinheit  Existenz, Relevanz und faktische Stützung sind verschiedene Fragen.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Risiko  Fehlalarme können Studierenden und Forschenden unfair schaden.</a:t>
            </a:r>
          </a:p>
          <a:p>
            <a:pPr>
              <a:lnSpc>
                <a:spcPct val="105000"/>
              </a:lnSpc>
              <a:spcAft>
                <a:spcPts val="1500"/>
              </a:spcAft>
              <a:defRPr sz="1700">
                <a:solidFill>
                  <a:srgbClr val="182230"/>
                </a:solidFill>
                <a:latin typeface="Aptos"/>
              </a:defRPr>
            </a:pPr>
            <a:r>
              <a:rPr b="1"/>
              <a:t>•  Bedarf  Prüfende brauchen nachvollziehbare Evidenz statt einer Blackbox-Zahl.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5193792"/>
            <a:ext cx="53035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Aptos"/>
              </a:defRPr>
            </a:pPr>
            <a:r>
              <a:t>Ziel: Auffällige Passagen schneller prüfen und verständlich begründen.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PROBLEMSTELLUNG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Drei Prüfungen — ein nachvollziehbarer Bericht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0:45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401568" cy="3493008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59536" y="1645920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655064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67712"/>
            <a:ext cx="292608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Benötigt das eine Quelle?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73552"/>
            <a:ext cx="28803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D6B7A"/>
                </a:solidFill>
                <a:latin typeface="Aptos"/>
              </a:defRPr>
            </a:pPr>
            <a:r>
              <a:t>Aussagetyp, Abschnitt, Zitiermarker, Schweregrad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17320"/>
            <a:ext cx="3401568" cy="3493008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81727" y="1645920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7" y="1655064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7" y="2267712"/>
            <a:ext cx="292608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Existiert die Quelle?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3273552"/>
            <a:ext cx="28803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D6B7A"/>
                </a:solidFill>
                <a:latin typeface="Aptos"/>
              </a:defRPr>
            </a:pPr>
            <a:r>
              <a:t>IEEE-Parsing plus wissenschaftliche Metadaten-APIs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417320"/>
            <a:ext cx="3401568" cy="3493008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503920" y="1645920"/>
            <a:ext cx="658368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655064"/>
            <a:ext cx="6583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267712"/>
            <a:ext cx="292608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200" b="1">
                <a:solidFill>
                  <a:srgbClr val="182230"/>
                </a:solidFill>
                <a:latin typeface="Aptos"/>
              </a:defRPr>
            </a:pPr>
            <a:r>
              <a:t>Stützt die Quelle die Aussage?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73552"/>
            <a:ext cx="2880360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5D6B7A"/>
                </a:solidFill>
                <a:latin typeface="Aptos"/>
              </a:defRPr>
            </a:pPr>
            <a:r>
              <a:t>Evidenzsuche plus fünfstufige Verifikation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30952"/>
            <a:ext cx="102412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600" b="1">
                <a:solidFill>
                  <a:srgbClr val="0B132B"/>
                </a:solidFill>
                <a:latin typeface="Aptos"/>
              </a:defRPr>
            </a:pPr>
            <a:r>
              <a:t>Ausgabe: lesbares Markdown + vollständige JSON-Provenienz für Evaluation und Audit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SYSTEMARCHITEKTUR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Pipeline-Architektur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8640" y="158191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Einlesen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PDF/TXT-Extraktion</a:t>
            </a:r>
            <a:br/>
            <a:br/>
            <a:r>
              <a:t>Abschnittsbereinigung</a:t>
            </a:r>
          </a:p>
        </p:txBody>
      </p:sp>
      <p:sp>
        <p:nvSpPr>
          <p:cNvPr id="12" name="Chevron 11"/>
          <p:cNvSpPr/>
          <p:nvPr/>
        </p:nvSpPr>
        <p:spPr>
          <a:xfrm>
            <a:off x="2432304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88920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98648" y="1581912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8648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Aussagen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Typ + Quellenbedarf</a:t>
            </a:r>
            <a:br/>
            <a:br/>
            <a:r>
              <a:t>Kontextverknüpfung</a:t>
            </a:r>
          </a:p>
        </p:txBody>
      </p:sp>
      <p:sp>
        <p:nvSpPr>
          <p:cNvPr id="18" name="Chevron 17"/>
          <p:cNvSpPr/>
          <p:nvPr/>
        </p:nvSpPr>
        <p:spPr>
          <a:xfrm>
            <a:off x="4782312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38927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248655" y="158191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48655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1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Referenzen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1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IEEE-Parsing</a:t>
            </a:r>
            <a:br/>
            <a:br/>
            <a:r>
              <a:t>Metadatenprüfung</a:t>
            </a:r>
          </a:p>
        </p:txBody>
      </p:sp>
      <p:sp>
        <p:nvSpPr>
          <p:cNvPr id="24" name="Chevron 23"/>
          <p:cNvSpPr/>
          <p:nvPr/>
        </p:nvSpPr>
        <p:spPr>
          <a:xfrm>
            <a:off x="7132319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88936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98663" y="158191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98663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Evidenz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lexikalisch / Embeddings</a:t>
            </a:r>
            <a:br/>
            <a:br/>
            <a:r>
              <a:t>Chunk-Suche</a:t>
            </a:r>
          </a:p>
        </p:txBody>
      </p:sp>
      <p:sp>
        <p:nvSpPr>
          <p:cNvPr id="30" name="Chevron 29"/>
          <p:cNvSpPr/>
          <p:nvPr/>
        </p:nvSpPr>
        <p:spPr>
          <a:xfrm>
            <a:off x="9482328" y="1819656"/>
            <a:ext cx="301752" cy="438912"/>
          </a:xfrm>
          <a:prstGeom prst="chevron">
            <a:avLst/>
          </a:prstGeom>
          <a:solidFill>
            <a:srgbClr val="D7DFE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838944" y="1444752"/>
            <a:ext cx="1965960" cy="12618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948672" y="158191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948672" y="1600200"/>
            <a:ext cx="38404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2448" y="1581912"/>
            <a:ext cx="1252728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1">
                <a:solidFill>
                  <a:srgbClr val="182230"/>
                </a:solidFill>
                <a:latin typeface="Aptos"/>
              </a:defRPr>
            </a:pPr>
            <a:r>
              <a:t>Bewertung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85248" y="2057400"/>
            <a:ext cx="1673351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50" b="0">
                <a:solidFill>
                  <a:srgbClr val="5D6B7A"/>
                </a:solidFill>
                <a:latin typeface="Aptos"/>
              </a:defRPr>
            </a:pPr>
            <a:r>
              <a:t>Heuristik / lokal /</a:t>
            </a:r>
            <a:br/>
            <a:br/>
            <a:r>
              <a:t>Frontier / LoRA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" y="3246120"/>
            <a:ext cx="10826496" cy="96012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3447288"/>
            <a:ext cx="2057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Aptos"/>
              </a:defRPr>
            </a:pPr>
            <a:r>
              <a:t>AUDIT-SPUR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3429000"/>
            <a:ext cx="813816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Aptos"/>
              </a:defRPr>
            </a:pPr>
            <a:r>
              <a:t>Evidenz • Konfidenz • Modell-ID • Latenz • Tokenverbrauch • Antwort-/Anfrage-IDs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61772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78992" y="4754880"/>
            <a:ext cx="264261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0B981"/>
                </a:solidFill>
                <a:latin typeface="Aptos"/>
              </a:defRPr>
            </a:pPr>
            <a:r>
              <a:t>Offline zuerst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5239512"/>
            <a:ext cx="264261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Regelbasierter Fallback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8992" y="5522976"/>
            <a:ext cx="26426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Netzwerkfunktionen nur optional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99432" y="461772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764024" y="4754880"/>
            <a:ext cx="264261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Aptos"/>
              </a:defRPr>
            </a:pPr>
            <a:r>
              <a:t>Ein Schema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4024" y="5239512"/>
            <a:ext cx="264261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Vergleichbare Backends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4024" y="5522976"/>
            <a:ext cx="26426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Fünf Unterstützungslabels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75320" y="4617720"/>
            <a:ext cx="297180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39912" y="4754880"/>
            <a:ext cx="264261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9E0B"/>
                </a:solidFill>
                <a:latin typeface="Aptos"/>
              </a:defRPr>
            </a:pPr>
            <a:r>
              <a:t>Mensch prüft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9912" y="5239512"/>
            <a:ext cx="264261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Endgültige Entscheidung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5522976"/>
            <a:ext cx="2642616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Kein automatischer Täuschungsvorwurf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TECHNISCHE TIEFE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Technische Entscheidungen und Zielkonflikte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 •  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" y="1481328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1490472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EVIDENZSUCHE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6272" y="1444751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all-MiniLM-L6-v2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1444751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Semantischer Abgleich; Kosinus-Fallback unter Windows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194560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4672" y="2377440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386584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METADATEN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6272" y="2340864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CrossRef • OpenAlex • S2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340864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Abdeckung von DOI, Titel, Autoren und Open-Access-Status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090672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4672" y="3273552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282696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LOKAL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6272" y="3236976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Ollama / qwen3:1.7b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21808" y="3236976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Privat und offline; auf diesem Rechner langsamer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86783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169663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178807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FRONTIER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76272" y="4133087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OpenAI gpt-5.4-mini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4133087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Schnelle strukturierte Ausgabe; kostenpflichtig und extern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82896"/>
            <a:ext cx="10881360" cy="694944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04672" y="5065776"/>
            <a:ext cx="1115568" cy="310896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2" y="5074920"/>
            <a:ext cx="111556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FINE-TUNING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50292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600" b="1">
                <a:solidFill>
                  <a:srgbClr val="182230"/>
                </a:solidFill>
                <a:latin typeface="Aptos"/>
              </a:defRPr>
            </a:pPr>
            <a:r>
              <a:t>SciFact LoRA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5029200"/>
            <a:ext cx="580644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400" b="0">
                <a:solidFill>
                  <a:srgbClr val="5D6B7A"/>
                </a:solidFill>
                <a:latin typeface="Aptos"/>
              </a:defRPr>
            </a:pPr>
            <a:r>
              <a:t>Günstige lokale Inferenz; Taxonomie mit drei Labels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87959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00" b="1">
                <a:solidFill>
                  <a:srgbClr val="0B132B"/>
                </a:solidFill>
                <a:latin typeface="Aptos"/>
              </a:defRPr>
            </a:pPr>
            <a:r>
              <a:t>Designprinzip: kontrollierte Degradation — API- oder Embedding-Fehler stoppen den Bericht nicht.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Demo mit unserem echten RQ5-Bericht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 •  1:30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34440"/>
            <a:ext cx="6492240" cy="1234440"/>
          </a:xfrm>
          <a:prstGeom prst="roundRect">
            <a:avLst>
              <a:gd name="adj" fmla="val 12000"/>
            </a:avLst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89888"/>
            <a:ext cx="598932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38BDF8"/>
                </a:solidFill>
                <a:latin typeface="Consolas"/>
              </a:defRPr>
            </a:pPr>
            <a:r>
              <a:t>POWERSHELL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64208"/>
            <a:ext cx="598932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50" b="0">
                <a:solidFill>
                  <a:srgbClr val="FFFFFF"/>
                </a:solidFill>
                <a:latin typeface="Consolas"/>
              </a:defRPr>
            </a:pPr>
            <a:r>
              <a:t>python run_claimguard.py `</a:t>
            </a:r>
            <a:br/>
            <a:r>
              <a:t>  --input Reports/NW2_RQ5_Report.pdf --verifier openai `</a:t>
            </a:r>
            <a:br/>
            <a:r>
              <a:t>  --output outputs/rq5_openai.json --markdown-output outputs/rq5_openai.md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23444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25512" y="1371600"/>
            <a:ext cx="9052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2563EB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5512" y="1856232"/>
            <a:ext cx="90525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Sätze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50808" y="123444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15400" y="1371600"/>
            <a:ext cx="9052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8B5CF6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856232"/>
            <a:ext cx="90525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faktische Aussagen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0696" y="1234440"/>
            <a:ext cx="1234440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05288" y="1371600"/>
            <a:ext cx="905256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EF4444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05288" y="1856232"/>
            <a:ext cx="905256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Quellenhinweise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816352"/>
            <a:ext cx="4297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ECHTE AUSSAGE AUS SATZ 11 (ÜBERSETZT)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82112"/>
            <a:ext cx="5166360" cy="224028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" y="3456432"/>
            <a:ext cx="46177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182230"/>
                </a:solidFill>
                <a:latin typeface="Aptos"/>
              </a:defRPr>
            </a:pPr>
            <a:r>
              <a:t>„RAG verbindet ein Sprachmodell mit externem Wissen, ohne Modellgewichte zu verändern.“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645152"/>
            <a:ext cx="45720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0">
                <a:solidFill>
                  <a:srgbClr val="5D6B7A"/>
                </a:solidFill>
                <a:latin typeface="Aptos"/>
              </a:defRPr>
            </a:pPr>
            <a:r>
              <a:t>Erkannte Quellen: [1, 3]  •  Beste Evidenz gespeichert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8" y="3182112"/>
            <a:ext cx="2487168" cy="224028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72784" y="34015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2784" y="3410712"/>
            <a:ext cx="9326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2784" y="3913632"/>
            <a:ext cx="201168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Aptos"/>
              </a:defRPr>
            </a:pPr>
            <a:r>
              <a:t>unzureichende</a:t>
            </a:r>
            <a:br/>
            <a:br/>
            <a:r>
              <a:t>Evidenz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472744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D6B7A"/>
                </a:solidFill>
                <a:latin typeface="Aptos"/>
              </a:defRPr>
            </a:pPr>
            <a:r>
              <a:t>1.889 s • 506 tokens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96528" y="3182112"/>
            <a:ext cx="2487168" cy="224028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015984" y="3401568"/>
            <a:ext cx="932688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15984" y="3410712"/>
            <a:ext cx="9326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3977639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Aptos"/>
              </a:defRPr>
            </a:pPr>
            <a:r>
              <a:t>gestützt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727448"/>
            <a:ext cx="2011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0">
                <a:solidFill>
                  <a:srgbClr val="5D6B7A"/>
                </a:solidFill>
                <a:latin typeface="Aptos"/>
              </a:defRPr>
            </a:pPr>
            <a:r>
              <a:t>40,902 s • lokal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733288"/>
            <a:ext cx="10652760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Aptos"/>
              </a:defRPr>
            </a:pPr>
            <a:r>
              <a:t>Kernaussage: Die Evidenz ist sichtbar — Unterschiede werden prüfbar statt verborgen.</a:t>
            </a:r>
          </a:p>
        </p:txBody>
      </p:sp>
      <p:pic>
        <p:nvPicPr>
          <p:cNvPr id="34" name="ClaimGuard_UI_Demo">
            <a:hlinkClick r:id="" action="ppaction://media"/>
            <a:extLst>
              <a:ext uri="{FF2B5EF4-FFF2-40B4-BE49-F238E27FC236}">
                <a16:creationId xmlns:a16="http://schemas.microsoft.com/office/drawing/2014/main" id="{627318FE-77E2-AC2B-3845-95F2A35CFF0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E63E7BB7-828A-2E66-71EC-F124A549EF0B}"/>
              </a:ext>
            </a:extLst>
          </p:cNvPr>
          <p:cNvSpPr/>
          <p:nvPr/>
        </p:nvSpPr>
        <p:spPr>
          <a:xfrm>
            <a:off x="8229600" y="203200"/>
            <a:ext cx="3530600" cy="431800"/>
          </a:xfrm>
          <a:prstGeom prst="roundRect">
            <a:avLst/>
          </a:prstGeom>
          <a:gradFill flip="none" rotWithShape="1">
            <a:gsLst>
              <a:gs pos="0">
                <a:srgbClr val="E6E6E6">
                  <a:alpha val="92000"/>
                </a:srgbClr>
              </a:gs>
              <a:gs pos="100000">
                <a:schemeClr val="accent1">
                  <a:tint val="50000"/>
                  <a:shade val="100000"/>
                  <a:satMod val="350000"/>
                  <a:alpha val="92000"/>
                </a:schemeClr>
              </a:gs>
            </a:gsLst>
            <a:lin ang="16200000" scaled="0"/>
            <a:tileRect/>
          </a:gra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>
                <a:solidFill>
                  <a:srgbClr val="FFFFFF"/>
                </a:solidFill>
                <a:latin typeface="Aptos" panose="020B0004020202020204" pitchFamily="34" charset="0"/>
              </a:rPr>
              <a:t>UI-DEMO  |  20 SEKUNDEN  |  AUTOSTART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64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Zentrale Ergebnisse: kontrollierte Tests vs. echte Berichte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 •  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298448"/>
          <a:ext cx="6492240" cy="43708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389888"/>
            <a:ext cx="3584448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08392" y="1527048"/>
            <a:ext cx="32552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0B981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08392" y="2011680"/>
            <a:ext cx="32552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Genauigkeit des IEEE-Parsers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2295144"/>
            <a:ext cx="32552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Fünf Testfälle mit vollständigen Feldern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816352"/>
            <a:ext cx="3584448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2953512"/>
            <a:ext cx="32552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EF4444"/>
                </a:solidFill>
                <a:latin typeface="Aptos"/>
              </a:defRPr>
            </a:pPr>
            <a:r>
              <a:t>0.267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3438144"/>
            <a:ext cx="32552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F1 für Quellenbedarf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3721608"/>
            <a:ext cx="32552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50 manuell annotierte RQ-Sätze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4242816"/>
            <a:ext cx="3584448" cy="123444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08392" y="4379976"/>
            <a:ext cx="3255264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F59E0B"/>
                </a:solidFill>
                <a:latin typeface="Aptos"/>
              </a:defRPr>
            </a:pPr>
            <a:r>
              <a:t>0.353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4864607"/>
            <a:ext cx="3255264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200" b="1">
                <a:solidFill>
                  <a:srgbClr val="182230"/>
                </a:solidFill>
                <a:latin typeface="Aptos"/>
              </a:defRPr>
            </a:pPr>
            <a:r>
              <a:t>SciFact-Validierung: Macro-F1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8392" y="5148072"/>
            <a:ext cx="325526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450 Validierungspaare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5824728"/>
            <a:ext cx="103784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1">
                <a:solidFill>
                  <a:srgbClr val="0B132B"/>
                </a:solidFill>
                <a:latin typeface="Aptos"/>
              </a:defRPr>
            </a:pPr>
            <a:r>
              <a:t>Hauptergebnis: Synthetische Benchmarks überschätzen den Transfer einfacher Regeln auf echte PDFs.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LOKAL VS. FRONTIER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Modellvergleich: Geschwindigkeit, Kontrolle und Taxonomie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280160"/>
            <a:ext cx="150876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6656" y="1399032"/>
            <a:ext cx="139903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1280160"/>
            <a:ext cx="205740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85416" y="1399032"/>
            <a:ext cx="194767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Beobachtetes Ergebnis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280160"/>
            <a:ext cx="132588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42816" y="1399032"/>
            <a:ext cx="121615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Latenz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3832" y="1280160"/>
            <a:ext cx="233172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68696" y="1399032"/>
            <a:ext cx="222199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Geeigneter Einsatz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45552" y="1280160"/>
            <a:ext cx="3246120" cy="502920"/>
          </a:xfrm>
          <a:prstGeom prst="rect">
            <a:avLst/>
          </a:prstGeom>
          <a:solidFill>
            <a:srgbClr val="0B132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0416" y="1399032"/>
            <a:ext cx="3136391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Einschränkung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1783080"/>
            <a:ext cx="150876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4944" y="1947672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2563EB"/>
                </a:solidFill>
                <a:latin typeface="Aptos"/>
              </a:defRPr>
            </a:pPr>
            <a:r>
              <a:t>Heuristik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2" y="1783080"/>
            <a:ext cx="205740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03704" y="1947672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0.900 F1*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87952" y="1783080"/>
            <a:ext cx="132588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61104" y="1947672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~0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13832" y="1783080"/>
            <a:ext cx="23317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86984" y="1947672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Transparente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45552" y="1783080"/>
            <a:ext cx="32461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18704" y="1947672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Beruht auf Oberflächenmustern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" y="2642615"/>
            <a:ext cx="1508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" y="2807208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F59E0B"/>
                </a:solidFill>
                <a:latin typeface="Aptos"/>
              </a:defRPr>
            </a:pPr>
            <a:r>
              <a:t>LoRA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30552" y="2642615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03704" y="2807208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0.172 F1*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87952" y="2642615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61104" y="2807208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9.3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13832" y="2642615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86984" y="2807208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Günstige lokale Inferenz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45552" y="2642615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18704" y="2807208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SciFact hat 3 statt 5 Labels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3502152"/>
            <a:ext cx="150876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4944" y="3666744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10B981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0552" y="3502152"/>
            <a:ext cx="205740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203704" y="3666744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gestützt†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87952" y="3502152"/>
            <a:ext cx="132588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261104" y="3666744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40.9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13832" y="3502152"/>
            <a:ext cx="23317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86984" y="3666744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Private lokale Prüfung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45552" y="3502152"/>
            <a:ext cx="3246120" cy="749808"/>
          </a:xfrm>
          <a:prstGeom prst="rect">
            <a:avLst/>
          </a:prstGeom>
          <a:solidFill>
            <a:srgbClr val="F3F6FA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18704" y="3666744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Langsam; eine diagnostische Aussage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" y="4361688"/>
            <a:ext cx="1508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94944" y="4526279"/>
            <a:ext cx="136245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350" b="1">
                <a:solidFill>
                  <a:srgbClr val="8B5CF6"/>
                </a:solidFill>
                <a:latin typeface="Aptos"/>
              </a:defRPr>
            </a:pPr>
            <a:r>
              <a:t>OpenAI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130552" y="4361688"/>
            <a:ext cx="2057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03704" y="4526279"/>
            <a:ext cx="191109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unzureichend†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87952" y="4361688"/>
            <a:ext cx="13258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61104" y="4526279"/>
            <a:ext cx="1179576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1.89 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13832" y="4361688"/>
            <a:ext cx="2331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586984" y="4526279"/>
            <a:ext cx="21854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Strukturierte Frontier-Prüfung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45552" y="4361688"/>
            <a:ext cx="3246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18704" y="4526279"/>
            <a:ext cx="3099815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0">
                <a:solidFill>
                  <a:srgbClr val="182230"/>
                </a:solidFill>
                <a:latin typeface="Aptos"/>
              </a:defRPr>
            </a:pPr>
            <a:r>
              <a:t>Kostenpflichtig/extern; eine diagnostische Aussage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85800" y="5440680"/>
            <a:ext cx="10835640" cy="621792"/>
          </a:xfrm>
          <a:prstGeom prst="roundRect">
            <a:avLst>
              <a:gd name="adj" fmla="val 12000"/>
            </a:avLst>
          </a:prstGeom>
          <a:solidFill>
            <a:srgbClr val="FFF7E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96112" y="5596128"/>
            <a:ext cx="10378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250" b="1">
                <a:solidFill>
                  <a:srgbClr val="92400E"/>
                </a:solidFill>
                <a:latin typeface="Aptos"/>
              </a:defRPr>
            </a:pPr>
            <a:r>
              <a:t>* Gold-Benchmark mit 30 Fällen     † dieselbe echte RQ5-Aussage; nur diagnostisch — kein Genauigkeitsvergleich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GRENZEN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Was funktioniert — und wo es scheitert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Nils  •  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98448"/>
            <a:ext cx="5303520" cy="452628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77824" y="1572768"/>
            <a:ext cx="1353312" cy="310896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81912"/>
            <a:ext cx="13533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FUNKTIONIERT GUT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48840"/>
            <a:ext cx="45262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Durchgängiger Ablauf von PDF zu Markdown/JSON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Nachvollziehbare Evidenz und Backend-Metadaten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Robustes IEEE-Parsing für Bericht 5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Offline-Fallback und echter CUDA-LoRA-Pfad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4496" y="1298448"/>
            <a:ext cx="5303520" cy="452628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10528" y="1572768"/>
            <a:ext cx="1389888" cy="310896"/>
          </a:xfrm>
          <a:prstGeom prst="roundRect">
            <a:avLst>
              <a:gd name="adj" fmla="val 12000"/>
            </a:avLst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1581912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EINSCHRÄNKUNGEN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148840"/>
            <a:ext cx="4526280" cy="297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PDF-Extraktion erzeugt Abstands- und Überschriftenfehler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Erkennung echter Aussagen generalisiert schwach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Metadaten-APIs können ausfallen oder drosseln</a:t>
            </a:r>
          </a:p>
          <a:p>
            <a:pPr>
              <a:lnSpc>
                <a:spcPct val="105000"/>
              </a:lnSpc>
              <a:spcAft>
                <a:spcPts val="1600"/>
              </a:spcAft>
              <a:defRPr sz="1600">
                <a:solidFill>
                  <a:srgbClr val="182230"/>
                </a:solidFill>
                <a:latin typeface="Aptos"/>
              </a:defRPr>
            </a:pPr>
            <a:r>
              <a:t>•  Binoculars' kalibriertes 14B-Paar übersteigt 8 GB VRAM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989320"/>
            <a:ext cx="9921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450" b="1">
                <a:solidFill>
                  <a:srgbClr val="0B132B"/>
                </a:solidFill>
                <a:latin typeface="Aptos"/>
              </a:defRPr>
            </a:pPr>
            <a:r>
              <a:t>Ethische Grenze: Ein Hinweis priorisiert menschliche Prüfung; er beweist weder Täuschung noch KI-Autorschaft.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FAZIT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106984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2700" b="1">
                <a:solidFill>
                  <a:srgbClr val="182230"/>
                </a:solidFill>
                <a:latin typeface="Aptos"/>
              </a:defRPr>
            </a:pPr>
            <a:r>
              <a:t>Kernaussagen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2700">
            <a:solidFill>
              <a:srgbClr val="D7DF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6510528"/>
            <a:ext cx="3657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5D6B7A"/>
                </a:solidFill>
                <a:latin typeface="Aptos"/>
              </a:defRPr>
            </a:pPr>
            <a:r>
              <a:t>Nick + Nils  •  0:35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6510528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900" b="0">
                <a:solidFill>
                  <a:srgbClr val="5D6B7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30352"/>
            <a:ext cx="3657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Aptos"/>
              </a:defRPr>
            </a:pPr>
            <a:r>
              <a:t>FAZIT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05840"/>
            <a:ext cx="1051560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ClaimGuard macht Integritätsprüfungen nachvollziehbar.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337560" cy="2084831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32688" y="2386584"/>
            <a:ext cx="6400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395727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8803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328416"/>
            <a:ext cx="28529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Aussagen, Referenzen, Evidenz und Bewertungen in einem Ablauf.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148840"/>
            <a:ext cx="3337560" cy="2084831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681727" y="2386584"/>
            <a:ext cx="6400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7" y="2395727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7" y="28803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ptos"/>
              </a:defRPr>
            </a:pPr>
            <a:r>
              <a:t>Evidenz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7" y="3328416"/>
            <a:ext cx="28529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Evaluation mit echten Berichten zeigt, wo synthetische Werte täuschen.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148840"/>
            <a:ext cx="3337560" cy="2084831"/>
          </a:xfrm>
          <a:prstGeom prst="roundRect">
            <a:avLst>
              <a:gd name="adj" fmla="val 12000"/>
            </a:avLst>
          </a:prstGeom>
          <a:solidFill>
            <a:srgbClr val="16213E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30768" y="2386584"/>
            <a:ext cx="640080" cy="31089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0768" y="2395727"/>
            <a:ext cx="640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0768" y="2880360"/>
            <a:ext cx="2834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Aptos"/>
              </a:defRPr>
            </a:pPr>
            <a:r>
              <a:t>Verantwortung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3328416"/>
            <a:ext cx="2852928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300" b="0">
                <a:solidFill>
                  <a:srgbClr val="CBD5E1"/>
                </a:solidFill>
                <a:latin typeface="Aptos"/>
              </a:defRPr>
            </a:pPr>
            <a:r>
              <a:t>Automatisierung lenkt menschliche Aufmerksamkeit — sie ersetzt kein Urteil.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74920"/>
            <a:ext cx="10515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Nächster Schritt: doppelt annotierte Echtdaten erweitern und den vollständigen OpenAI/Ollama-Benchmark ausführen.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6172200"/>
            <a:ext cx="4572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Aptos"/>
              </a:defRPr>
            </a:pPr>
            <a:r>
              <a:t>Nick fasst zusammen • Nils leitet zur Fragerunde über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239512" y="804672"/>
            <a:ext cx="1664208" cy="1664208"/>
          </a:xfrm>
          <a:prstGeom prst="ellipse">
            <a:avLst/>
          </a:prstGeom>
          <a:solidFill>
            <a:srgbClr val="2563E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239512" y="1170432"/>
            <a:ext cx="166420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788920"/>
            <a:ext cx="99669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3700" b="1">
                <a:solidFill>
                  <a:srgbClr val="FFFFFF"/>
                </a:solidFill>
                <a:latin typeface="Aptos"/>
              </a:defRPr>
            </a:pPr>
            <a:r>
              <a:t>Fragen &amp; Diskussion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703320"/>
            <a:ext cx="82296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2000" b="1">
                <a:solidFill>
                  <a:srgbClr val="38BDF8"/>
                </a:solidFill>
                <a:latin typeface="Aptos"/>
              </a:defRPr>
            </a:pPr>
            <a:r>
              <a:t>5 Minuten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defRPr sz="1500" b="0">
                <a:solidFill>
                  <a:srgbClr val="CBD5E1"/>
                </a:solidFill>
                <a:latin typeface="Aptos"/>
              </a:defRPr>
            </a:pPr>
            <a:r>
              <a:t>Architektur  •  Evaluation  •  Modell-Zielkonflikte  •  Ethik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236208"/>
            <a:ext cx="4114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ptos"/>
              </a:defRPr>
            </a:pPr>
            <a:r>
              <a:t>Nils Wagner • Nick Wenzel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236208"/>
            <a:ext cx="1554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Aptos"/>
              </a:defRPr>
            </a:pPr>
            <a:r>
              <a:t>05:00 FRAGEN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1285</Words>
  <Application>Microsoft Office PowerPoint</Application>
  <PresentationFormat>Breitbild</PresentationFormat>
  <Paragraphs>211</Paragraphs>
  <Slides>11</Slides>
  <Notes>11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ClaimGuard — Evidenzbasierte Prüfung akademischer Integrität</dc:title>
  <dc:subject>Deutsche MWI-Deep-Learning-Capstone-Präsentation</dc:subject>
  <dc:creator>Nils Wagner &amp; Nick Wenzel</dc:creator>
  <cp:keywords/>
  <dc:description>generated using python-pptx</dc:description>
  <cp:lastModifiedBy>Nils Wagner</cp:lastModifiedBy>
  <cp:revision>2</cp:revision>
  <dcterms:created xsi:type="dcterms:W3CDTF">2013-01-27T09:14:16Z</dcterms:created>
  <dcterms:modified xsi:type="dcterms:W3CDTF">2026-07-05T21:17:42Z</dcterms:modified>
  <cp:category/>
</cp:coreProperties>
</file>